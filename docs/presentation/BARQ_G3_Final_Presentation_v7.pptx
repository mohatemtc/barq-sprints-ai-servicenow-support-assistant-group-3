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6454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Greet the judges, say the project name, then the one-line value proposition: an event-driven, RAG-powered Tier-1 assistant that drafts cited resolutions and keeps a human in charge. Stop there.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We are Group 3 of the BARQ Sprints track, mentored by Eng. Ahmed Taha. Let each card speak for itself: say who owned which part in a few words, not a sentence per person.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Start with the fulfiller who has the problem: Tier-1 incidents repeat, the answers already exist in KB articles, but finding them costs minutes per ticket. Ungrounded AI answers are not an acceptable fix in support. Say clearly that the ~3 minute figure is our estimate.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Answer the problem directly: so we built BARQ. Walk the four steps left to right in one breath each: incident created, verified and queued, grounded draft, human decides. End on what makes it different: read-only agent, cited answers, escalation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We set out to suggest within seconds, answer only from the KB with sources, keep a human in charge, and process every event exactly once. Name the three user groups. Every goal here reappears on the Results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seconds. Walk the diagram left to right: it starts when ServiceNow fires a signed webhook; the gateway verifies, deduplicates and queues; the agent retrieves from Qdrant and applies a threshold gate; the fulfiller gets a cited suggestion. All of this runs on the ingested knowledge base, and Langfuse traces every run. Backup detail is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Do not read the list. Pick the one or two choices that mattered most, for example Redis plus Celery so the webhook can answer immediately, and Qdrant with provenance so every suggestion can cite its source.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Five-act story. Act 1 (1.5 min): a user reports Outlook disconnecting; show INC0010116 as it first appears. Act 2 (2 min): the Business Rule fires the outbound webhook to FastAPI; stress the HMAC-SHA256 signature and X-Signature check. Act 3 (3 min): the Celery task runs the LangGraph agent, which queries Qdrant and finds KB0010003; show the Langfuse traces. Act 4 (2 min): writeback of confidence 0.9, status Suggested, processed true, review required true, plus the diagnosis and citations. Act 5 (1.5 min): the Service Desk agent clicks Approve AI Suggestion. If anything fails, say let me show you the recording and use the evidence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Close the loop on the goals: about 20 seconds measured on a live run, a cited answer with two KB sources, idempotent ingestion. Be upfront: one live run so far, and the 3 minute baseline on the Problem slide is an estimate.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Pick the challenge with the best story and tell it in three beats: what happened, what we did, what we would do differently. Mention the others briefly.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Now: production readiness. Next: learn from approve, edit and reject decisions. Later: wider coverage. Then make the ask: feedback from service-desk teams and a pilot environment.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To sum up: faster triage with a human always in charge. Thank the judges, mentor and team, point to the QR code for the repo, and invite questions. Stay on this slide during Q&amp;A. Repeat the question before answering and keep answers under 30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on the first half of the trace.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on the second half of the trace.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on ingestion and idempotency.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on security and trade-offs.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recovery procedures from the Sprint 4.1 fallback plan. Design principle: an AI failure never blocks the ticket; a human can always take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evidence from the live Sprint 4.1 end-to-end test on October 1, 2026. Left: the AI Triager tab on INC0010116. Right: the test script polling until ai_status changed from in_progress to suggested, about 20 seconds after creation.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D"/>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612648" y="237744"/>
            <a:ext cx="850392" cy="190195"/>
          </a:xfrm>
          <a:prstGeom prst="rect">
            <a:avLst/>
          </a:prstGeom>
        </p:spPr>
      </p:pic>
      <p:pic>
        <p:nvPicPr>
          <p:cNvPr id="3" name="Image 1" descr="blob.png"/>
          <p:cNvPicPr>
            <a:picLocks noChangeAspect="1"/>
          </p:cNvPicPr>
          <p:nvPr/>
        </p:nvPicPr>
        <p:blipFill>
          <a:blip r:embed="rId4"/>
          <a:stretch>
            <a:fillRect/>
          </a:stretch>
        </p:blipFill>
        <p:spPr>
          <a:xfrm>
            <a:off x="5477256" y="612648"/>
            <a:ext cx="2935224" cy="3026664"/>
          </a:xfrm>
          <a:prstGeom prst="rect">
            <a:avLst/>
          </a:prstGeom>
        </p:spPr>
      </p:pic>
      <p:sp>
        <p:nvSpPr>
          <p:cNvPr id="4" name="Shape 0"/>
          <p:cNvSpPr/>
          <p:nvPr/>
        </p:nvSpPr>
        <p:spPr>
          <a:xfrm>
            <a:off x="7525512" y="713232"/>
            <a:ext cx="571500" cy="571500"/>
          </a:xfrm>
          <a:prstGeom prst="ellipse">
            <a:avLst/>
          </a:prstGeom>
          <a:solidFill>
            <a:srgbClr val="0050FF"/>
          </a:solidFill>
          <a:ln/>
        </p:spPr>
        <p:txBody>
          <a:bodyPr/>
          <a:lstStyle/>
          <a:p>
            <a:endParaRPr lang="en-US"/>
          </a:p>
        </p:txBody>
      </p:sp>
      <p:sp>
        <p:nvSpPr>
          <p:cNvPr id="5" name="Shape 1"/>
          <p:cNvSpPr/>
          <p:nvPr/>
        </p:nvSpPr>
        <p:spPr>
          <a:xfrm>
            <a:off x="5952744" y="3236976"/>
            <a:ext cx="228600" cy="228600"/>
          </a:xfrm>
          <a:prstGeom prst="ellipse">
            <a:avLst/>
          </a:prstGeom>
          <a:solidFill>
            <a:srgbClr val="26CCC4"/>
          </a:solidFill>
          <a:ln/>
        </p:spPr>
        <p:txBody>
          <a:bodyPr/>
          <a:lstStyle/>
          <a:p>
            <a:endParaRPr lang="en-US"/>
          </a:p>
        </p:txBody>
      </p:sp>
      <p:sp>
        <p:nvSpPr>
          <p:cNvPr id="6" name="Text 2"/>
          <p:cNvSpPr txBox="1"/>
          <p:nvPr/>
        </p:nvSpPr>
        <p:spPr>
          <a:xfrm>
            <a:off x="621792" y="946404"/>
            <a:ext cx="4754880" cy="228600"/>
          </a:xfrm>
          <a:prstGeom prst="rect">
            <a:avLst/>
          </a:prstGeom>
          <a:noFill/>
          <a:ln/>
        </p:spPr>
        <p:txBody>
          <a:bodyPr wrap="square" lIns="0" tIns="0" rIns="0" bIns="0" rtlCol="0" anchor="t"/>
          <a:lstStyle/>
          <a:p>
            <a:pPr marL="0" indent="0" algn="l">
              <a:buNone/>
            </a:pPr>
            <a:r>
              <a:rPr lang="en-US" sz="1200" b="1" dirty="0">
                <a:solidFill>
                  <a:srgbClr val="0050FF"/>
                </a:solidFill>
                <a:latin typeface="Inter" pitchFamily="34" charset="0"/>
                <a:ea typeface="Inter" pitchFamily="34" charset="-122"/>
                <a:cs typeface="Inter" pitchFamily="34" charset="-120"/>
              </a:rPr>
              <a:t>BARQ SPRINTS  ·  GROUP 3</a:t>
            </a:r>
            <a:endParaRPr lang="en-US" sz="1200" dirty="0"/>
          </a:p>
        </p:txBody>
      </p:sp>
      <p:sp>
        <p:nvSpPr>
          <p:cNvPr id="7" name="Text 3"/>
          <p:cNvSpPr txBox="1"/>
          <p:nvPr/>
        </p:nvSpPr>
        <p:spPr>
          <a:xfrm>
            <a:off x="612648" y="1508760"/>
            <a:ext cx="4937760" cy="1188720"/>
          </a:xfrm>
          <a:prstGeom prst="rect">
            <a:avLst/>
          </a:prstGeom>
          <a:noFill/>
          <a:ln/>
        </p:spPr>
        <p:txBody>
          <a:bodyPr wrap="square" lIns="0" tIns="0" rIns="0" bIns="0" rtlCol="0" anchor="t"/>
          <a:lstStyle/>
          <a:p>
            <a:pPr marL="0" indent="0" algn="l">
              <a:lnSpc>
                <a:spcPct val="95000"/>
              </a:lnSpc>
              <a:buNone/>
            </a:pPr>
            <a:r>
              <a:rPr lang="en-US" sz="3600" b="1" dirty="0">
                <a:solidFill>
                  <a:srgbClr val="1F2761"/>
                </a:solidFill>
                <a:latin typeface="Inter" pitchFamily="34" charset="0"/>
                <a:ea typeface="Inter" pitchFamily="34" charset="-122"/>
                <a:cs typeface="Inter" pitchFamily="34" charset="-120"/>
              </a:rPr>
              <a:t>AI ServiceNow</a:t>
            </a:r>
            <a:endParaRPr lang="en-US" sz="3600" dirty="0"/>
          </a:p>
          <a:p>
            <a:pPr marL="0" indent="0" algn="l">
              <a:lnSpc>
                <a:spcPct val="95000"/>
              </a:lnSpc>
              <a:buNone/>
            </a:pPr>
            <a:r>
              <a:rPr lang="en-US" sz="3600" b="1" dirty="0">
                <a:solidFill>
                  <a:srgbClr val="1F2761"/>
                </a:solidFill>
                <a:latin typeface="Inter" pitchFamily="34" charset="0"/>
                <a:ea typeface="Inter" pitchFamily="34" charset="-122"/>
                <a:cs typeface="Inter" pitchFamily="34" charset="-120"/>
              </a:rPr>
              <a:t>Support Assistant</a:t>
            </a:r>
            <a:endParaRPr lang="en-US" sz="3600" dirty="0"/>
          </a:p>
        </p:txBody>
      </p:sp>
      <p:sp>
        <p:nvSpPr>
          <p:cNvPr id="8" name="Text 4"/>
          <p:cNvSpPr txBox="1"/>
          <p:nvPr/>
        </p:nvSpPr>
        <p:spPr>
          <a:xfrm>
            <a:off x="612648" y="2880360"/>
            <a:ext cx="4663440" cy="914400"/>
          </a:xfrm>
          <a:prstGeom prst="rect">
            <a:avLst/>
          </a:prstGeom>
          <a:noFill/>
          <a:ln/>
        </p:spPr>
        <p:txBody>
          <a:bodyPr wrap="square" lIns="0" tIns="0" rIns="0" bIns="0" rtlCol="0" anchor="t"/>
          <a:lstStyle/>
          <a:p>
            <a:pPr marL="0" indent="0" algn="l">
              <a:buNone/>
            </a:pPr>
            <a:r>
              <a:rPr lang="en-US" sz="1350" dirty="0">
                <a:solidFill>
                  <a:srgbClr val="4A5578"/>
                </a:solidFill>
                <a:latin typeface="Inter" pitchFamily="34" charset="0"/>
                <a:ea typeface="Inter" pitchFamily="34" charset="-122"/>
                <a:cs typeface="Inter" pitchFamily="34" charset="-120"/>
              </a:rPr>
              <a:t>An event-driven, RAG-powered assistant that drafts cited resolutions for IT service-desk fulfillers and keeps a human in charge of every decision.</a:t>
            </a:r>
            <a:endParaRPr lang="en-US" sz="1350" dirty="0"/>
          </a:p>
        </p:txBody>
      </p:sp>
      <p:sp>
        <p:nvSpPr>
          <p:cNvPr id="9" name="Text 5"/>
          <p:cNvSpPr txBox="1"/>
          <p:nvPr/>
        </p:nvSpPr>
        <p:spPr>
          <a:xfrm>
            <a:off x="612648" y="3931920"/>
            <a:ext cx="4572000" cy="228600"/>
          </a:xfrm>
          <a:prstGeom prst="rect">
            <a:avLst/>
          </a:prstGeom>
          <a:noFill/>
          <a:ln/>
        </p:spPr>
        <p:txBody>
          <a:bodyPr wrap="square" lIns="0" tIns="0" rIns="0" bIns="0" rtlCol="0" anchor="t"/>
          <a:lstStyle/>
          <a:p>
            <a:pPr marL="0" indent="0" algn="l">
              <a:buNone/>
            </a:pPr>
            <a:r>
              <a:rPr lang="en-US" sz="1200" dirty="0">
                <a:solidFill>
                  <a:srgbClr val="6B7699"/>
                </a:solidFill>
                <a:latin typeface="Inter" pitchFamily="34" charset="0"/>
                <a:ea typeface="Inter" pitchFamily="34" charset="-122"/>
                <a:cs typeface="Inter" pitchFamily="34" charset="-120"/>
              </a:rPr>
              <a:t>[Presenter names]  ·  [6</a:t>
            </a:r>
            <a:r>
              <a:rPr lang="en-US" sz="1200" baseline="30000" dirty="0">
                <a:solidFill>
                  <a:srgbClr val="6B7699"/>
                </a:solidFill>
                <a:latin typeface="Inter" pitchFamily="34" charset="0"/>
                <a:ea typeface="Inter" pitchFamily="34" charset="-122"/>
                <a:cs typeface="Inter" pitchFamily="34" charset="-120"/>
              </a:rPr>
              <a:t>th</a:t>
            </a:r>
            <a:r>
              <a:rPr lang="en-US" sz="1200" dirty="0">
                <a:solidFill>
                  <a:srgbClr val="6B7699"/>
                </a:solidFill>
                <a:latin typeface="Inter" pitchFamily="34" charset="0"/>
                <a:ea typeface="Inter" pitchFamily="34" charset="-122"/>
                <a:cs typeface="Inter" pitchFamily="34" charset="-120"/>
              </a:rPr>
              <a:t>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92544"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2</a:t>
            </a:r>
            <a:endParaRPr lang="en-US" sz="900" dirty="0"/>
          </a:p>
        </p:txBody>
      </p:sp>
      <p:pic>
        <p:nvPicPr>
          <p:cNvPr id="3" name="Image 0" descr="logo.png"/>
          <p:cNvPicPr>
            <a:picLocks noChangeAspect="1"/>
          </p:cNvPicPr>
          <p:nvPr/>
        </p:nvPicPr>
        <p:blipFill>
          <a:blip r:embed="rId3"/>
          <a:stretch>
            <a:fillRect/>
          </a:stretch>
        </p:blipFill>
        <p:spPr>
          <a:xfrm>
            <a:off x="612648" y="237744"/>
            <a:ext cx="882282" cy="197327"/>
          </a:xfrm>
          <a:prstGeom prst="rect">
            <a:avLst/>
          </a:prstGeom>
        </p:spPr>
      </p:pic>
      <p:sp>
        <p:nvSpPr>
          <p:cNvPr id="4" name="Text 1"/>
          <p:cNvSpPr txBox="1"/>
          <p:nvPr/>
        </p:nvSpPr>
        <p:spPr>
          <a:xfrm>
            <a:off x="612648" y="566928"/>
            <a:ext cx="758952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OUR TEAM</a:t>
            </a:r>
            <a:endParaRPr lang="en-US" sz="1100" dirty="0"/>
          </a:p>
        </p:txBody>
      </p:sp>
      <p:sp>
        <p:nvSpPr>
          <p:cNvPr id="5" name="Text 2"/>
          <p:cNvSpPr txBox="1"/>
          <p:nvPr/>
        </p:nvSpPr>
        <p:spPr>
          <a:xfrm>
            <a:off x="612647" y="804672"/>
            <a:ext cx="8215655"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Who we are</a:t>
            </a:r>
            <a:endParaRPr lang="en-US" sz="3000" dirty="0"/>
          </a:p>
        </p:txBody>
      </p:sp>
      <p:sp>
        <p:nvSpPr>
          <p:cNvPr id="6" name="Shape 3"/>
          <p:cNvSpPr/>
          <p:nvPr/>
        </p:nvSpPr>
        <p:spPr>
          <a:xfrm>
            <a:off x="612648" y="1371600"/>
            <a:ext cx="3035808"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8" name="Text 5"/>
          <p:cNvSpPr txBox="1"/>
          <p:nvPr/>
        </p:nvSpPr>
        <p:spPr>
          <a:xfrm>
            <a:off x="1572767" y="1517904"/>
            <a:ext cx="1944815"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Omar Ahmed</a:t>
            </a:r>
            <a:endParaRPr lang="en-US" sz="1400" dirty="0"/>
          </a:p>
        </p:txBody>
      </p:sp>
      <p:sp>
        <p:nvSpPr>
          <p:cNvPr id="9" name="Text 6"/>
          <p:cNvSpPr txBox="1"/>
          <p:nvPr/>
        </p:nvSpPr>
        <p:spPr>
          <a:xfrm>
            <a:off x="1572767" y="1810512"/>
            <a:ext cx="1944815" cy="411480"/>
          </a:xfrm>
          <a:prstGeom prst="rect">
            <a:avLst/>
          </a:prstGeom>
          <a:noFill/>
          <a:ln/>
        </p:spPr>
        <p:txBody>
          <a:bodyPr wrap="square" lIns="0" tIns="0" rIns="0" bIns="0" rtlCol="0" anchor="t"/>
          <a:lstStyle/>
          <a:p>
            <a:pPr marL="0" indent="0" algn="l">
              <a:buNone/>
            </a:pPr>
            <a:r>
              <a:rPr lang="en-US" sz="1100" dirty="0">
                <a:solidFill>
                  <a:srgbClr val="6B7699"/>
                </a:solidFill>
                <a:latin typeface="Inter" pitchFamily="34" charset="0"/>
                <a:ea typeface="Inter" pitchFamily="34" charset="-122"/>
                <a:cs typeface="Inter" pitchFamily="34" charset="-120"/>
              </a:rPr>
              <a:t>Integration, tracing, benchmark harness</a:t>
            </a:r>
            <a:endParaRPr lang="en-US" sz="1100" dirty="0"/>
          </a:p>
        </p:txBody>
      </p:sp>
      <p:sp>
        <p:nvSpPr>
          <p:cNvPr id="10" name="Shape 7"/>
          <p:cNvSpPr/>
          <p:nvPr/>
        </p:nvSpPr>
        <p:spPr>
          <a:xfrm>
            <a:off x="3648456" y="1371600"/>
            <a:ext cx="3035808"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12" name="Text 9"/>
          <p:cNvSpPr txBox="1"/>
          <p:nvPr/>
        </p:nvSpPr>
        <p:spPr>
          <a:xfrm>
            <a:off x="4608575" y="1517904"/>
            <a:ext cx="1944815"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Ashar Sakr</a:t>
            </a:r>
            <a:endParaRPr lang="en-US" sz="1400" dirty="0"/>
          </a:p>
        </p:txBody>
      </p:sp>
      <p:sp>
        <p:nvSpPr>
          <p:cNvPr id="13" name="Text 10"/>
          <p:cNvSpPr txBox="1"/>
          <p:nvPr/>
        </p:nvSpPr>
        <p:spPr>
          <a:xfrm>
            <a:off x="4608575" y="1810512"/>
            <a:ext cx="1944815" cy="411480"/>
          </a:xfrm>
          <a:prstGeom prst="rect">
            <a:avLst/>
          </a:prstGeom>
          <a:noFill/>
          <a:ln/>
        </p:spPr>
        <p:txBody>
          <a:bodyPr wrap="square" lIns="0" tIns="0" rIns="0" bIns="0" rtlCol="0" anchor="t"/>
          <a:lstStyle/>
          <a:p>
            <a:pPr marL="0" indent="0" algn="l">
              <a:buNone/>
            </a:pPr>
            <a:r>
              <a:rPr lang="en-US" sz="1100" dirty="0">
                <a:solidFill>
                  <a:srgbClr val="6B7699"/>
                </a:solidFill>
                <a:latin typeface="Inter" pitchFamily="34" charset="0"/>
                <a:ea typeface="Inter" pitchFamily="34" charset="-122"/>
                <a:cs typeface="Inter" pitchFamily="34" charset="-120"/>
              </a:rPr>
              <a:t>KB ingestion CLI, benchmark</a:t>
            </a:r>
            <a:endParaRPr lang="en-US" sz="1100" dirty="0"/>
          </a:p>
        </p:txBody>
      </p:sp>
      <p:sp>
        <p:nvSpPr>
          <p:cNvPr id="14" name="Shape 11"/>
          <p:cNvSpPr/>
          <p:nvPr/>
        </p:nvSpPr>
        <p:spPr>
          <a:xfrm>
            <a:off x="612648" y="2377440"/>
            <a:ext cx="3035808"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16" name="Text 13"/>
          <p:cNvSpPr txBox="1"/>
          <p:nvPr/>
        </p:nvSpPr>
        <p:spPr>
          <a:xfrm>
            <a:off x="1572767" y="2523744"/>
            <a:ext cx="1944815"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Malak Rabie</a:t>
            </a:r>
            <a:endParaRPr lang="en-US" sz="1400" dirty="0"/>
          </a:p>
        </p:txBody>
      </p:sp>
      <p:sp>
        <p:nvSpPr>
          <p:cNvPr id="17" name="Text 14"/>
          <p:cNvSpPr txBox="1"/>
          <p:nvPr/>
        </p:nvSpPr>
        <p:spPr>
          <a:xfrm>
            <a:off x="1572767" y="2816352"/>
            <a:ext cx="1944815" cy="411480"/>
          </a:xfrm>
          <a:prstGeom prst="rect">
            <a:avLst/>
          </a:prstGeom>
          <a:noFill/>
          <a:ln/>
        </p:spPr>
        <p:txBody>
          <a:bodyPr wrap="square" lIns="0" tIns="0" rIns="0" bIns="0" rtlCol="0" anchor="t"/>
          <a:lstStyle/>
          <a:p>
            <a:pPr marL="0" indent="0" algn="l">
              <a:buNone/>
            </a:pPr>
            <a:r>
              <a:rPr lang="en-US" sz="1100" dirty="0">
                <a:solidFill>
                  <a:srgbClr val="6B7699"/>
                </a:solidFill>
                <a:latin typeface="Inter" pitchFamily="34" charset="0"/>
                <a:ea typeface="Inter" pitchFamily="34" charset="-122"/>
                <a:cs typeface="Inter" pitchFamily="34" charset="-120"/>
              </a:rPr>
              <a:t>Chunking, embedding, Celery worker</a:t>
            </a:r>
            <a:endParaRPr lang="en-US" sz="1100" dirty="0"/>
          </a:p>
        </p:txBody>
      </p:sp>
      <p:sp>
        <p:nvSpPr>
          <p:cNvPr id="18" name="Shape 15"/>
          <p:cNvSpPr/>
          <p:nvPr/>
        </p:nvSpPr>
        <p:spPr>
          <a:xfrm>
            <a:off x="3648456" y="2377440"/>
            <a:ext cx="3035808"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20" name="Text 17"/>
          <p:cNvSpPr txBox="1"/>
          <p:nvPr/>
        </p:nvSpPr>
        <p:spPr>
          <a:xfrm>
            <a:off x="4608575" y="2523744"/>
            <a:ext cx="1944815"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Dana Hatem</a:t>
            </a:r>
            <a:endParaRPr lang="en-US" sz="1400" dirty="0"/>
          </a:p>
        </p:txBody>
      </p:sp>
      <p:sp>
        <p:nvSpPr>
          <p:cNvPr id="21" name="Text 18"/>
          <p:cNvSpPr txBox="1"/>
          <p:nvPr/>
        </p:nvSpPr>
        <p:spPr>
          <a:xfrm>
            <a:off x="4608575" y="2816352"/>
            <a:ext cx="1944815" cy="411480"/>
          </a:xfrm>
          <a:prstGeom prst="rect">
            <a:avLst/>
          </a:prstGeom>
          <a:noFill/>
          <a:ln/>
        </p:spPr>
        <p:txBody>
          <a:bodyPr wrap="square" lIns="0" tIns="0" rIns="0" bIns="0" rtlCol="0" anchor="t"/>
          <a:lstStyle/>
          <a:p>
            <a:pPr marL="0" indent="0" algn="l">
              <a:buNone/>
            </a:pPr>
            <a:r>
              <a:rPr lang="en-US" sz="1100" dirty="0">
                <a:solidFill>
                  <a:srgbClr val="6B7699"/>
                </a:solidFill>
                <a:latin typeface="Inter" pitchFamily="34" charset="0"/>
                <a:ea typeface="Inter" pitchFamily="34" charset="-122"/>
                <a:cs typeface="Inter" pitchFamily="34" charset="-120"/>
              </a:rPr>
              <a:t>HMAC webhooks, S4.1 E2E verification</a:t>
            </a:r>
            <a:endParaRPr lang="en-US" sz="1100" dirty="0"/>
          </a:p>
        </p:txBody>
      </p:sp>
      <p:sp>
        <p:nvSpPr>
          <p:cNvPr id="22" name="Shape 19"/>
          <p:cNvSpPr/>
          <p:nvPr/>
        </p:nvSpPr>
        <p:spPr>
          <a:xfrm>
            <a:off x="612648" y="3383280"/>
            <a:ext cx="3035808"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24" name="Text 21"/>
          <p:cNvSpPr txBox="1"/>
          <p:nvPr/>
        </p:nvSpPr>
        <p:spPr>
          <a:xfrm>
            <a:off x="1572767" y="3529584"/>
            <a:ext cx="1944815"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Aliaa Hasabou</a:t>
            </a:r>
            <a:endParaRPr lang="en-US" sz="1400" dirty="0"/>
          </a:p>
        </p:txBody>
      </p:sp>
      <p:sp>
        <p:nvSpPr>
          <p:cNvPr id="25" name="Text 22"/>
          <p:cNvSpPr txBox="1"/>
          <p:nvPr/>
        </p:nvSpPr>
        <p:spPr>
          <a:xfrm>
            <a:off x="1572767" y="3822192"/>
            <a:ext cx="1944815" cy="411480"/>
          </a:xfrm>
          <a:prstGeom prst="rect">
            <a:avLst/>
          </a:prstGeom>
          <a:noFill/>
          <a:ln/>
        </p:spPr>
        <p:txBody>
          <a:bodyPr wrap="square" lIns="0" tIns="0" rIns="0" bIns="0" rtlCol="0" anchor="t"/>
          <a:lstStyle/>
          <a:p>
            <a:pPr marL="0" indent="0" algn="l">
              <a:buNone/>
            </a:pPr>
            <a:r>
              <a:rPr lang="en-US" sz="1100" dirty="0">
                <a:solidFill>
                  <a:srgbClr val="6B7699"/>
                </a:solidFill>
                <a:latin typeface="Inter" pitchFamily="34" charset="0"/>
                <a:ea typeface="Inter" pitchFamily="34" charset="-122"/>
                <a:cs typeface="Inter" pitchFamily="34" charset="-120"/>
              </a:rPr>
              <a:t>Webhook receiver, retrieval gate</a:t>
            </a:r>
            <a:endParaRPr lang="en-US" sz="1100" dirty="0"/>
          </a:p>
        </p:txBody>
      </p:sp>
      <p:sp>
        <p:nvSpPr>
          <p:cNvPr id="26" name="Shape 23"/>
          <p:cNvSpPr/>
          <p:nvPr/>
        </p:nvSpPr>
        <p:spPr>
          <a:xfrm>
            <a:off x="6748272" y="1371600"/>
            <a:ext cx="1849946" cy="2907792"/>
          </a:xfrm>
          <a:prstGeom prst="roundRect">
            <a:avLst>
              <a:gd name="adj" fmla="val 6154"/>
            </a:avLst>
          </a:prstGeom>
          <a:solidFill>
            <a:srgbClr val="1F2761"/>
          </a:solidFill>
          <a:ln/>
        </p:spPr>
        <p:txBody>
          <a:bodyPr/>
          <a:lstStyle/>
          <a:p>
            <a:endParaRPr lang="en-US"/>
          </a:p>
        </p:txBody>
      </p:sp>
      <p:sp>
        <p:nvSpPr>
          <p:cNvPr id="28" name="Text 25"/>
          <p:cNvSpPr txBox="1"/>
          <p:nvPr/>
        </p:nvSpPr>
        <p:spPr>
          <a:xfrm>
            <a:off x="6748272" y="2743200"/>
            <a:ext cx="1849946" cy="228600"/>
          </a:xfrm>
          <a:prstGeom prst="rect">
            <a:avLst/>
          </a:prstGeom>
          <a:noFill/>
          <a:ln/>
        </p:spPr>
        <p:txBody>
          <a:bodyPr wrap="square" lIns="0" tIns="0" rIns="0" bIns="0" rtlCol="0" anchor="t"/>
          <a:lstStyle/>
          <a:p>
            <a:pPr marL="0" indent="0" algn="ctr">
              <a:buNone/>
            </a:pPr>
            <a:r>
              <a:rPr lang="en-US" sz="1100" b="1" dirty="0">
                <a:solidFill>
                  <a:srgbClr val="26CCC4"/>
                </a:solidFill>
                <a:latin typeface="Inter" pitchFamily="34" charset="0"/>
                <a:ea typeface="Inter" pitchFamily="34" charset="-122"/>
                <a:cs typeface="Inter" pitchFamily="34" charset="-120"/>
              </a:rPr>
              <a:t>OUR MENTOR</a:t>
            </a:r>
            <a:endParaRPr lang="en-US" sz="1100" dirty="0"/>
          </a:p>
        </p:txBody>
      </p:sp>
      <p:sp>
        <p:nvSpPr>
          <p:cNvPr id="29" name="Text 26"/>
          <p:cNvSpPr txBox="1"/>
          <p:nvPr/>
        </p:nvSpPr>
        <p:spPr>
          <a:xfrm>
            <a:off x="6748272" y="3063240"/>
            <a:ext cx="1849946"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Eng. Ahmed Taha</a:t>
            </a:r>
            <a:endParaRPr lang="en-US" sz="1400" dirty="0"/>
          </a:p>
        </p:txBody>
      </p:sp>
      <p:sp>
        <p:nvSpPr>
          <p:cNvPr id="30" name="Text 27"/>
          <p:cNvSpPr txBox="1"/>
          <p:nvPr/>
        </p:nvSpPr>
        <p:spPr>
          <a:xfrm>
            <a:off x="6748272" y="3429000"/>
            <a:ext cx="1849946" cy="274320"/>
          </a:xfrm>
          <a:prstGeom prst="rect">
            <a:avLst/>
          </a:prstGeom>
          <a:noFill/>
          <a:ln/>
        </p:spPr>
        <p:txBody>
          <a:bodyPr wrap="square" lIns="0" tIns="0" rIns="0" bIns="0" rtlCol="0" anchor="t"/>
          <a:lstStyle/>
          <a:p>
            <a:pPr marL="0" indent="0" algn="ctr">
              <a:buNone/>
            </a:pPr>
            <a:r>
              <a:rPr lang="en-US" sz="1100" dirty="0">
                <a:solidFill>
                  <a:srgbClr val="C5CCEB"/>
                </a:solidFill>
                <a:latin typeface="Inter" pitchFamily="34" charset="0"/>
                <a:ea typeface="Inter" pitchFamily="34" charset="-122"/>
                <a:cs typeface="Inter" pitchFamily="34" charset="-120"/>
              </a:rPr>
              <a:t>[AI Engineer · Sprints]</a:t>
            </a:r>
            <a:endParaRPr lang="en-US" sz="1100" dirty="0"/>
          </a:p>
        </p:txBody>
      </p:sp>
      <p:pic>
        <p:nvPicPr>
          <p:cNvPr id="38" name="Picture 37">
            <a:extLst>
              <a:ext uri="{FF2B5EF4-FFF2-40B4-BE49-F238E27FC236}">
                <a16:creationId xmlns:a16="http://schemas.microsoft.com/office/drawing/2014/main" id="{F307B44B-3BCB-15C6-B82F-70B8D07E1A00}"/>
              </a:ext>
            </a:extLst>
          </p:cNvPr>
          <p:cNvPicPr>
            <a:picLocks noChangeAspect="1"/>
          </p:cNvPicPr>
          <p:nvPr/>
        </p:nvPicPr>
        <p:blipFill>
          <a:blip r:embed="rId4"/>
          <a:stretch>
            <a:fillRect/>
          </a:stretch>
        </p:blipFill>
        <p:spPr>
          <a:xfrm>
            <a:off x="7022774" y="1422614"/>
            <a:ext cx="1300942" cy="126957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0" name="Picture 39">
            <a:extLst>
              <a:ext uri="{FF2B5EF4-FFF2-40B4-BE49-F238E27FC236}">
                <a16:creationId xmlns:a16="http://schemas.microsoft.com/office/drawing/2014/main" id="{873F0560-D39F-44C6-BE66-A319B82A9594}"/>
              </a:ext>
            </a:extLst>
          </p:cNvPr>
          <p:cNvPicPr>
            <a:picLocks noChangeAspect="1"/>
          </p:cNvPicPr>
          <p:nvPr/>
        </p:nvPicPr>
        <p:blipFill>
          <a:blip r:embed="rId5"/>
          <a:stretch>
            <a:fillRect/>
          </a:stretch>
        </p:blipFill>
        <p:spPr>
          <a:xfrm>
            <a:off x="696804" y="1420622"/>
            <a:ext cx="798126" cy="8013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3</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PROBLEM STATEMENT</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Tier-1 triage is slow and repetitive</a:t>
            </a:r>
            <a:endParaRPr lang="en-US" sz="3000" dirty="0"/>
          </a:p>
        </p:txBody>
      </p:sp>
      <p:sp>
        <p:nvSpPr>
          <p:cNvPr id="6" name="Text 3"/>
          <p:cNvSpPr txBox="1"/>
          <p:nvPr/>
        </p:nvSpPr>
        <p:spPr>
          <a:xfrm>
            <a:off x="612648" y="1371600"/>
            <a:ext cx="4206240" cy="777240"/>
          </a:xfrm>
          <a:prstGeom prst="rect">
            <a:avLst/>
          </a:prstGeom>
          <a:noFill/>
          <a:ln/>
        </p:spPr>
        <p:txBody>
          <a:bodyPr wrap="square" lIns="0" tIns="0" rIns="0" bIns="0" rtlCol="0" anchor="t"/>
          <a:lstStyle/>
          <a:p>
            <a:pPr marL="0" indent="0" algn="l">
              <a:lnSpc>
                <a:spcPct val="110000"/>
              </a:lnSpc>
              <a:buNone/>
            </a:pPr>
            <a:r>
              <a:rPr lang="en-US" sz="1350" dirty="0">
                <a:solidFill>
                  <a:srgbClr val="4A5578"/>
                </a:solidFill>
                <a:latin typeface="Inter" pitchFamily="34" charset="0"/>
                <a:ea typeface="Inter" pitchFamily="34" charset="-122"/>
                <a:cs typeface="Inter" pitchFamily="34" charset="-120"/>
              </a:rPr>
              <a:t>Fulfillers spend minutes per ticket hunting through KB articles for answers that already exist.</a:t>
            </a:r>
            <a:endParaRPr lang="en-US" sz="1350" dirty="0"/>
          </a:p>
        </p:txBody>
      </p:sp>
      <p:sp>
        <p:nvSpPr>
          <p:cNvPr id="7" name="Text 4"/>
          <p:cNvSpPr txBox="1"/>
          <p:nvPr/>
        </p:nvSpPr>
        <p:spPr>
          <a:xfrm>
            <a:off x="612648" y="2286000"/>
            <a:ext cx="4206240" cy="822960"/>
          </a:xfrm>
          <a:prstGeom prst="rect">
            <a:avLst/>
          </a:prstGeom>
          <a:noFill/>
          <a:ln/>
        </p:spPr>
        <p:txBody>
          <a:bodyPr wrap="square" lIns="0" tIns="0" rIns="0" bIns="0" rtlCol="0" anchor="t"/>
          <a:lstStyle/>
          <a:p>
            <a:pPr marL="0" indent="0" algn="l">
              <a:lnSpc>
                <a:spcPct val="110000"/>
              </a:lnSpc>
              <a:buNone/>
            </a:pPr>
            <a:r>
              <a:rPr lang="en-US" sz="1350" b="1" dirty="0">
                <a:solidFill>
                  <a:srgbClr val="1F2761"/>
                </a:solidFill>
                <a:latin typeface="Inter" pitchFamily="34" charset="0"/>
                <a:ea typeface="Inter" pitchFamily="34" charset="-122"/>
                <a:cs typeface="Inter" pitchFamily="34" charset="-120"/>
              </a:rPr>
              <a:t>Why current options fall short: </a:t>
            </a:r>
            <a:r>
              <a:rPr lang="en-US" sz="1350" dirty="0">
                <a:solidFill>
                  <a:srgbClr val="4A5578"/>
                </a:solidFill>
                <a:latin typeface="Inter" pitchFamily="34" charset="0"/>
                <a:ea typeface="Inter" pitchFamily="34" charset="-122"/>
                <a:cs typeface="Inter" pitchFamily="34" charset="-120"/>
              </a:rPr>
              <a:t>manual KB search is slow, and ungrounded AI answers are a risk in support.</a:t>
            </a:r>
            <a:endParaRPr lang="en-US" sz="1350" dirty="0"/>
          </a:p>
        </p:txBody>
      </p:sp>
      <p:sp>
        <p:nvSpPr>
          <p:cNvPr id="8" name="Shape 5"/>
          <p:cNvSpPr/>
          <p:nvPr/>
        </p:nvSpPr>
        <p:spPr>
          <a:xfrm>
            <a:off x="612648" y="3200400"/>
            <a:ext cx="4206240" cy="141732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9" name="Text 6"/>
          <p:cNvSpPr txBox="1"/>
          <p:nvPr/>
        </p:nvSpPr>
        <p:spPr>
          <a:xfrm>
            <a:off x="841248" y="3246120"/>
            <a:ext cx="3657600" cy="777240"/>
          </a:xfrm>
          <a:prstGeom prst="rect">
            <a:avLst/>
          </a:prstGeom>
          <a:noFill/>
          <a:ln/>
        </p:spPr>
        <p:txBody>
          <a:bodyPr wrap="square" lIns="0" tIns="0" rIns="0" bIns="0" rtlCol="0" anchor="ctr"/>
          <a:lstStyle/>
          <a:p>
            <a:pPr marL="0" indent="0" algn="l">
              <a:buNone/>
            </a:pPr>
            <a:r>
              <a:rPr lang="en-US" sz="4600" b="1" dirty="0">
                <a:solidFill>
                  <a:srgbClr val="0050FF"/>
                </a:solidFill>
                <a:latin typeface="Inter" pitchFamily="34" charset="0"/>
                <a:ea typeface="Inter" pitchFamily="34" charset="-122"/>
                <a:cs typeface="Inter" pitchFamily="34" charset="-120"/>
              </a:rPr>
              <a:t>~3 min</a:t>
            </a:r>
            <a:endParaRPr lang="en-US" sz="4600" dirty="0"/>
          </a:p>
        </p:txBody>
      </p:sp>
      <p:sp>
        <p:nvSpPr>
          <p:cNvPr id="10" name="Text 7"/>
          <p:cNvSpPr txBox="1"/>
          <p:nvPr/>
        </p:nvSpPr>
        <p:spPr>
          <a:xfrm>
            <a:off x="841248" y="4023360"/>
            <a:ext cx="3749040" cy="548640"/>
          </a:xfrm>
          <a:prstGeom prst="rect">
            <a:avLst/>
          </a:prstGeom>
          <a:noFill/>
          <a:ln/>
        </p:spPr>
        <p:txBody>
          <a:bodyPr wrap="square" lIns="0" tIns="0" rIns="0" bIns="0" rtlCol="0" anchor="t"/>
          <a:lstStyle/>
          <a:p>
            <a:pPr marL="0" indent="0" algn="l">
              <a:buNone/>
            </a:pPr>
            <a:r>
              <a:rPr lang="en-US" sz="1150" dirty="0">
                <a:solidFill>
                  <a:srgbClr val="6B7699"/>
                </a:solidFill>
                <a:latin typeface="Inter" pitchFamily="34" charset="0"/>
                <a:ea typeface="Inter" pitchFamily="34" charset="-122"/>
                <a:cs typeface="Inter" pitchFamily="34" charset="-120"/>
              </a:rPr>
              <a:t>estimated manual KB search and drafting per ticket. Source: team estimate, not a measurement.</a:t>
            </a:r>
            <a:endParaRPr lang="en-US" sz="1150" dirty="0"/>
          </a:p>
        </p:txBody>
      </p:sp>
      <p:sp>
        <p:nvSpPr>
          <p:cNvPr id="11" name="Shape 8"/>
          <p:cNvSpPr/>
          <p:nvPr/>
        </p:nvSpPr>
        <p:spPr>
          <a:xfrm>
            <a:off x="5029200" y="1371600"/>
            <a:ext cx="3502152" cy="987552"/>
          </a:xfrm>
          <a:prstGeom prst="roundRect">
            <a:avLst>
              <a:gd name="adj" fmla="val 10185"/>
            </a:avLst>
          </a:prstGeom>
          <a:solidFill>
            <a:srgbClr val="E7EEFB"/>
          </a:solidFill>
          <a:ln/>
        </p:spPr>
        <p:txBody>
          <a:bodyPr/>
          <a:lstStyle/>
          <a:p>
            <a:endParaRPr lang="en-US"/>
          </a:p>
        </p:txBody>
      </p:sp>
      <p:sp>
        <p:nvSpPr>
          <p:cNvPr id="12" name="Text 9"/>
          <p:cNvSpPr txBox="1"/>
          <p:nvPr/>
        </p:nvSpPr>
        <p:spPr>
          <a:xfrm>
            <a:off x="5230368" y="1499616"/>
            <a:ext cx="3108960" cy="29260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Incidents keep repeating</a:t>
            </a:r>
            <a:endParaRPr lang="en-US" sz="1400" dirty="0"/>
          </a:p>
        </p:txBody>
      </p:sp>
      <p:sp>
        <p:nvSpPr>
          <p:cNvPr id="13" name="Text 10"/>
          <p:cNvSpPr txBox="1"/>
          <p:nvPr/>
        </p:nvSpPr>
        <p:spPr>
          <a:xfrm>
            <a:off x="5230368" y="1828800"/>
            <a:ext cx="3108960" cy="457200"/>
          </a:xfrm>
          <a:prstGeom prst="rect">
            <a:avLst/>
          </a:prstGeom>
          <a:noFill/>
          <a:ln/>
        </p:spPr>
        <p:txBody>
          <a:bodyPr wrap="square" lIns="0" tIns="0" rIns="0" bIns="0" rtlCol="0" anchor="t"/>
          <a:lstStyle/>
          <a:p>
            <a:pPr marL="0" indent="0" algn="l">
              <a:buNone/>
            </a:pPr>
            <a:r>
              <a:rPr lang="en-US" sz="1200" dirty="0">
                <a:solidFill>
                  <a:srgbClr val="6B7699"/>
                </a:solidFill>
                <a:latin typeface="Inter" pitchFamily="34" charset="0"/>
                <a:ea typeface="Inter" pitchFamily="34" charset="-122"/>
                <a:cs typeface="Inter" pitchFamily="34" charset="-120"/>
              </a:rPr>
              <a:t>The same network, software, hardware and inquiry issues</a:t>
            </a:r>
            <a:endParaRPr lang="en-US" sz="1200" dirty="0"/>
          </a:p>
        </p:txBody>
      </p:sp>
      <p:sp>
        <p:nvSpPr>
          <p:cNvPr id="14" name="Shape 11"/>
          <p:cNvSpPr/>
          <p:nvPr/>
        </p:nvSpPr>
        <p:spPr>
          <a:xfrm>
            <a:off x="5029200" y="2468880"/>
            <a:ext cx="3502152" cy="987552"/>
          </a:xfrm>
          <a:prstGeom prst="roundRect">
            <a:avLst>
              <a:gd name="adj" fmla="val 10185"/>
            </a:avLst>
          </a:prstGeom>
          <a:solidFill>
            <a:srgbClr val="E7EEFB"/>
          </a:solidFill>
          <a:ln/>
        </p:spPr>
        <p:txBody>
          <a:bodyPr/>
          <a:lstStyle/>
          <a:p>
            <a:endParaRPr lang="en-US"/>
          </a:p>
        </p:txBody>
      </p:sp>
      <p:sp>
        <p:nvSpPr>
          <p:cNvPr id="15" name="Text 12"/>
          <p:cNvSpPr txBox="1"/>
          <p:nvPr/>
        </p:nvSpPr>
        <p:spPr>
          <a:xfrm>
            <a:off x="5230368" y="2596896"/>
            <a:ext cx="3108960" cy="29260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Answers are hard to find</a:t>
            </a:r>
            <a:endParaRPr lang="en-US" sz="1400" dirty="0"/>
          </a:p>
        </p:txBody>
      </p:sp>
      <p:sp>
        <p:nvSpPr>
          <p:cNvPr id="16" name="Text 13"/>
          <p:cNvSpPr txBox="1"/>
          <p:nvPr/>
        </p:nvSpPr>
        <p:spPr>
          <a:xfrm>
            <a:off x="5230368" y="2926080"/>
            <a:ext cx="3108960" cy="457200"/>
          </a:xfrm>
          <a:prstGeom prst="rect">
            <a:avLst/>
          </a:prstGeom>
          <a:noFill/>
          <a:ln/>
        </p:spPr>
        <p:txBody>
          <a:bodyPr wrap="square" lIns="0" tIns="0" rIns="0" bIns="0" rtlCol="0" anchor="t"/>
          <a:lstStyle/>
          <a:p>
            <a:pPr marL="0" indent="0" algn="l">
              <a:buNone/>
            </a:pPr>
            <a:r>
              <a:rPr lang="en-US" sz="1200" dirty="0">
                <a:solidFill>
                  <a:srgbClr val="6B7699"/>
                </a:solidFill>
                <a:latin typeface="Inter" pitchFamily="34" charset="0"/>
                <a:ea typeface="Inter" pitchFamily="34" charset="-122"/>
                <a:cs typeface="Inter" pitchFamily="34" charset="-120"/>
              </a:rPr>
              <a:t>The fix is in a KB article, but searching costs minutes</a:t>
            </a:r>
            <a:endParaRPr lang="en-US" sz="1200" dirty="0"/>
          </a:p>
        </p:txBody>
      </p:sp>
      <p:sp>
        <p:nvSpPr>
          <p:cNvPr id="17" name="Shape 14"/>
          <p:cNvSpPr/>
          <p:nvPr/>
        </p:nvSpPr>
        <p:spPr>
          <a:xfrm>
            <a:off x="5029200" y="3566160"/>
            <a:ext cx="3502152" cy="987552"/>
          </a:xfrm>
          <a:prstGeom prst="roundRect">
            <a:avLst>
              <a:gd name="adj" fmla="val 10185"/>
            </a:avLst>
          </a:prstGeom>
          <a:solidFill>
            <a:srgbClr val="E7EEFB"/>
          </a:solidFill>
          <a:ln/>
        </p:spPr>
        <p:txBody>
          <a:bodyPr/>
          <a:lstStyle/>
          <a:p>
            <a:endParaRPr lang="en-US"/>
          </a:p>
        </p:txBody>
      </p:sp>
      <p:sp>
        <p:nvSpPr>
          <p:cNvPr id="18" name="Text 15"/>
          <p:cNvSpPr txBox="1"/>
          <p:nvPr/>
        </p:nvSpPr>
        <p:spPr>
          <a:xfrm>
            <a:off x="5230368" y="3694176"/>
            <a:ext cx="3108960" cy="29260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Ungrounded AI is risky</a:t>
            </a:r>
            <a:endParaRPr lang="en-US" sz="1400" dirty="0"/>
          </a:p>
        </p:txBody>
      </p:sp>
      <p:sp>
        <p:nvSpPr>
          <p:cNvPr id="19" name="Text 16"/>
          <p:cNvSpPr txBox="1"/>
          <p:nvPr/>
        </p:nvSpPr>
        <p:spPr>
          <a:xfrm>
            <a:off x="5230368" y="4023360"/>
            <a:ext cx="3108960" cy="457200"/>
          </a:xfrm>
          <a:prstGeom prst="rect">
            <a:avLst/>
          </a:prstGeom>
          <a:noFill/>
          <a:ln/>
        </p:spPr>
        <p:txBody>
          <a:bodyPr wrap="square" lIns="0" tIns="0" rIns="0" bIns="0" rtlCol="0" anchor="t"/>
          <a:lstStyle/>
          <a:p>
            <a:pPr marL="0" indent="0" algn="l">
              <a:buNone/>
            </a:pPr>
            <a:r>
              <a:rPr lang="en-US" sz="1200" dirty="0">
                <a:solidFill>
                  <a:srgbClr val="6B7699"/>
                </a:solidFill>
                <a:latin typeface="Inter" pitchFamily="34" charset="0"/>
                <a:ea typeface="Inter" pitchFamily="34" charset="-122"/>
                <a:cs typeface="Inter" pitchFamily="34" charset="-120"/>
              </a:rPr>
              <a:t>A wrong answer costs trust, so cite every answer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4</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OUR SOLUTION</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From ticket to cited suggestion</a:t>
            </a:r>
            <a:endParaRPr lang="en-US" sz="3000" dirty="0"/>
          </a:p>
        </p:txBody>
      </p:sp>
      <p:sp>
        <p:nvSpPr>
          <p:cNvPr id="6" name="Text 3"/>
          <p:cNvSpPr txBox="1"/>
          <p:nvPr/>
        </p:nvSpPr>
        <p:spPr>
          <a:xfrm>
            <a:off x="612648" y="1353312"/>
            <a:ext cx="7918704" cy="274320"/>
          </a:xfrm>
          <a:prstGeom prst="rect">
            <a:avLst/>
          </a:prstGeom>
          <a:noFill/>
          <a:ln/>
        </p:spPr>
        <p:txBody>
          <a:bodyPr wrap="square" lIns="0" tIns="0" rIns="0" bIns="0" rtlCol="0" anchor="t"/>
          <a:lstStyle/>
          <a:p>
            <a:pPr marL="0" indent="0" algn="l">
              <a:buNone/>
            </a:pPr>
            <a:r>
              <a:rPr lang="en-US" sz="1350" dirty="0">
                <a:solidFill>
                  <a:srgbClr val="4A5578"/>
                </a:solidFill>
                <a:latin typeface="Inter" pitchFamily="34" charset="0"/>
                <a:ea typeface="Inter" pitchFamily="34" charset="-122"/>
                <a:cs typeface="Inter" pitchFamily="34" charset="-120"/>
              </a:rPr>
              <a:t>BARQ drafts a KB-cited answer for each incident; the fulfiller decides.</a:t>
            </a:r>
            <a:endParaRPr lang="en-US" sz="1350" dirty="0"/>
          </a:p>
        </p:txBody>
      </p:sp>
      <p:sp>
        <p:nvSpPr>
          <p:cNvPr id="7" name="Shape 4"/>
          <p:cNvSpPr/>
          <p:nvPr/>
        </p:nvSpPr>
        <p:spPr>
          <a:xfrm>
            <a:off x="612648" y="1810512"/>
            <a:ext cx="1755648" cy="2057400"/>
          </a:xfrm>
          <a:prstGeom prst="roundRect">
            <a:avLst>
              <a:gd name="adj" fmla="val 5729"/>
            </a:avLst>
          </a:prstGeom>
          <a:solidFill>
            <a:srgbClr val="FDFEFF"/>
          </a:solidFill>
          <a:ln w="9525">
            <a:solidFill>
              <a:srgbClr val="E0E4F2"/>
            </a:solidFill>
            <a:prstDash val="solid"/>
          </a:ln>
        </p:spPr>
        <p:txBody>
          <a:bodyPr/>
          <a:lstStyle/>
          <a:p>
            <a:endParaRPr lang="en-US"/>
          </a:p>
        </p:txBody>
      </p:sp>
      <p:sp>
        <p:nvSpPr>
          <p:cNvPr id="8" name="Shape 5"/>
          <p:cNvSpPr/>
          <p:nvPr/>
        </p:nvSpPr>
        <p:spPr>
          <a:xfrm>
            <a:off x="777240" y="1993392"/>
            <a:ext cx="384048" cy="384048"/>
          </a:xfrm>
          <a:prstGeom prst="ellipse">
            <a:avLst/>
          </a:prstGeom>
          <a:solidFill>
            <a:srgbClr val="0050FF"/>
          </a:solidFill>
          <a:ln/>
        </p:spPr>
        <p:txBody>
          <a:bodyPr/>
          <a:lstStyle/>
          <a:p>
            <a:endParaRPr lang="en-US"/>
          </a:p>
        </p:txBody>
      </p:sp>
      <p:sp>
        <p:nvSpPr>
          <p:cNvPr id="9" name="Text 6"/>
          <p:cNvSpPr txBox="1"/>
          <p:nvPr/>
        </p:nvSpPr>
        <p:spPr>
          <a:xfrm>
            <a:off x="777240" y="19933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10" name="Text 7"/>
          <p:cNvSpPr txBox="1"/>
          <p:nvPr/>
        </p:nvSpPr>
        <p:spPr>
          <a:xfrm>
            <a:off x="777240" y="2523744"/>
            <a:ext cx="1481328" cy="502920"/>
          </a:xfrm>
          <a:prstGeom prst="rect">
            <a:avLst/>
          </a:prstGeom>
          <a:noFill/>
          <a:ln/>
        </p:spPr>
        <p:txBody>
          <a:bodyPr wrap="square" lIns="0" tIns="0" rIns="0" bIns="0" rtlCol="0" anchor="t"/>
          <a:lstStyle/>
          <a:p>
            <a:pPr marL="0" indent="0" algn="l">
              <a:buNone/>
            </a:pPr>
            <a:r>
              <a:rPr lang="en-US" sz="1350" b="1" dirty="0">
                <a:solidFill>
                  <a:srgbClr val="1F2761"/>
                </a:solidFill>
                <a:latin typeface="Inter" pitchFamily="34" charset="0"/>
                <a:ea typeface="Inter" pitchFamily="34" charset="-122"/>
                <a:cs typeface="Inter" pitchFamily="34" charset="-120"/>
              </a:rPr>
              <a:t>Incident created</a:t>
            </a:r>
            <a:endParaRPr lang="en-US" sz="1350" dirty="0"/>
          </a:p>
        </p:txBody>
      </p:sp>
      <p:sp>
        <p:nvSpPr>
          <p:cNvPr id="11" name="Text 8"/>
          <p:cNvSpPr txBox="1"/>
          <p:nvPr/>
        </p:nvSpPr>
        <p:spPr>
          <a:xfrm>
            <a:off x="777240" y="2999232"/>
            <a:ext cx="1481328" cy="822960"/>
          </a:xfrm>
          <a:prstGeom prst="rect">
            <a:avLst/>
          </a:prstGeom>
          <a:noFill/>
          <a:ln/>
        </p:spPr>
        <p:txBody>
          <a:bodyPr wrap="square" lIns="0" tIns="0" rIns="0" bIns="0" rtlCol="0" anchor="t"/>
          <a:lstStyle/>
          <a:p>
            <a:pPr marL="0" indent="0" algn="l">
              <a:lnSpc>
                <a:spcPct val="110000"/>
              </a:lnSpc>
              <a:buNone/>
            </a:pPr>
            <a:r>
              <a:rPr lang="en-US" sz="1150" dirty="0">
                <a:solidFill>
                  <a:srgbClr val="6B7699"/>
                </a:solidFill>
                <a:latin typeface="Inter" pitchFamily="34" charset="0"/>
                <a:ea typeface="Inter" pitchFamily="34" charset="-122"/>
                <a:cs typeface="Inter" pitchFamily="34" charset="-120"/>
              </a:rPr>
              <a:t>ServiceNow fires a signed webhook.</a:t>
            </a:r>
            <a:endParaRPr lang="en-US" sz="1150" dirty="0"/>
          </a:p>
        </p:txBody>
      </p:sp>
      <p:sp>
        <p:nvSpPr>
          <p:cNvPr id="12" name="Shape 9"/>
          <p:cNvSpPr/>
          <p:nvPr/>
        </p:nvSpPr>
        <p:spPr>
          <a:xfrm>
            <a:off x="2417064" y="2176272"/>
            <a:ext cx="201168" cy="118872"/>
          </a:xfrm>
          <a:prstGeom prst="rightArrow">
            <a:avLst/>
          </a:prstGeom>
          <a:solidFill>
            <a:srgbClr val="9FB3EC"/>
          </a:solidFill>
          <a:ln/>
        </p:spPr>
        <p:txBody>
          <a:bodyPr/>
          <a:lstStyle/>
          <a:p>
            <a:endParaRPr lang="en-US"/>
          </a:p>
        </p:txBody>
      </p:sp>
      <p:sp>
        <p:nvSpPr>
          <p:cNvPr id="13" name="Shape 10"/>
          <p:cNvSpPr/>
          <p:nvPr/>
        </p:nvSpPr>
        <p:spPr>
          <a:xfrm>
            <a:off x="2667000" y="1810512"/>
            <a:ext cx="1755648" cy="2057400"/>
          </a:xfrm>
          <a:prstGeom prst="roundRect">
            <a:avLst>
              <a:gd name="adj" fmla="val 5729"/>
            </a:avLst>
          </a:prstGeom>
          <a:solidFill>
            <a:srgbClr val="FDFEFF"/>
          </a:solidFill>
          <a:ln w="9525">
            <a:solidFill>
              <a:srgbClr val="E0E4F2"/>
            </a:solidFill>
            <a:prstDash val="solid"/>
          </a:ln>
        </p:spPr>
        <p:txBody>
          <a:bodyPr/>
          <a:lstStyle/>
          <a:p>
            <a:endParaRPr lang="en-US"/>
          </a:p>
        </p:txBody>
      </p:sp>
      <p:sp>
        <p:nvSpPr>
          <p:cNvPr id="14" name="Shape 11"/>
          <p:cNvSpPr/>
          <p:nvPr/>
        </p:nvSpPr>
        <p:spPr>
          <a:xfrm>
            <a:off x="2831592" y="1993392"/>
            <a:ext cx="384048" cy="384048"/>
          </a:xfrm>
          <a:prstGeom prst="ellipse">
            <a:avLst/>
          </a:prstGeom>
          <a:solidFill>
            <a:srgbClr val="0050FF"/>
          </a:solidFill>
          <a:ln/>
        </p:spPr>
        <p:txBody>
          <a:bodyPr/>
          <a:lstStyle/>
          <a:p>
            <a:endParaRPr lang="en-US"/>
          </a:p>
        </p:txBody>
      </p:sp>
      <p:sp>
        <p:nvSpPr>
          <p:cNvPr id="15" name="Text 12"/>
          <p:cNvSpPr txBox="1"/>
          <p:nvPr/>
        </p:nvSpPr>
        <p:spPr>
          <a:xfrm>
            <a:off x="2831592" y="19933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6" name="Text 13"/>
          <p:cNvSpPr txBox="1"/>
          <p:nvPr/>
        </p:nvSpPr>
        <p:spPr>
          <a:xfrm>
            <a:off x="2831592" y="2523744"/>
            <a:ext cx="1481328" cy="502920"/>
          </a:xfrm>
          <a:prstGeom prst="rect">
            <a:avLst/>
          </a:prstGeom>
          <a:noFill/>
          <a:ln/>
        </p:spPr>
        <p:txBody>
          <a:bodyPr wrap="square" lIns="0" tIns="0" rIns="0" bIns="0" rtlCol="0" anchor="t"/>
          <a:lstStyle/>
          <a:p>
            <a:pPr marL="0" indent="0" algn="l">
              <a:buNone/>
            </a:pPr>
            <a:r>
              <a:rPr lang="en-US" sz="1350" b="1" dirty="0">
                <a:solidFill>
                  <a:srgbClr val="1F2761"/>
                </a:solidFill>
                <a:latin typeface="Inter" pitchFamily="34" charset="0"/>
                <a:ea typeface="Inter" pitchFamily="34" charset="-122"/>
                <a:cs typeface="Inter" pitchFamily="34" charset="-120"/>
              </a:rPr>
              <a:t>Verified, queued</a:t>
            </a:r>
            <a:endParaRPr lang="en-US" sz="1350" dirty="0"/>
          </a:p>
        </p:txBody>
      </p:sp>
      <p:sp>
        <p:nvSpPr>
          <p:cNvPr id="17" name="Text 14"/>
          <p:cNvSpPr txBox="1"/>
          <p:nvPr/>
        </p:nvSpPr>
        <p:spPr>
          <a:xfrm>
            <a:off x="2831592" y="2999232"/>
            <a:ext cx="1481328" cy="822960"/>
          </a:xfrm>
          <a:prstGeom prst="rect">
            <a:avLst/>
          </a:prstGeom>
          <a:noFill/>
          <a:ln/>
        </p:spPr>
        <p:txBody>
          <a:bodyPr wrap="square" lIns="0" tIns="0" rIns="0" bIns="0" rtlCol="0" anchor="t"/>
          <a:lstStyle/>
          <a:p>
            <a:pPr marL="0" indent="0" algn="l">
              <a:lnSpc>
                <a:spcPct val="110000"/>
              </a:lnSpc>
              <a:buNone/>
            </a:pPr>
            <a:r>
              <a:rPr lang="en-US" sz="1150" dirty="0">
                <a:solidFill>
                  <a:srgbClr val="6B7699"/>
                </a:solidFill>
                <a:latin typeface="Inter" pitchFamily="34" charset="0"/>
                <a:ea typeface="Inter" pitchFamily="34" charset="-122"/>
                <a:cs typeface="Inter" pitchFamily="34" charset="-120"/>
              </a:rPr>
              <a:t>FastAPI checks the signature; Celery takes the job.</a:t>
            </a:r>
            <a:endParaRPr lang="en-US" sz="1150" dirty="0"/>
          </a:p>
        </p:txBody>
      </p:sp>
      <p:sp>
        <p:nvSpPr>
          <p:cNvPr id="18" name="Shape 15"/>
          <p:cNvSpPr/>
          <p:nvPr/>
        </p:nvSpPr>
        <p:spPr>
          <a:xfrm>
            <a:off x="4471416" y="2176272"/>
            <a:ext cx="201168" cy="118872"/>
          </a:xfrm>
          <a:prstGeom prst="rightArrow">
            <a:avLst/>
          </a:prstGeom>
          <a:solidFill>
            <a:srgbClr val="9FB3EC"/>
          </a:solidFill>
          <a:ln/>
        </p:spPr>
        <p:txBody>
          <a:bodyPr/>
          <a:lstStyle/>
          <a:p>
            <a:endParaRPr lang="en-US"/>
          </a:p>
        </p:txBody>
      </p:sp>
      <p:sp>
        <p:nvSpPr>
          <p:cNvPr id="19" name="Shape 16"/>
          <p:cNvSpPr/>
          <p:nvPr/>
        </p:nvSpPr>
        <p:spPr>
          <a:xfrm>
            <a:off x="4721352" y="1810512"/>
            <a:ext cx="1755648" cy="2057400"/>
          </a:xfrm>
          <a:prstGeom prst="roundRect">
            <a:avLst>
              <a:gd name="adj" fmla="val 5729"/>
            </a:avLst>
          </a:prstGeom>
          <a:solidFill>
            <a:srgbClr val="FDFEFF"/>
          </a:solidFill>
          <a:ln w="9525">
            <a:solidFill>
              <a:srgbClr val="E0E4F2"/>
            </a:solidFill>
            <a:prstDash val="solid"/>
          </a:ln>
        </p:spPr>
        <p:txBody>
          <a:bodyPr/>
          <a:lstStyle/>
          <a:p>
            <a:endParaRPr lang="en-US"/>
          </a:p>
        </p:txBody>
      </p:sp>
      <p:sp>
        <p:nvSpPr>
          <p:cNvPr id="20" name="Shape 17"/>
          <p:cNvSpPr/>
          <p:nvPr/>
        </p:nvSpPr>
        <p:spPr>
          <a:xfrm>
            <a:off x="4885944" y="1993392"/>
            <a:ext cx="384048" cy="384048"/>
          </a:xfrm>
          <a:prstGeom prst="ellipse">
            <a:avLst/>
          </a:prstGeom>
          <a:solidFill>
            <a:srgbClr val="0050FF"/>
          </a:solidFill>
          <a:ln/>
        </p:spPr>
        <p:txBody>
          <a:bodyPr/>
          <a:lstStyle/>
          <a:p>
            <a:endParaRPr lang="en-US"/>
          </a:p>
        </p:txBody>
      </p:sp>
      <p:sp>
        <p:nvSpPr>
          <p:cNvPr id="21" name="Text 18"/>
          <p:cNvSpPr txBox="1"/>
          <p:nvPr/>
        </p:nvSpPr>
        <p:spPr>
          <a:xfrm>
            <a:off x="4885944" y="19933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22" name="Text 19"/>
          <p:cNvSpPr txBox="1"/>
          <p:nvPr/>
        </p:nvSpPr>
        <p:spPr>
          <a:xfrm>
            <a:off x="4885944" y="2523744"/>
            <a:ext cx="1481328" cy="502920"/>
          </a:xfrm>
          <a:prstGeom prst="rect">
            <a:avLst/>
          </a:prstGeom>
          <a:noFill/>
          <a:ln/>
        </p:spPr>
        <p:txBody>
          <a:bodyPr wrap="square" lIns="0" tIns="0" rIns="0" bIns="0" rtlCol="0" anchor="t"/>
          <a:lstStyle/>
          <a:p>
            <a:pPr marL="0" indent="0" algn="l">
              <a:buNone/>
            </a:pPr>
            <a:r>
              <a:rPr lang="en-US" sz="1350" b="1" dirty="0">
                <a:solidFill>
                  <a:srgbClr val="1F2761"/>
                </a:solidFill>
                <a:latin typeface="Inter" pitchFamily="34" charset="0"/>
                <a:ea typeface="Inter" pitchFamily="34" charset="-122"/>
                <a:cs typeface="Inter" pitchFamily="34" charset="-120"/>
              </a:rPr>
              <a:t>Grounded draft</a:t>
            </a:r>
            <a:endParaRPr lang="en-US" sz="1350" dirty="0"/>
          </a:p>
        </p:txBody>
      </p:sp>
      <p:sp>
        <p:nvSpPr>
          <p:cNvPr id="23" name="Text 20"/>
          <p:cNvSpPr txBox="1"/>
          <p:nvPr/>
        </p:nvSpPr>
        <p:spPr>
          <a:xfrm>
            <a:off x="4885944" y="2999232"/>
            <a:ext cx="1481328" cy="822960"/>
          </a:xfrm>
          <a:prstGeom prst="rect">
            <a:avLst/>
          </a:prstGeom>
          <a:noFill/>
          <a:ln/>
        </p:spPr>
        <p:txBody>
          <a:bodyPr wrap="square" lIns="0" tIns="0" rIns="0" bIns="0" rtlCol="0" anchor="t"/>
          <a:lstStyle/>
          <a:p>
            <a:pPr marL="0" indent="0" algn="l">
              <a:lnSpc>
                <a:spcPct val="110000"/>
              </a:lnSpc>
              <a:buNone/>
            </a:pPr>
            <a:r>
              <a:rPr lang="en-US" sz="1150" dirty="0">
                <a:solidFill>
                  <a:srgbClr val="6B7699"/>
                </a:solidFill>
                <a:latin typeface="Inter" pitchFamily="34" charset="0"/>
                <a:ea typeface="Inter" pitchFamily="34" charset="-122"/>
                <a:cs typeface="Inter" pitchFamily="34" charset="-120"/>
              </a:rPr>
              <a:t>A LangGraph agent searches Qdrant and cites sources.</a:t>
            </a:r>
            <a:endParaRPr lang="en-US" sz="1150" dirty="0"/>
          </a:p>
        </p:txBody>
      </p:sp>
      <p:sp>
        <p:nvSpPr>
          <p:cNvPr id="24" name="Shape 21"/>
          <p:cNvSpPr/>
          <p:nvPr/>
        </p:nvSpPr>
        <p:spPr>
          <a:xfrm>
            <a:off x="6525768" y="2176272"/>
            <a:ext cx="201168" cy="118872"/>
          </a:xfrm>
          <a:prstGeom prst="rightArrow">
            <a:avLst/>
          </a:prstGeom>
          <a:solidFill>
            <a:srgbClr val="9FB3EC"/>
          </a:solidFill>
          <a:ln/>
        </p:spPr>
        <p:txBody>
          <a:bodyPr/>
          <a:lstStyle/>
          <a:p>
            <a:endParaRPr lang="en-US"/>
          </a:p>
        </p:txBody>
      </p:sp>
      <p:sp>
        <p:nvSpPr>
          <p:cNvPr id="25" name="Shape 22"/>
          <p:cNvSpPr/>
          <p:nvPr/>
        </p:nvSpPr>
        <p:spPr>
          <a:xfrm>
            <a:off x="6775704" y="1810512"/>
            <a:ext cx="1755648" cy="2057400"/>
          </a:xfrm>
          <a:prstGeom prst="roundRect">
            <a:avLst>
              <a:gd name="adj" fmla="val 5729"/>
            </a:avLst>
          </a:prstGeom>
          <a:solidFill>
            <a:srgbClr val="FDFEFF"/>
          </a:solidFill>
          <a:ln w="9525">
            <a:solidFill>
              <a:srgbClr val="E0E4F2"/>
            </a:solidFill>
            <a:prstDash val="solid"/>
          </a:ln>
        </p:spPr>
        <p:txBody>
          <a:bodyPr/>
          <a:lstStyle/>
          <a:p>
            <a:endParaRPr lang="en-US"/>
          </a:p>
        </p:txBody>
      </p:sp>
      <p:sp>
        <p:nvSpPr>
          <p:cNvPr id="26" name="Shape 23"/>
          <p:cNvSpPr/>
          <p:nvPr/>
        </p:nvSpPr>
        <p:spPr>
          <a:xfrm>
            <a:off x="6940296" y="1993392"/>
            <a:ext cx="384048" cy="384048"/>
          </a:xfrm>
          <a:prstGeom prst="ellipse">
            <a:avLst/>
          </a:prstGeom>
          <a:solidFill>
            <a:srgbClr val="0050FF"/>
          </a:solidFill>
          <a:ln/>
        </p:spPr>
        <p:txBody>
          <a:bodyPr/>
          <a:lstStyle/>
          <a:p>
            <a:endParaRPr lang="en-US"/>
          </a:p>
        </p:txBody>
      </p:sp>
      <p:sp>
        <p:nvSpPr>
          <p:cNvPr id="27" name="Text 24"/>
          <p:cNvSpPr txBox="1"/>
          <p:nvPr/>
        </p:nvSpPr>
        <p:spPr>
          <a:xfrm>
            <a:off x="6940296" y="19933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8" name="Text 25"/>
          <p:cNvSpPr txBox="1"/>
          <p:nvPr/>
        </p:nvSpPr>
        <p:spPr>
          <a:xfrm>
            <a:off x="6940296" y="2523744"/>
            <a:ext cx="1481328" cy="502920"/>
          </a:xfrm>
          <a:prstGeom prst="rect">
            <a:avLst/>
          </a:prstGeom>
          <a:noFill/>
          <a:ln/>
        </p:spPr>
        <p:txBody>
          <a:bodyPr wrap="square" lIns="0" tIns="0" rIns="0" bIns="0" rtlCol="0" anchor="t"/>
          <a:lstStyle/>
          <a:p>
            <a:pPr marL="0" indent="0" algn="l">
              <a:buNone/>
            </a:pPr>
            <a:r>
              <a:rPr lang="en-US" sz="1350" b="1" dirty="0">
                <a:solidFill>
                  <a:srgbClr val="1F2761"/>
                </a:solidFill>
                <a:latin typeface="Inter" pitchFamily="34" charset="0"/>
                <a:ea typeface="Inter" pitchFamily="34" charset="-122"/>
                <a:cs typeface="Inter" pitchFamily="34" charset="-120"/>
              </a:rPr>
              <a:t>Human decides</a:t>
            </a:r>
            <a:endParaRPr lang="en-US" sz="1350" dirty="0"/>
          </a:p>
        </p:txBody>
      </p:sp>
      <p:sp>
        <p:nvSpPr>
          <p:cNvPr id="29" name="Text 26"/>
          <p:cNvSpPr txBox="1"/>
          <p:nvPr/>
        </p:nvSpPr>
        <p:spPr>
          <a:xfrm>
            <a:off x="6940296" y="2999232"/>
            <a:ext cx="1481328" cy="822960"/>
          </a:xfrm>
          <a:prstGeom prst="rect">
            <a:avLst/>
          </a:prstGeom>
          <a:noFill/>
          <a:ln/>
        </p:spPr>
        <p:txBody>
          <a:bodyPr wrap="square" lIns="0" tIns="0" rIns="0" bIns="0" rtlCol="0" anchor="t"/>
          <a:lstStyle/>
          <a:p>
            <a:pPr marL="0" indent="0" algn="l">
              <a:lnSpc>
                <a:spcPct val="110000"/>
              </a:lnSpc>
              <a:buNone/>
            </a:pPr>
            <a:r>
              <a:rPr lang="en-US" sz="1150" dirty="0">
                <a:solidFill>
                  <a:srgbClr val="6B7699"/>
                </a:solidFill>
                <a:latin typeface="Inter" pitchFamily="34" charset="0"/>
                <a:ea typeface="Inter" pitchFamily="34" charset="-122"/>
                <a:cs typeface="Inter" pitchFamily="34" charset="-120"/>
              </a:rPr>
              <a:t>The fulfiller approves, edits or rejects.</a:t>
            </a:r>
            <a:endParaRPr lang="en-US" sz="1150" dirty="0"/>
          </a:p>
        </p:txBody>
      </p:sp>
      <p:sp>
        <p:nvSpPr>
          <p:cNvPr id="30" name="Shape 27"/>
          <p:cNvSpPr/>
          <p:nvPr/>
        </p:nvSpPr>
        <p:spPr>
          <a:xfrm>
            <a:off x="612648" y="4069080"/>
            <a:ext cx="7918704" cy="621792"/>
          </a:xfrm>
          <a:prstGeom prst="roundRect">
            <a:avLst>
              <a:gd name="adj" fmla="val 16176"/>
            </a:avLst>
          </a:prstGeom>
          <a:solidFill>
            <a:srgbClr val="E7EEFB"/>
          </a:solidFill>
          <a:ln/>
        </p:spPr>
        <p:txBody>
          <a:bodyPr/>
          <a:lstStyle/>
          <a:p>
            <a:endParaRPr lang="en-US"/>
          </a:p>
        </p:txBody>
      </p:sp>
      <p:pic>
        <p:nvPicPr>
          <p:cNvPr id="31" name="Image 1" descr="preencoded.png"/>
          <p:cNvPicPr>
            <a:picLocks noChangeAspect="1"/>
          </p:cNvPicPr>
          <p:nvPr/>
        </p:nvPicPr>
        <p:blipFill>
          <a:blip r:embed="rId4"/>
          <a:stretch>
            <a:fillRect/>
          </a:stretch>
        </p:blipFill>
        <p:spPr>
          <a:xfrm>
            <a:off x="822960" y="4288536"/>
            <a:ext cx="182880" cy="182880"/>
          </a:xfrm>
          <a:prstGeom prst="rect">
            <a:avLst/>
          </a:prstGeom>
        </p:spPr>
      </p:pic>
      <p:sp>
        <p:nvSpPr>
          <p:cNvPr id="32" name="Text 28"/>
          <p:cNvSpPr txBox="1"/>
          <p:nvPr/>
        </p:nvSpPr>
        <p:spPr>
          <a:xfrm>
            <a:off x="1143000" y="4069080"/>
            <a:ext cx="7232904" cy="621792"/>
          </a:xfrm>
          <a:prstGeom prst="rect">
            <a:avLst/>
          </a:prstGeom>
          <a:noFill/>
          <a:ln/>
        </p:spPr>
        <p:txBody>
          <a:bodyPr wrap="square" lIns="0" tIns="0" rIns="0" bIns="0" rtlCol="0" anchor="ctr"/>
          <a:lstStyle/>
          <a:p>
            <a:pPr marL="0" indent="0" algn="l">
              <a:buNone/>
            </a:pPr>
            <a:r>
              <a:rPr lang="en-US" sz="1250" b="1" dirty="0">
                <a:solidFill>
                  <a:srgbClr val="1F2761"/>
                </a:solidFill>
                <a:latin typeface="Inter" pitchFamily="34" charset="0"/>
                <a:ea typeface="Inter" pitchFamily="34" charset="-122"/>
                <a:cs typeface="Inter" pitchFamily="34" charset="-120"/>
              </a:rPr>
              <a:t>What makes it different: </a:t>
            </a:r>
            <a:r>
              <a:rPr lang="en-US" sz="1250" dirty="0">
                <a:solidFill>
                  <a:srgbClr val="4A5578"/>
                </a:solidFill>
                <a:latin typeface="Inter" pitchFamily="34" charset="0"/>
                <a:ea typeface="Inter" pitchFamily="34" charset="-122"/>
                <a:cs typeface="Inter" pitchFamily="34" charset="-120"/>
              </a:rPr>
              <a:t>the agent is read-only and every answer is cited; weak evidence escalates to a human.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5</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GOALS &amp; USERS</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What we aimed for, and for whom</a:t>
            </a:r>
            <a:endParaRPr lang="en-US" sz="3000" dirty="0"/>
          </a:p>
        </p:txBody>
      </p:sp>
      <p:sp>
        <p:nvSpPr>
          <p:cNvPr id="6" name="Text 3"/>
          <p:cNvSpPr txBox="1"/>
          <p:nvPr/>
        </p:nvSpPr>
        <p:spPr>
          <a:xfrm>
            <a:off x="612648" y="1353312"/>
            <a:ext cx="3657600" cy="201168"/>
          </a:xfrm>
          <a:prstGeom prst="rect">
            <a:avLst/>
          </a:prstGeom>
          <a:noFill/>
          <a:ln/>
        </p:spPr>
        <p:txBody>
          <a:bodyPr wrap="square" lIns="0" tIns="0" rIns="0" bIns="0" rtlCol="0" anchor="t"/>
          <a:lstStyle/>
          <a:p>
            <a:pPr marL="0" indent="0" algn="l">
              <a:buNone/>
            </a:pPr>
            <a:r>
              <a:rPr lang="en-US" sz="1050" b="1" dirty="0">
                <a:solidFill>
                  <a:srgbClr val="6B7699"/>
                </a:solidFill>
                <a:latin typeface="Inter" pitchFamily="34" charset="0"/>
                <a:ea typeface="Inter" pitchFamily="34" charset="-122"/>
                <a:cs typeface="Inter" pitchFamily="34" charset="-120"/>
              </a:rPr>
              <a:t>WHAT WE SET OUT TO ACHIEVE</a:t>
            </a:r>
            <a:endParaRPr lang="en-US" sz="1050" dirty="0"/>
          </a:p>
        </p:txBody>
      </p:sp>
      <p:sp>
        <p:nvSpPr>
          <p:cNvPr id="7" name="Text 4"/>
          <p:cNvSpPr txBox="1"/>
          <p:nvPr/>
        </p:nvSpPr>
        <p:spPr>
          <a:xfrm>
            <a:off x="4617720" y="1353312"/>
            <a:ext cx="3657600" cy="201168"/>
          </a:xfrm>
          <a:prstGeom prst="rect">
            <a:avLst/>
          </a:prstGeom>
          <a:noFill/>
          <a:ln/>
        </p:spPr>
        <p:txBody>
          <a:bodyPr wrap="square" lIns="0" tIns="0" rIns="0" bIns="0" rtlCol="0" anchor="t"/>
          <a:lstStyle/>
          <a:p>
            <a:pPr marL="0" indent="0" algn="l">
              <a:buNone/>
            </a:pPr>
            <a:r>
              <a:rPr lang="en-US" sz="1050" b="1" dirty="0">
                <a:solidFill>
                  <a:srgbClr val="6B7699"/>
                </a:solidFill>
                <a:latin typeface="Inter" pitchFamily="34" charset="0"/>
                <a:ea typeface="Inter" pitchFamily="34" charset="-122"/>
                <a:cs typeface="Inter" pitchFamily="34" charset="-120"/>
              </a:rPr>
              <a:t>WHO IT'S FOR</a:t>
            </a:r>
            <a:endParaRPr lang="en-US" sz="1050" dirty="0"/>
          </a:p>
        </p:txBody>
      </p:sp>
      <p:sp>
        <p:nvSpPr>
          <p:cNvPr id="8" name="Shape 5"/>
          <p:cNvSpPr/>
          <p:nvPr/>
        </p:nvSpPr>
        <p:spPr>
          <a:xfrm>
            <a:off x="612648" y="1645920"/>
            <a:ext cx="3840480" cy="658368"/>
          </a:xfrm>
          <a:prstGeom prst="roundRect">
            <a:avLst>
              <a:gd name="adj" fmla="val 12500"/>
            </a:avLst>
          </a:prstGeom>
          <a:solidFill>
            <a:srgbClr val="FDFEFF"/>
          </a:solidFill>
          <a:ln w="9525">
            <a:solidFill>
              <a:srgbClr val="E0E4F2"/>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95528" y="1865376"/>
            <a:ext cx="219456" cy="219456"/>
          </a:xfrm>
          <a:prstGeom prst="rect">
            <a:avLst/>
          </a:prstGeom>
        </p:spPr>
      </p:pic>
      <p:sp>
        <p:nvSpPr>
          <p:cNvPr id="10" name="Text 6"/>
          <p:cNvSpPr txBox="1"/>
          <p:nvPr/>
        </p:nvSpPr>
        <p:spPr>
          <a:xfrm>
            <a:off x="1207008" y="1645920"/>
            <a:ext cx="3154680" cy="658368"/>
          </a:xfrm>
          <a:prstGeom prst="rect">
            <a:avLst/>
          </a:prstGeom>
          <a:noFill/>
          <a:ln/>
        </p:spPr>
        <p:txBody>
          <a:bodyPr wrap="square" lIns="0" tIns="0" rIns="0" bIns="0" rtlCol="0" anchor="ctr"/>
          <a:lstStyle/>
          <a:p>
            <a:pPr marL="0" indent="0" algn="l">
              <a:buNone/>
            </a:pPr>
            <a:r>
              <a:rPr lang="en-US" sz="1300" dirty="0">
                <a:solidFill>
                  <a:srgbClr val="1F2761"/>
                </a:solidFill>
                <a:latin typeface="Inter" pitchFamily="34" charset="0"/>
                <a:ea typeface="Inter" pitchFamily="34" charset="-122"/>
                <a:cs typeface="Inter" pitchFamily="34" charset="-120"/>
              </a:rPr>
              <a:t>Suggest within seconds of ticket creation</a:t>
            </a:r>
            <a:endParaRPr lang="en-US" sz="1300" dirty="0"/>
          </a:p>
        </p:txBody>
      </p:sp>
      <p:sp>
        <p:nvSpPr>
          <p:cNvPr id="11" name="Shape 7"/>
          <p:cNvSpPr/>
          <p:nvPr/>
        </p:nvSpPr>
        <p:spPr>
          <a:xfrm>
            <a:off x="612648" y="2414016"/>
            <a:ext cx="3840480" cy="658368"/>
          </a:xfrm>
          <a:prstGeom prst="roundRect">
            <a:avLst>
              <a:gd name="adj" fmla="val 12500"/>
            </a:avLst>
          </a:prstGeom>
          <a:solidFill>
            <a:srgbClr val="FDFEFF"/>
          </a:solidFill>
          <a:ln w="9525">
            <a:solidFill>
              <a:srgbClr val="E0E4F2"/>
            </a:solidFill>
            <a:prstDash val="solid"/>
          </a:ln>
        </p:spPr>
        <p:txBody>
          <a:bodyPr/>
          <a:lstStyle/>
          <a:p>
            <a:endParaRPr lang="en-US"/>
          </a:p>
        </p:txBody>
      </p:sp>
      <p:pic>
        <p:nvPicPr>
          <p:cNvPr id="12" name="Image 2" descr="preencoded.png"/>
          <p:cNvPicPr>
            <a:picLocks noChangeAspect="1"/>
          </p:cNvPicPr>
          <p:nvPr/>
        </p:nvPicPr>
        <p:blipFill>
          <a:blip r:embed="rId4"/>
          <a:stretch>
            <a:fillRect/>
          </a:stretch>
        </p:blipFill>
        <p:spPr>
          <a:xfrm>
            <a:off x="795528" y="2633472"/>
            <a:ext cx="219456" cy="219456"/>
          </a:xfrm>
          <a:prstGeom prst="rect">
            <a:avLst/>
          </a:prstGeom>
        </p:spPr>
      </p:pic>
      <p:sp>
        <p:nvSpPr>
          <p:cNvPr id="13" name="Text 8"/>
          <p:cNvSpPr txBox="1"/>
          <p:nvPr/>
        </p:nvSpPr>
        <p:spPr>
          <a:xfrm>
            <a:off x="1207008" y="2414016"/>
            <a:ext cx="3154680" cy="658368"/>
          </a:xfrm>
          <a:prstGeom prst="rect">
            <a:avLst/>
          </a:prstGeom>
          <a:noFill/>
          <a:ln/>
        </p:spPr>
        <p:txBody>
          <a:bodyPr wrap="square" lIns="0" tIns="0" rIns="0" bIns="0" rtlCol="0" anchor="ctr"/>
          <a:lstStyle/>
          <a:p>
            <a:pPr marL="0" indent="0" algn="l">
              <a:buNone/>
            </a:pPr>
            <a:r>
              <a:rPr lang="en-US" sz="1300" dirty="0">
                <a:solidFill>
                  <a:srgbClr val="1F2761"/>
                </a:solidFill>
                <a:latin typeface="Inter" pitchFamily="34" charset="0"/>
                <a:ea typeface="Inter" pitchFamily="34" charset="-122"/>
                <a:cs typeface="Inter" pitchFamily="34" charset="-120"/>
              </a:rPr>
              <a:t>Answer only from KB articles, with sources</a:t>
            </a:r>
            <a:endParaRPr lang="en-US" sz="1300" dirty="0"/>
          </a:p>
        </p:txBody>
      </p:sp>
      <p:sp>
        <p:nvSpPr>
          <p:cNvPr id="14" name="Shape 9"/>
          <p:cNvSpPr/>
          <p:nvPr/>
        </p:nvSpPr>
        <p:spPr>
          <a:xfrm>
            <a:off x="612648" y="3182112"/>
            <a:ext cx="3840480" cy="658368"/>
          </a:xfrm>
          <a:prstGeom prst="roundRect">
            <a:avLst>
              <a:gd name="adj" fmla="val 12500"/>
            </a:avLst>
          </a:prstGeom>
          <a:solidFill>
            <a:srgbClr val="FDFEFF"/>
          </a:solidFill>
          <a:ln w="9525">
            <a:solidFill>
              <a:srgbClr val="E0E4F2"/>
            </a:solidFill>
            <a:prstDash val="solid"/>
          </a:ln>
        </p:spPr>
        <p:txBody>
          <a:bodyPr/>
          <a:lstStyle/>
          <a:p>
            <a:endParaRPr lang="en-US"/>
          </a:p>
        </p:txBody>
      </p:sp>
      <p:pic>
        <p:nvPicPr>
          <p:cNvPr id="15" name="Image 3" descr="preencoded.png"/>
          <p:cNvPicPr>
            <a:picLocks noChangeAspect="1"/>
          </p:cNvPicPr>
          <p:nvPr/>
        </p:nvPicPr>
        <p:blipFill>
          <a:blip r:embed="rId4"/>
          <a:stretch>
            <a:fillRect/>
          </a:stretch>
        </p:blipFill>
        <p:spPr>
          <a:xfrm>
            <a:off x="795528" y="3401568"/>
            <a:ext cx="219456" cy="219456"/>
          </a:xfrm>
          <a:prstGeom prst="rect">
            <a:avLst/>
          </a:prstGeom>
        </p:spPr>
      </p:pic>
      <p:sp>
        <p:nvSpPr>
          <p:cNvPr id="16" name="Text 10"/>
          <p:cNvSpPr txBox="1"/>
          <p:nvPr/>
        </p:nvSpPr>
        <p:spPr>
          <a:xfrm>
            <a:off x="1207008" y="3182112"/>
            <a:ext cx="3154680" cy="658368"/>
          </a:xfrm>
          <a:prstGeom prst="rect">
            <a:avLst/>
          </a:prstGeom>
          <a:noFill/>
          <a:ln/>
        </p:spPr>
        <p:txBody>
          <a:bodyPr wrap="square" lIns="0" tIns="0" rIns="0" bIns="0" rtlCol="0" anchor="ctr"/>
          <a:lstStyle/>
          <a:p>
            <a:pPr marL="0" indent="0" algn="l">
              <a:buNone/>
            </a:pPr>
            <a:r>
              <a:rPr lang="en-US" sz="1300" dirty="0">
                <a:solidFill>
                  <a:srgbClr val="1F2761"/>
                </a:solidFill>
                <a:latin typeface="Inter" pitchFamily="34" charset="0"/>
                <a:ea typeface="Inter" pitchFamily="34" charset="-122"/>
                <a:cs typeface="Inter" pitchFamily="34" charset="-120"/>
              </a:rPr>
              <a:t>Keep a human in charge of every decision</a:t>
            </a:r>
            <a:endParaRPr lang="en-US" sz="1300" dirty="0"/>
          </a:p>
        </p:txBody>
      </p:sp>
      <p:sp>
        <p:nvSpPr>
          <p:cNvPr id="17" name="Shape 11"/>
          <p:cNvSpPr/>
          <p:nvPr/>
        </p:nvSpPr>
        <p:spPr>
          <a:xfrm>
            <a:off x="612648" y="3950208"/>
            <a:ext cx="3840480" cy="658368"/>
          </a:xfrm>
          <a:prstGeom prst="roundRect">
            <a:avLst>
              <a:gd name="adj" fmla="val 12500"/>
            </a:avLst>
          </a:prstGeom>
          <a:solidFill>
            <a:srgbClr val="FDFEFF"/>
          </a:solidFill>
          <a:ln w="9525">
            <a:solidFill>
              <a:srgbClr val="E0E4F2"/>
            </a:solidFill>
            <a:prstDash val="solid"/>
          </a:ln>
        </p:spPr>
        <p:txBody>
          <a:bodyPr/>
          <a:lstStyle/>
          <a:p>
            <a:endParaRPr lang="en-US"/>
          </a:p>
        </p:txBody>
      </p:sp>
      <p:pic>
        <p:nvPicPr>
          <p:cNvPr id="18" name="Image 4" descr="preencoded.png"/>
          <p:cNvPicPr>
            <a:picLocks noChangeAspect="1"/>
          </p:cNvPicPr>
          <p:nvPr/>
        </p:nvPicPr>
        <p:blipFill>
          <a:blip r:embed="rId4"/>
          <a:stretch>
            <a:fillRect/>
          </a:stretch>
        </p:blipFill>
        <p:spPr>
          <a:xfrm>
            <a:off x="795528" y="4169664"/>
            <a:ext cx="219456" cy="219456"/>
          </a:xfrm>
          <a:prstGeom prst="rect">
            <a:avLst/>
          </a:prstGeom>
        </p:spPr>
      </p:pic>
      <p:sp>
        <p:nvSpPr>
          <p:cNvPr id="19" name="Text 12"/>
          <p:cNvSpPr txBox="1"/>
          <p:nvPr/>
        </p:nvSpPr>
        <p:spPr>
          <a:xfrm>
            <a:off x="1207008" y="3950208"/>
            <a:ext cx="3154680" cy="658368"/>
          </a:xfrm>
          <a:prstGeom prst="rect">
            <a:avLst/>
          </a:prstGeom>
          <a:noFill/>
          <a:ln/>
        </p:spPr>
        <p:txBody>
          <a:bodyPr wrap="square" lIns="0" tIns="0" rIns="0" bIns="0" rtlCol="0" anchor="ctr"/>
          <a:lstStyle/>
          <a:p>
            <a:pPr marL="0" indent="0" algn="l">
              <a:buNone/>
            </a:pPr>
            <a:r>
              <a:rPr lang="en-US" sz="1300" dirty="0">
                <a:solidFill>
                  <a:srgbClr val="1F2761"/>
                </a:solidFill>
                <a:latin typeface="Inter" pitchFamily="34" charset="0"/>
                <a:ea typeface="Inter" pitchFamily="34" charset="-122"/>
                <a:cs typeface="Inter" pitchFamily="34" charset="-120"/>
              </a:rPr>
              <a:t>Process every event once, and securely</a:t>
            </a:r>
            <a:endParaRPr lang="en-US" sz="1300" dirty="0"/>
          </a:p>
        </p:txBody>
      </p:sp>
      <p:sp>
        <p:nvSpPr>
          <p:cNvPr id="20" name="Shape 13"/>
          <p:cNvSpPr/>
          <p:nvPr/>
        </p:nvSpPr>
        <p:spPr>
          <a:xfrm>
            <a:off x="4617720" y="1645920"/>
            <a:ext cx="3913632" cy="914400"/>
          </a:xfrm>
          <a:prstGeom prst="roundRect">
            <a:avLst>
              <a:gd name="adj" fmla="val 11000"/>
            </a:avLst>
          </a:prstGeom>
          <a:solidFill>
            <a:srgbClr val="E7EEFB"/>
          </a:solidFill>
          <a:ln/>
        </p:spPr>
        <p:txBody>
          <a:bodyPr/>
          <a:lstStyle/>
          <a:p>
            <a:endParaRPr lang="en-US"/>
          </a:p>
        </p:txBody>
      </p:sp>
      <p:sp>
        <p:nvSpPr>
          <p:cNvPr id="21" name="Shape 14"/>
          <p:cNvSpPr/>
          <p:nvPr/>
        </p:nvSpPr>
        <p:spPr>
          <a:xfrm>
            <a:off x="4800600" y="1828800"/>
            <a:ext cx="548640" cy="548640"/>
          </a:xfrm>
          <a:prstGeom prst="ellipse">
            <a:avLst/>
          </a:prstGeom>
          <a:solidFill>
            <a:srgbClr val="FFFFFF"/>
          </a:solidFill>
          <a:ln/>
        </p:spPr>
        <p:txBody>
          <a:bodyPr/>
          <a:lstStyle/>
          <a:p>
            <a:endParaRPr lang="en-US"/>
          </a:p>
        </p:txBody>
      </p:sp>
      <p:pic>
        <p:nvPicPr>
          <p:cNvPr id="22" name="Image 5" descr="preencoded.png"/>
          <p:cNvPicPr>
            <a:picLocks noChangeAspect="1"/>
          </p:cNvPicPr>
          <p:nvPr/>
        </p:nvPicPr>
        <p:blipFill>
          <a:blip r:embed="rId5"/>
          <a:stretch>
            <a:fillRect/>
          </a:stretch>
        </p:blipFill>
        <p:spPr>
          <a:xfrm>
            <a:off x="4965192" y="1993392"/>
            <a:ext cx="219456" cy="219456"/>
          </a:xfrm>
          <a:prstGeom prst="rect">
            <a:avLst/>
          </a:prstGeom>
        </p:spPr>
      </p:pic>
      <p:sp>
        <p:nvSpPr>
          <p:cNvPr id="23" name="Text 15"/>
          <p:cNvSpPr txBox="1"/>
          <p:nvPr/>
        </p:nvSpPr>
        <p:spPr>
          <a:xfrm>
            <a:off x="5532120" y="1773936"/>
            <a:ext cx="2926080"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IT end users</a:t>
            </a:r>
            <a:endParaRPr lang="en-US" sz="1400" dirty="0"/>
          </a:p>
        </p:txBody>
      </p:sp>
      <p:sp>
        <p:nvSpPr>
          <p:cNvPr id="24" name="Text 16"/>
          <p:cNvSpPr txBox="1"/>
          <p:nvPr/>
        </p:nvSpPr>
        <p:spPr>
          <a:xfrm>
            <a:off x="5532120" y="2084832"/>
            <a:ext cx="2926080" cy="411480"/>
          </a:xfrm>
          <a:prstGeom prst="rect">
            <a:avLst/>
          </a:prstGeom>
          <a:noFill/>
          <a:ln/>
        </p:spPr>
        <p:txBody>
          <a:bodyPr wrap="square" lIns="0" tIns="0" rIns="0" bIns="0" rtlCol="0" anchor="t"/>
          <a:lstStyle/>
          <a:p>
            <a:pPr marL="0" indent="0" algn="l">
              <a:buNone/>
            </a:pPr>
            <a:r>
              <a:rPr lang="en-US" sz="1200" dirty="0">
                <a:solidFill>
                  <a:srgbClr val="6B7699"/>
                </a:solidFill>
                <a:latin typeface="Inter" pitchFamily="34" charset="0"/>
                <a:ea typeface="Inter" pitchFamily="34" charset="-122"/>
                <a:cs typeface="Inter" pitchFamily="34" charset="-120"/>
              </a:rPr>
              <a:t>A fast, consistent first response</a:t>
            </a:r>
            <a:endParaRPr lang="en-US" sz="1200" dirty="0"/>
          </a:p>
        </p:txBody>
      </p:sp>
      <p:sp>
        <p:nvSpPr>
          <p:cNvPr id="25" name="Shape 17"/>
          <p:cNvSpPr/>
          <p:nvPr/>
        </p:nvSpPr>
        <p:spPr>
          <a:xfrm>
            <a:off x="4617720" y="2670048"/>
            <a:ext cx="3913632" cy="914400"/>
          </a:xfrm>
          <a:prstGeom prst="roundRect">
            <a:avLst>
              <a:gd name="adj" fmla="val 11000"/>
            </a:avLst>
          </a:prstGeom>
          <a:solidFill>
            <a:srgbClr val="E7EEFB"/>
          </a:solidFill>
          <a:ln/>
        </p:spPr>
        <p:txBody>
          <a:bodyPr/>
          <a:lstStyle/>
          <a:p>
            <a:endParaRPr lang="en-US"/>
          </a:p>
        </p:txBody>
      </p:sp>
      <p:sp>
        <p:nvSpPr>
          <p:cNvPr id="26" name="Shape 18"/>
          <p:cNvSpPr/>
          <p:nvPr/>
        </p:nvSpPr>
        <p:spPr>
          <a:xfrm>
            <a:off x="4800600" y="2852928"/>
            <a:ext cx="548640" cy="548640"/>
          </a:xfrm>
          <a:prstGeom prst="ellipse">
            <a:avLst/>
          </a:prstGeom>
          <a:solidFill>
            <a:srgbClr val="FFFFFF"/>
          </a:solidFill>
          <a:ln/>
        </p:spPr>
        <p:txBody>
          <a:bodyPr/>
          <a:lstStyle/>
          <a:p>
            <a:endParaRPr lang="en-US"/>
          </a:p>
        </p:txBody>
      </p:sp>
      <p:pic>
        <p:nvPicPr>
          <p:cNvPr id="27" name="Image 6" descr="preencoded.png"/>
          <p:cNvPicPr>
            <a:picLocks noChangeAspect="1"/>
          </p:cNvPicPr>
          <p:nvPr/>
        </p:nvPicPr>
        <p:blipFill>
          <a:blip r:embed="rId5"/>
          <a:stretch>
            <a:fillRect/>
          </a:stretch>
        </p:blipFill>
        <p:spPr>
          <a:xfrm>
            <a:off x="4965192" y="3017520"/>
            <a:ext cx="219456" cy="219456"/>
          </a:xfrm>
          <a:prstGeom prst="rect">
            <a:avLst/>
          </a:prstGeom>
        </p:spPr>
      </p:pic>
      <p:sp>
        <p:nvSpPr>
          <p:cNvPr id="28" name="Text 19"/>
          <p:cNvSpPr txBox="1"/>
          <p:nvPr/>
        </p:nvSpPr>
        <p:spPr>
          <a:xfrm>
            <a:off x="5532120" y="2798064"/>
            <a:ext cx="2926080"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Service-desk fulfillers</a:t>
            </a:r>
            <a:endParaRPr lang="en-US" sz="1400" dirty="0"/>
          </a:p>
        </p:txBody>
      </p:sp>
      <p:sp>
        <p:nvSpPr>
          <p:cNvPr id="29" name="Text 20"/>
          <p:cNvSpPr txBox="1"/>
          <p:nvPr/>
        </p:nvSpPr>
        <p:spPr>
          <a:xfrm>
            <a:off x="5532120" y="3108960"/>
            <a:ext cx="2926080" cy="411480"/>
          </a:xfrm>
          <a:prstGeom prst="rect">
            <a:avLst/>
          </a:prstGeom>
          <a:noFill/>
          <a:ln/>
        </p:spPr>
        <p:txBody>
          <a:bodyPr wrap="square" lIns="0" tIns="0" rIns="0" bIns="0" rtlCol="0" anchor="t"/>
          <a:lstStyle/>
          <a:p>
            <a:pPr marL="0" indent="0" algn="l">
              <a:buNone/>
            </a:pPr>
            <a:r>
              <a:rPr lang="en-US" sz="1200" dirty="0">
                <a:solidFill>
                  <a:srgbClr val="6B7699"/>
                </a:solidFill>
                <a:latin typeface="Inter" pitchFamily="34" charset="0"/>
                <a:ea typeface="Inter" pitchFamily="34" charset="-122"/>
                <a:cs typeface="Inter" pitchFamily="34" charset="-120"/>
              </a:rPr>
              <a:t>A cited draft to review, not a blank form</a:t>
            </a:r>
            <a:endParaRPr lang="en-US" sz="1200" dirty="0"/>
          </a:p>
        </p:txBody>
      </p:sp>
      <p:sp>
        <p:nvSpPr>
          <p:cNvPr id="30" name="Shape 21"/>
          <p:cNvSpPr/>
          <p:nvPr/>
        </p:nvSpPr>
        <p:spPr>
          <a:xfrm>
            <a:off x="4617720" y="3694176"/>
            <a:ext cx="3913632" cy="914400"/>
          </a:xfrm>
          <a:prstGeom prst="roundRect">
            <a:avLst>
              <a:gd name="adj" fmla="val 11000"/>
            </a:avLst>
          </a:prstGeom>
          <a:solidFill>
            <a:srgbClr val="E7EEFB"/>
          </a:solidFill>
          <a:ln/>
        </p:spPr>
        <p:txBody>
          <a:bodyPr/>
          <a:lstStyle/>
          <a:p>
            <a:endParaRPr lang="en-US"/>
          </a:p>
        </p:txBody>
      </p:sp>
      <p:sp>
        <p:nvSpPr>
          <p:cNvPr id="31" name="Shape 22"/>
          <p:cNvSpPr/>
          <p:nvPr/>
        </p:nvSpPr>
        <p:spPr>
          <a:xfrm>
            <a:off x="4800600" y="3877056"/>
            <a:ext cx="548640" cy="548640"/>
          </a:xfrm>
          <a:prstGeom prst="ellipse">
            <a:avLst/>
          </a:prstGeom>
          <a:solidFill>
            <a:srgbClr val="FFFFFF"/>
          </a:solidFill>
          <a:ln/>
        </p:spPr>
        <p:txBody>
          <a:bodyPr/>
          <a:lstStyle/>
          <a:p>
            <a:endParaRPr lang="en-US"/>
          </a:p>
        </p:txBody>
      </p:sp>
      <p:pic>
        <p:nvPicPr>
          <p:cNvPr id="32" name="Image 7" descr="preencoded.png"/>
          <p:cNvPicPr>
            <a:picLocks noChangeAspect="1"/>
          </p:cNvPicPr>
          <p:nvPr/>
        </p:nvPicPr>
        <p:blipFill>
          <a:blip r:embed="rId5"/>
          <a:stretch>
            <a:fillRect/>
          </a:stretch>
        </p:blipFill>
        <p:spPr>
          <a:xfrm>
            <a:off x="4965192" y="4041648"/>
            <a:ext cx="219456" cy="219456"/>
          </a:xfrm>
          <a:prstGeom prst="rect">
            <a:avLst/>
          </a:prstGeom>
        </p:spPr>
      </p:pic>
      <p:sp>
        <p:nvSpPr>
          <p:cNvPr id="33" name="Text 23"/>
          <p:cNvSpPr txBox="1"/>
          <p:nvPr/>
        </p:nvSpPr>
        <p:spPr>
          <a:xfrm>
            <a:off x="5532120" y="3822192"/>
            <a:ext cx="2926080"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Support engineers</a:t>
            </a:r>
            <a:endParaRPr lang="en-US" sz="1400" dirty="0"/>
          </a:p>
        </p:txBody>
      </p:sp>
      <p:sp>
        <p:nvSpPr>
          <p:cNvPr id="34" name="Text 24"/>
          <p:cNvSpPr txBox="1"/>
          <p:nvPr/>
        </p:nvSpPr>
        <p:spPr>
          <a:xfrm>
            <a:off x="5532120" y="4133088"/>
            <a:ext cx="2926080" cy="411480"/>
          </a:xfrm>
          <a:prstGeom prst="rect">
            <a:avLst/>
          </a:prstGeom>
          <a:noFill/>
          <a:ln/>
        </p:spPr>
        <p:txBody>
          <a:bodyPr wrap="square" lIns="0" tIns="0" rIns="0" bIns="0" rtlCol="0" anchor="t"/>
          <a:lstStyle/>
          <a:p>
            <a:pPr marL="0" indent="0" algn="l">
              <a:buNone/>
            </a:pPr>
            <a:r>
              <a:rPr lang="en-US" sz="1200" dirty="0">
                <a:solidFill>
                  <a:srgbClr val="6B7699"/>
                </a:solidFill>
                <a:latin typeface="Inter" pitchFamily="34" charset="0"/>
                <a:ea typeface="Inter" pitchFamily="34" charset="-122"/>
                <a:cs typeface="Inter" pitchFamily="34" charset="-120"/>
              </a:rPr>
              <a:t>Signed events, logs and a safe fallback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6</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HOW IT WORKS</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How it works, end to end</a:t>
            </a:r>
            <a:endParaRPr lang="en-US" sz="3000" dirty="0"/>
          </a:p>
        </p:txBody>
      </p:sp>
      <p:sp>
        <p:nvSpPr>
          <p:cNvPr id="6" name="Shape 3"/>
          <p:cNvSpPr/>
          <p:nvPr/>
        </p:nvSpPr>
        <p:spPr>
          <a:xfrm>
            <a:off x="612648" y="1371600"/>
            <a:ext cx="1755648" cy="2103120"/>
          </a:xfrm>
          <a:prstGeom prst="roundRect">
            <a:avLst>
              <a:gd name="adj" fmla="val 5729"/>
            </a:avLst>
          </a:prstGeom>
          <a:solidFill>
            <a:srgbClr val="E7EEFB"/>
          </a:solidFill>
          <a:ln/>
        </p:spPr>
        <p:txBody>
          <a:bodyPr/>
          <a:lstStyle/>
          <a:p>
            <a:endParaRPr lang="en-US"/>
          </a:p>
        </p:txBody>
      </p:sp>
      <p:sp>
        <p:nvSpPr>
          <p:cNvPr id="7" name="Text 4"/>
          <p:cNvSpPr txBox="1"/>
          <p:nvPr/>
        </p:nvSpPr>
        <p:spPr>
          <a:xfrm>
            <a:off x="777240" y="1508760"/>
            <a:ext cx="1481328" cy="228600"/>
          </a:xfrm>
          <a:prstGeom prst="rect">
            <a:avLst/>
          </a:prstGeom>
          <a:noFill/>
          <a:ln/>
        </p:spPr>
        <p:txBody>
          <a:bodyPr wrap="square" lIns="0" tIns="0" rIns="0" bIns="0" rtlCol="0" anchor="t"/>
          <a:lstStyle/>
          <a:p>
            <a:pPr marL="0" indent="0" algn="l">
              <a:buNone/>
            </a:pPr>
            <a:r>
              <a:rPr lang="en-US" sz="1050" b="1" dirty="0">
                <a:solidFill>
                  <a:srgbClr val="0050FF"/>
                </a:solidFill>
                <a:latin typeface="Inter" pitchFamily="34" charset="0"/>
                <a:ea typeface="Inter" pitchFamily="34" charset="-122"/>
                <a:cs typeface="Inter" pitchFamily="34" charset="-120"/>
              </a:rPr>
              <a:t>INPUT</a:t>
            </a:r>
            <a:endParaRPr lang="en-US" sz="1050" dirty="0"/>
          </a:p>
        </p:txBody>
      </p:sp>
      <p:sp>
        <p:nvSpPr>
          <p:cNvPr id="8" name="Text 5"/>
          <p:cNvSpPr txBox="1"/>
          <p:nvPr/>
        </p:nvSpPr>
        <p:spPr>
          <a:xfrm>
            <a:off x="777240" y="1810512"/>
            <a:ext cx="1481328" cy="502920"/>
          </a:xfrm>
          <a:prstGeom prst="rect">
            <a:avLst/>
          </a:prstGeom>
          <a:noFill/>
          <a:ln/>
        </p:spPr>
        <p:txBody>
          <a:bodyPr wrap="square" lIns="0" tIns="0" rIns="0" bIns="0" rtlCol="0" anchor="t"/>
          <a:lstStyle/>
          <a:p>
            <a:pPr marL="0" indent="0" algn="l">
              <a:buNone/>
            </a:pPr>
            <a:r>
              <a:rPr lang="en-US" sz="1400" b="1" dirty="0">
                <a:solidFill>
                  <a:srgbClr val="1F2761"/>
                </a:solidFill>
                <a:latin typeface="Inter" pitchFamily="34" charset="0"/>
                <a:ea typeface="Inter" pitchFamily="34" charset="-122"/>
                <a:cs typeface="Inter" pitchFamily="34" charset="-120"/>
              </a:rPr>
              <a:t>New incident</a:t>
            </a:r>
            <a:endParaRPr lang="en-US" sz="1400" dirty="0"/>
          </a:p>
        </p:txBody>
      </p:sp>
      <p:sp>
        <p:nvSpPr>
          <p:cNvPr id="9" name="Text 6"/>
          <p:cNvSpPr txBox="1"/>
          <p:nvPr/>
        </p:nvSpPr>
        <p:spPr>
          <a:xfrm>
            <a:off x="777240" y="2331720"/>
            <a:ext cx="1481328" cy="1097280"/>
          </a:xfrm>
          <a:prstGeom prst="rect">
            <a:avLst/>
          </a:prstGeom>
          <a:noFill/>
          <a:ln/>
        </p:spPr>
        <p:txBody>
          <a:bodyPr wrap="square" lIns="0" tIns="0" rIns="0" bIns="0" rtlCol="0" anchor="t"/>
          <a:lstStyle/>
          <a:p>
            <a:pPr marL="0" indent="0" algn="l">
              <a:lnSpc>
                <a:spcPct val="110000"/>
              </a:lnSpc>
              <a:buNone/>
            </a:pPr>
            <a:r>
              <a:rPr lang="en-US" sz="1150" dirty="0">
                <a:solidFill>
                  <a:srgbClr val="6B7699"/>
                </a:solidFill>
                <a:latin typeface="Inter" pitchFamily="34" charset="0"/>
                <a:ea typeface="Inter" pitchFamily="34" charset="-122"/>
                <a:cs typeface="Inter" pitchFamily="34" charset="-120"/>
              </a:rPr>
              <a:t>ServiceNow fires a signed webhook.</a:t>
            </a:r>
            <a:endParaRPr lang="en-US" sz="1150" dirty="0"/>
          </a:p>
        </p:txBody>
      </p:sp>
      <p:sp>
        <p:nvSpPr>
          <p:cNvPr id="10" name="Shape 7"/>
          <p:cNvSpPr/>
          <p:nvPr/>
        </p:nvSpPr>
        <p:spPr>
          <a:xfrm>
            <a:off x="1431036" y="3520440"/>
            <a:ext cx="118872" cy="219456"/>
          </a:xfrm>
          <a:prstGeom prst="downArrow">
            <a:avLst/>
          </a:prstGeom>
          <a:solidFill>
            <a:srgbClr val="9FB3EC"/>
          </a:solidFill>
          <a:ln/>
        </p:spPr>
        <p:txBody>
          <a:bodyPr/>
          <a:lstStyle/>
          <a:p>
            <a:endParaRPr lang="en-US"/>
          </a:p>
        </p:txBody>
      </p:sp>
      <p:sp>
        <p:nvSpPr>
          <p:cNvPr id="11" name="Shape 8"/>
          <p:cNvSpPr/>
          <p:nvPr/>
        </p:nvSpPr>
        <p:spPr>
          <a:xfrm>
            <a:off x="2417064" y="2011680"/>
            <a:ext cx="201168" cy="118872"/>
          </a:xfrm>
          <a:prstGeom prst="rightArrow">
            <a:avLst/>
          </a:prstGeom>
          <a:solidFill>
            <a:srgbClr val="9FB3EC"/>
          </a:solidFill>
          <a:ln/>
        </p:spPr>
        <p:txBody>
          <a:bodyPr/>
          <a:lstStyle/>
          <a:p>
            <a:endParaRPr lang="en-US"/>
          </a:p>
        </p:txBody>
      </p:sp>
      <p:sp>
        <p:nvSpPr>
          <p:cNvPr id="12" name="Shape 9"/>
          <p:cNvSpPr/>
          <p:nvPr/>
        </p:nvSpPr>
        <p:spPr>
          <a:xfrm>
            <a:off x="2667000" y="1371600"/>
            <a:ext cx="1755648" cy="2103120"/>
          </a:xfrm>
          <a:prstGeom prst="roundRect">
            <a:avLst>
              <a:gd name="adj" fmla="val 5729"/>
            </a:avLst>
          </a:prstGeom>
          <a:solidFill>
            <a:srgbClr val="FDFEFF"/>
          </a:solidFill>
          <a:ln w="19050">
            <a:solidFill>
              <a:srgbClr val="0050FF"/>
            </a:solidFill>
            <a:prstDash val="solid"/>
          </a:ln>
        </p:spPr>
        <p:txBody>
          <a:bodyPr/>
          <a:lstStyle/>
          <a:p>
            <a:endParaRPr lang="en-US"/>
          </a:p>
        </p:txBody>
      </p:sp>
      <p:sp>
        <p:nvSpPr>
          <p:cNvPr id="13" name="Text 10"/>
          <p:cNvSpPr txBox="1"/>
          <p:nvPr/>
        </p:nvSpPr>
        <p:spPr>
          <a:xfrm>
            <a:off x="2831592" y="1508760"/>
            <a:ext cx="1481328" cy="228600"/>
          </a:xfrm>
          <a:prstGeom prst="rect">
            <a:avLst/>
          </a:prstGeom>
          <a:noFill/>
          <a:ln/>
        </p:spPr>
        <p:txBody>
          <a:bodyPr wrap="square" lIns="0" tIns="0" rIns="0" bIns="0" rtlCol="0" anchor="t"/>
          <a:lstStyle/>
          <a:p>
            <a:pPr marL="0" indent="0" algn="l">
              <a:buNone/>
            </a:pPr>
            <a:r>
              <a:rPr lang="en-US" sz="1050" b="1" dirty="0">
                <a:solidFill>
                  <a:srgbClr val="0050FF"/>
                </a:solidFill>
                <a:latin typeface="Inter" pitchFamily="34" charset="0"/>
                <a:ea typeface="Inter" pitchFamily="34" charset="-122"/>
                <a:cs typeface="Inter" pitchFamily="34" charset="-120"/>
              </a:rPr>
              <a:t>STEP 1</a:t>
            </a:r>
            <a:endParaRPr lang="en-US" sz="1050" dirty="0"/>
          </a:p>
        </p:txBody>
      </p:sp>
      <p:sp>
        <p:nvSpPr>
          <p:cNvPr id="14" name="Text 11"/>
          <p:cNvSpPr txBox="1"/>
          <p:nvPr/>
        </p:nvSpPr>
        <p:spPr>
          <a:xfrm>
            <a:off x="2831592" y="1810512"/>
            <a:ext cx="1481328" cy="502920"/>
          </a:xfrm>
          <a:prstGeom prst="rect">
            <a:avLst/>
          </a:prstGeom>
          <a:noFill/>
          <a:ln/>
        </p:spPr>
        <p:txBody>
          <a:bodyPr wrap="square" lIns="0" tIns="0" rIns="0" bIns="0" rtlCol="0" anchor="t"/>
          <a:lstStyle/>
          <a:p>
            <a:pPr marL="0" indent="0" algn="l">
              <a:buNone/>
            </a:pPr>
            <a:r>
              <a:rPr lang="en-US" sz="1400" b="1" dirty="0">
                <a:solidFill>
                  <a:srgbClr val="1F2761"/>
                </a:solidFill>
                <a:latin typeface="Inter" pitchFamily="34" charset="0"/>
                <a:ea typeface="Inter" pitchFamily="34" charset="-122"/>
                <a:cs typeface="Inter" pitchFamily="34" charset="-120"/>
              </a:rPr>
              <a:t>Gateway</a:t>
            </a:r>
            <a:endParaRPr lang="en-US" sz="1400" dirty="0"/>
          </a:p>
        </p:txBody>
      </p:sp>
      <p:sp>
        <p:nvSpPr>
          <p:cNvPr id="15" name="Text 12"/>
          <p:cNvSpPr txBox="1"/>
          <p:nvPr/>
        </p:nvSpPr>
        <p:spPr>
          <a:xfrm>
            <a:off x="2831592" y="2331720"/>
            <a:ext cx="1481328" cy="1097280"/>
          </a:xfrm>
          <a:prstGeom prst="rect">
            <a:avLst/>
          </a:prstGeom>
          <a:noFill/>
          <a:ln/>
        </p:spPr>
        <p:txBody>
          <a:bodyPr wrap="square" lIns="0" tIns="0" rIns="0" bIns="0" rtlCol="0" anchor="t"/>
          <a:lstStyle/>
          <a:p>
            <a:pPr marL="0" indent="0" algn="l">
              <a:lnSpc>
                <a:spcPct val="110000"/>
              </a:lnSpc>
              <a:buNone/>
            </a:pPr>
            <a:r>
              <a:rPr lang="en-US" sz="1150" dirty="0">
                <a:solidFill>
                  <a:srgbClr val="6B7699"/>
                </a:solidFill>
                <a:latin typeface="Inter" pitchFamily="34" charset="0"/>
                <a:ea typeface="Inter" pitchFamily="34" charset="-122"/>
                <a:cs typeface="Inter" pitchFamily="34" charset="-120"/>
              </a:rPr>
              <a:t>FastAPI verifies the signature, Redis dedupes, Celery queues.</a:t>
            </a:r>
            <a:endParaRPr lang="en-US" sz="1150" dirty="0"/>
          </a:p>
        </p:txBody>
      </p:sp>
      <p:sp>
        <p:nvSpPr>
          <p:cNvPr id="16" name="Shape 13"/>
          <p:cNvSpPr/>
          <p:nvPr/>
        </p:nvSpPr>
        <p:spPr>
          <a:xfrm>
            <a:off x="3485388" y="3520440"/>
            <a:ext cx="118872" cy="219456"/>
          </a:xfrm>
          <a:prstGeom prst="downArrow">
            <a:avLst/>
          </a:prstGeom>
          <a:solidFill>
            <a:srgbClr val="9FB3EC"/>
          </a:solidFill>
          <a:ln/>
        </p:spPr>
        <p:txBody>
          <a:bodyPr/>
          <a:lstStyle/>
          <a:p>
            <a:endParaRPr lang="en-US"/>
          </a:p>
        </p:txBody>
      </p:sp>
      <p:sp>
        <p:nvSpPr>
          <p:cNvPr id="17" name="Shape 14"/>
          <p:cNvSpPr/>
          <p:nvPr/>
        </p:nvSpPr>
        <p:spPr>
          <a:xfrm>
            <a:off x="4471416" y="2011680"/>
            <a:ext cx="201168" cy="118872"/>
          </a:xfrm>
          <a:prstGeom prst="rightArrow">
            <a:avLst/>
          </a:prstGeom>
          <a:solidFill>
            <a:srgbClr val="9FB3EC"/>
          </a:solidFill>
          <a:ln/>
        </p:spPr>
        <p:txBody>
          <a:bodyPr/>
          <a:lstStyle/>
          <a:p>
            <a:endParaRPr lang="en-US"/>
          </a:p>
        </p:txBody>
      </p:sp>
      <p:sp>
        <p:nvSpPr>
          <p:cNvPr id="18" name="Shape 15"/>
          <p:cNvSpPr/>
          <p:nvPr/>
        </p:nvSpPr>
        <p:spPr>
          <a:xfrm>
            <a:off x="4721352" y="1371600"/>
            <a:ext cx="1755648" cy="2103120"/>
          </a:xfrm>
          <a:prstGeom prst="roundRect">
            <a:avLst>
              <a:gd name="adj" fmla="val 5729"/>
            </a:avLst>
          </a:prstGeom>
          <a:solidFill>
            <a:srgbClr val="FDFEFF"/>
          </a:solidFill>
          <a:ln w="19050">
            <a:solidFill>
              <a:srgbClr val="0050FF"/>
            </a:solidFill>
            <a:prstDash val="solid"/>
          </a:ln>
        </p:spPr>
        <p:txBody>
          <a:bodyPr/>
          <a:lstStyle/>
          <a:p>
            <a:endParaRPr lang="en-US"/>
          </a:p>
        </p:txBody>
      </p:sp>
      <p:sp>
        <p:nvSpPr>
          <p:cNvPr id="19" name="Text 16"/>
          <p:cNvSpPr txBox="1"/>
          <p:nvPr/>
        </p:nvSpPr>
        <p:spPr>
          <a:xfrm>
            <a:off x="4885944" y="1508760"/>
            <a:ext cx="1481328" cy="228600"/>
          </a:xfrm>
          <a:prstGeom prst="rect">
            <a:avLst/>
          </a:prstGeom>
          <a:noFill/>
          <a:ln/>
        </p:spPr>
        <p:txBody>
          <a:bodyPr wrap="square" lIns="0" tIns="0" rIns="0" bIns="0" rtlCol="0" anchor="t"/>
          <a:lstStyle/>
          <a:p>
            <a:pPr marL="0" indent="0" algn="l">
              <a:buNone/>
            </a:pPr>
            <a:r>
              <a:rPr lang="en-US" sz="1050" b="1" dirty="0">
                <a:solidFill>
                  <a:srgbClr val="0050FF"/>
                </a:solidFill>
                <a:latin typeface="Inter" pitchFamily="34" charset="0"/>
                <a:ea typeface="Inter" pitchFamily="34" charset="-122"/>
                <a:cs typeface="Inter" pitchFamily="34" charset="-120"/>
              </a:rPr>
              <a:t>STEP 2</a:t>
            </a:r>
            <a:endParaRPr lang="en-US" sz="1050" dirty="0"/>
          </a:p>
        </p:txBody>
      </p:sp>
      <p:sp>
        <p:nvSpPr>
          <p:cNvPr id="20" name="Text 17"/>
          <p:cNvSpPr txBox="1"/>
          <p:nvPr/>
        </p:nvSpPr>
        <p:spPr>
          <a:xfrm>
            <a:off x="4885944" y="1810512"/>
            <a:ext cx="1481328" cy="502920"/>
          </a:xfrm>
          <a:prstGeom prst="rect">
            <a:avLst/>
          </a:prstGeom>
          <a:noFill/>
          <a:ln/>
        </p:spPr>
        <p:txBody>
          <a:bodyPr wrap="square" lIns="0" tIns="0" rIns="0" bIns="0" rtlCol="0" anchor="t"/>
          <a:lstStyle/>
          <a:p>
            <a:pPr marL="0" indent="0" algn="l">
              <a:buNone/>
            </a:pPr>
            <a:r>
              <a:rPr lang="en-US" sz="1400" b="1" dirty="0">
                <a:solidFill>
                  <a:srgbClr val="1F2761"/>
                </a:solidFill>
                <a:latin typeface="Inter" pitchFamily="34" charset="0"/>
                <a:ea typeface="Inter" pitchFamily="34" charset="-122"/>
                <a:cs typeface="Inter" pitchFamily="34" charset="-120"/>
              </a:rPr>
              <a:t>Agent</a:t>
            </a:r>
            <a:endParaRPr lang="en-US" sz="1400" dirty="0"/>
          </a:p>
        </p:txBody>
      </p:sp>
      <p:sp>
        <p:nvSpPr>
          <p:cNvPr id="21" name="Text 18"/>
          <p:cNvSpPr txBox="1"/>
          <p:nvPr/>
        </p:nvSpPr>
        <p:spPr>
          <a:xfrm>
            <a:off x="4885944" y="2331720"/>
            <a:ext cx="1481328" cy="1097280"/>
          </a:xfrm>
          <a:prstGeom prst="rect">
            <a:avLst/>
          </a:prstGeom>
          <a:noFill/>
          <a:ln/>
        </p:spPr>
        <p:txBody>
          <a:bodyPr wrap="square" lIns="0" tIns="0" rIns="0" bIns="0" rtlCol="0" anchor="t"/>
          <a:lstStyle/>
          <a:p>
            <a:pPr marL="0" indent="0" algn="l">
              <a:lnSpc>
                <a:spcPct val="110000"/>
              </a:lnSpc>
              <a:buNone/>
            </a:pPr>
            <a:r>
              <a:rPr lang="en-US" sz="1150" dirty="0">
                <a:solidFill>
                  <a:srgbClr val="6B7699"/>
                </a:solidFill>
                <a:latin typeface="Inter" pitchFamily="34" charset="0"/>
                <a:ea typeface="Inter" pitchFamily="34" charset="-122"/>
                <a:cs typeface="Inter" pitchFamily="34" charset="-120"/>
              </a:rPr>
              <a:t>LangGraph retrieves from Qdrant and applies a threshold gate.</a:t>
            </a:r>
            <a:endParaRPr lang="en-US" sz="1150" dirty="0"/>
          </a:p>
        </p:txBody>
      </p:sp>
      <p:sp>
        <p:nvSpPr>
          <p:cNvPr id="22" name="Shape 19"/>
          <p:cNvSpPr/>
          <p:nvPr/>
        </p:nvSpPr>
        <p:spPr>
          <a:xfrm>
            <a:off x="5539740" y="3520440"/>
            <a:ext cx="118872" cy="219456"/>
          </a:xfrm>
          <a:prstGeom prst="downArrow">
            <a:avLst/>
          </a:prstGeom>
          <a:solidFill>
            <a:srgbClr val="9FB3EC"/>
          </a:solidFill>
          <a:ln/>
        </p:spPr>
        <p:txBody>
          <a:bodyPr/>
          <a:lstStyle/>
          <a:p>
            <a:endParaRPr lang="en-US"/>
          </a:p>
        </p:txBody>
      </p:sp>
      <p:sp>
        <p:nvSpPr>
          <p:cNvPr id="23" name="Shape 20"/>
          <p:cNvSpPr/>
          <p:nvPr/>
        </p:nvSpPr>
        <p:spPr>
          <a:xfrm>
            <a:off x="6525768" y="2011680"/>
            <a:ext cx="201168" cy="118872"/>
          </a:xfrm>
          <a:prstGeom prst="rightArrow">
            <a:avLst/>
          </a:prstGeom>
          <a:solidFill>
            <a:srgbClr val="9FB3EC"/>
          </a:solidFill>
          <a:ln/>
        </p:spPr>
        <p:txBody>
          <a:bodyPr/>
          <a:lstStyle/>
          <a:p>
            <a:endParaRPr lang="en-US"/>
          </a:p>
        </p:txBody>
      </p:sp>
      <p:sp>
        <p:nvSpPr>
          <p:cNvPr id="24" name="Shape 21"/>
          <p:cNvSpPr/>
          <p:nvPr/>
        </p:nvSpPr>
        <p:spPr>
          <a:xfrm>
            <a:off x="6775704" y="1371600"/>
            <a:ext cx="1755648" cy="2103120"/>
          </a:xfrm>
          <a:prstGeom prst="roundRect">
            <a:avLst>
              <a:gd name="adj" fmla="val 5729"/>
            </a:avLst>
          </a:prstGeom>
          <a:solidFill>
            <a:srgbClr val="E7EEFB"/>
          </a:solidFill>
          <a:ln/>
        </p:spPr>
        <p:txBody>
          <a:bodyPr/>
          <a:lstStyle/>
          <a:p>
            <a:endParaRPr lang="en-US"/>
          </a:p>
        </p:txBody>
      </p:sp>
      <p:sp>
        <p:nvSpPr>
          <p:cNvPr id="25" name="Text 22"/>
          <p:cNvSpPr txBox="1"/>
          <p:nvPr/>
        </p:nvSpPr>
        <p:spPr>
          <a:xfrm>
            <a:off x="6940296" y="1508760"/>
            <a:ext cx="1481328" cy="228600"/>
          </a:xfrm>
          <a:prstGeom prst="rect">
            <a:avLst/>
          </a:prstGeom>
          <a:noFill/>
          <a:ln/>
        </p:spPr>
        <p:txBody>
          <a:bodyPr wrap="square" lIns="0" tIns="0" rIns="0" bIns="0" rtlCol="0" anchor="t"/>
          <a:lstStyle/>
          <a:p>
            <a:pPr marL="0" indent="0" algn="l">
              <a:buNone/>
            </a:pPr>
            <a:r>
              <a:rPr lang="en-US" sz="1050" b="1" dirty="0">
                <a:solidFill>
                  <a:srgbClr val="0050FF"/>
                </a:solidFill>
                <a:latin typeface="Inter" pitchFamily="34" charset="0"/>
                <a:ea typeface="Inter" pitchFamily="34" charset="-122"/>
                <a:cs typeface="Inter" pitchFamily="34" charset="-120"/>
              </a:rPr>
              <a:t>OUTPUT</a:t>
            </a:r>
            <a:endParaRPr lang="en-US" sz="1050" dirty="0"/>
          </a:p>
        </p:txBody>
      </p:sp>
      <p:sp>
        <p:nvSpPr>
          <p:cNvPr id="26" name="Text 23"/>
          <p:cNvSpPr txBox="1"/>
          <p:nvPr/>
        </p:nvSpPr>
        <p:spPr>
          <a:xfrm>
            <a:off x="6940296" y="1810512"/>
            <a:ext cx="1481328" cy="502920"/>
          </a:xfrm>
          <a:prstGeom prst="rect">
            <a:avLst/>
          </a:prstGeom>
          <a:noFill/>
          <a:ln/>
        </p:spPr>
        <p:txBody>
          <a:bodyPr wrap="square" lIns="0" tIns="0" rIns="0" bIns="0" rtlCol="0" anchor="t"/>
          <a:lstStyle/>
          <a:p>
            <a:pPr marL="0" indent="0" algn="l">
              <a:buNone/>
            </a:pPr>
            <a:r>
              <a:rPr lang="en-US" sz="1400" b="1" dirty="0">
                <a:solidFill>
                  <a:srgbClr val="1F2761"/>
                </a:solidFill>
                <a:latin typeface="Inter" pitchFamily="34" charset="0"/>
                <a:ea typeface="Inter" pitchFamily="34" charset="-122"/>
                <a:cs typeface="Inter" pitchFamily="34" charset="-120"/>
              </a:rPr>
              <a:t>Cited suggestion</a:t>
            </a:r>
            <a:endParaRPr lang="en-US" sz="1400" dirty="0"/>
          </a:p>
        </p:txBody>
      </p:sp>
      <p:sp>
        <p:nvSpPr>
          <p:cNvPr id="27" name="Text 24"/>
          <p:cNvSpPr txBox="1"/>
          <p:nvPr/>
        </p:nvSpPr>
        <p:spPr>
          <a:xfrm>
            <a:off x="6940296" y="2331720"/>
            <a:ext cx="1481328" cy="1097280"/>
          </a:xfrm>
          <a:prstGeom prst="rect">
            <a:avLst/>
          </a:prstGeom>
          <a:noFill/>
          <a:ln/>
        </p:spPr>
        <p:txBody>
          <a:bodyPr wrap="square" lIns="0" tIns="0" rIns="0" bIns="0" rtlCol="0" anchor="t"/>
          <a:lstStyle/>
          <a:p>
            <a:pPr marL="0" indent="0" algn="l">
              <a:lnSpc>
                <a:spcPct val="110000"/>
              </a:lnSpc>
              <a:buNone/>
            </a:pPr>
            <a:r>
              <a:rPr lang="en-US" sz="1150" dirty="0">
                <a:solidFill>
                  <a:srgbClr val="6B7699"/>
                </a:solidFill>
                <a:latin typeface="Inter" pitchFamily="34" charset="0"/>
                <a:ea typeface="Inter" pitchFamily="34" charset="-122"/>
                <a:cs typeface="Inter" pitchFamily="34" charset="-120"/>
              </a:rPr>
              <a:t>Confidence, status and sources go back to the fulfiller.</a:t>
            </a:r>
            <a:endParaRPr lang="en-US" sz="1150" dirty="0"/>
          </a:p>
        </p:txBody>
      </p:sp>
      <p:sp>
        <p:nvSpPr>
          <p:cNvPr id="28" name="Shape 25"/>
          <p:cNvSpPr/>
          <p:nvPr/>
        </p:nvSpPr>
        <p:spPr>
          <a:xfrm>
            <a:off x="7594092" y="3520440"/>
            <a:ext cx="118872" cy="219456"/>
          </a:xfrm>
          <a:prstGeom prst="downArrow">
            <a:avLst/>
          </a:prstGeom>
          <a:solidFill>
            <a:srgbClr val="9FB3EC"/>
          </a:solidFill>
          <a:ln/>
        </p:spPr>
        <p:txBody>
          <a:bodyPr/>
          <a:lstStyle/>
          <a:p>
            <a:endParaRPr lang="en-US"/>
          </a:p>
        </p:txBody>
      </p:sp>
      <p:sp>
        <p:nvSpPr>
          <p:cNvPr id="29" name="Shape 26"/>
          <p:cNvSpPr/>
          <p:nvPr/>
        </p:nvSpPr>
        <p:spPr>
          <a:xfrm>
            <a:off x="612648" y="3840480"/>
            <a:ext cx="7918704" cy="868680"/>
          </a:xfrm>
          <a:prstGeom prst="roundRect">
            <a:avLst>
              <a:gd name="adj" fmla="val 11579"/>
            </a:avLst>
          </a:prstGeom>
          <a:solidFill>
            <a:srgbClr val="1F2761"/>
          </a:solidFill>
          <a:ln/>
        </p:spPr>
        <p:txBody>
          <a:bodyPr/>
          <a:lstStyle/>
          <a:p>
            <a:endParaRPr lang="en-US"/>
          </a:p>
        </p:txBody>
      </p:sp>
      <p:sp>
        <p:nvSpPr>
          <p:cNvPr id="30" name="Text 27"/>
          <p:cNvSpPr txBox="1"/>
          <p:nvPr/>
        </p:nvSpPr>
        <p:spPr>
          <a:xfrm>
            <a:off x="822960" y="3840480"/>
            <a:ext cx="1371600" cy="868680"/>
          </a:xfrm>
          <a:prstGeom prst="rect">
            <a:avLst/>
          </a:prstGeom>
          <a:noFill/>
          <a:ln/>
        </p:spPr>
        <p:txBody>
          <a:bodyPr wrap="square" lIns="0" tIns="0" rIns="0" bIns="0" rtlCol="0" anchor="ctr"/>
          <a:lstStyle/>
          <a:p>
            <a:pPr marL="0" indent="0" algn="l">
              <a:buNone/>
            </a:pPr>
            <a:r>
              <a:rPr lang="en-US" sz="1100" b="1" dirty="0">
                <a:solidFill>
                  <a:srgbClr val="26CCC4"/>
                </a:solidFill>
                <a:latin typeface="Inter" pitchFamily="34" charset="0"/>
                <a:ea typeface="Inter" pitchFamily="34" charset="-122"/>
                <a:cs typeface="Inter" pitchFamily="34" charset="-120"/>
              </a:rPr>
              <a:t>FOUNDATION</a:t>
            </a:r>
            <a:endParaRPr lang="en-US" sz="1100" dirty="0"/>
          </a:p>
        </p:txBody>
      </p:sp>
      <p:sp>
        <p:nvSpPr>
          <p:cNvPr id="31" name="Text 28"/>
          <p:cNvSpPr txBox="1"/>
          <p:nvPr/>
        </p:nvSpPr>
        <p:spPr>
          <a:xfrm>
            <a:off x="2286000" y="3840480"/>
            <a:ext cx="6035040" cy="868680"/>
          </a:xfrm>
          <a:prstGeom prst="rect">
            <a:avLst/>
          </a:prstGeom>
          <a:noFill/>
          <a:ln/>
        </p:spPr>
        <p:txBody>
          <a:bodyPr wrap="square" lIns="0" tIns="0" rIns="0" bIns="0" rtlCol="0" anchor="ctr"/>
          <a:lstStyle/>
          <a:p>
            <a:pPr marL="0" indent="0" algn="l">
              <a:buNone/>
            </a:pPr>
            <a:r>
              <a:rPr lang="en-US" sz="1250" dirty="0">
                <a:solidFill>
                  <a:srgbClr val="E7EEFB"/>
                </a:solidFill>
                <a:latin typeface="Inter" pitchFamily="34" charset="0"/>
                <a:ea typeface="Inter" pitchFamily="34" charset="-122"/>
                <a:cs typeface="Inter" pitchFamily="34" charset="-120"/>
              </a:rPr>
              <a:t>Knowledge base in Qdrant (3072-dim vectors), built by an idempotent ingestion pipeline. Langfuse traces every agent run.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7</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TOOLS &amp; TECHNOLOGIES</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What we built it with, and why</a:t>
            </a:r>
            <a:endParaRPr lang="en-US" sz="3000" dirty="0"/>
          </a:p>
        </p:txBody>
      </p:sp>
      <p:sp>
        <p:nvSpPr>
          <p:cNvPr id="6" name="Shape 3"/>
          <p:cNvSpPr/>
          <p:nvPr/>
        </p:nvSpPr>
        <p:spPr>
          <a:xfrm>
            <a:off x="612648" y="137160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7" name="Shape 4"/>
          <p:cNvSpPr/>
          <p:nvPr/>
        </p:nvSpPr>
        <p:spPr>
          <a:xfrm>
            <a:off x="777240" y="1517904"/>
            <a:ext cx="475488" cy="475488"/>
          </a:xfrm>
          <a:prstGeom prst="ellipse">
            <a:avLst/>
          </a:prstGeom>
          <a:solidFill>
            <a:srgbClr val="E7EEFB"/>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924641" y="1665305"/>
            <a:ext cx="180685" cy="180685"/>
          </a:xfrm>
          <a:prstGeom prst="rect">
            <a:avLst/>
          </a:prstGeom>
        </p:spPr>
      </p:pic>
      <p:sp>
        <p:nvSpPr>
          <p:cNvPr id="9" name="Text 5"/>
          <p:cNvSpPr txBox="1"/>
          <p:nvPr/>
        </p:nvSpPr>
        <p:spPr>
          <a:xfrm>
            <a:off x="1389888" y="151790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Event integration</a:t>
            </a:r>
            <a:endParaRPr lang="en-US" sz="1400" dirty="0"/>
          </a:p>
        </p:txBody>
      </p:sp>
      <p:sp>
        <p:nvSpPr>
          <p:cNvPr id="10" name="Text 6"/>
          <p:cNvSpPr txBox="1"/>
          <p:nvPr/>
        </p:nvSpPr>
        <p:spPr>
          <a:xfrm>
            <a:off x="777240" y="213969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ServiceNow: signed webhooks</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ngrok: dev tunnel to FastAPI</a:t>
            </a:r>
            <a:endParaRPr lang="en-US" sz="1150" dirty="0"/>
          </a:p>
        </p:txBody>
      </p:sp>
      <p:sp>
        <p:nvSpPr>
          <p:cNvPr id="11" name="Shape 7"/>
          <p:cNvSpPr/>
          <p:nvPr/>
        </p:nvSpPr>
        <p:spPr>
          <a:xfrm>
            <a:off x="3310128" y="137160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12" name="Shape 8"/>
          <p:cNvSpPr/>
          <p:nvPr/>
        </p:nvSpPr>
        <p:spPr>
          <a:xfrm>
            <a:off x="3474720" y="1517904"/>
            <a:ext cx="475488" cy="475488"/>
          </a:xfrm>
          <a:prstGeom prst="ellipse">
            <a:avLst/>
          </a:prstGeom>
          <a:solidFill>
            <a:srgbClr val="E7EEFB"/>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3622121" y="1665305"/>
            <a:ext cx="180685" cy="180685"/>
          </a:xfrm>
          <a:prstGeom prst="rect">
            <a:avLst/>
          </a:prstGeom>
        </p:spPr>
      </p:pic>
      <p:sp>
        <p:nvSpPr>
          <p:cNvPr id="14" name="Text 9"/>
          <p:cNvSpPr txBox="1"/>
          <p:nvPr/>
        </p:nvSpPr>
        <p:spPr>
          <a:xfrm>
            <a:off x="4087368" y="151790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API and queue</a:t>
            </a:r>
            <a:endParaRPr lang="en-US" sz="1400" dirty="0"/>
          </a:p>
        </p:txBody>
      </p:sp>
      <p:sp>
        <p:nvSpPr>
          <p:cNvPr id="15" name="Text 10"/>
          <p:cNvSpPr txBox="1"/>
          <p:nvPr/>
        </p:nvSpPr>
        <p:spPr>
          <a:xfrm>
            <a:off x="3474720" y="213969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FastAPI: verifies, replies fast</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Redis + Celery: async jobs</a:t>
            </a:r>
            <a:endParaRPr lang="en-US" sz="1150" dirty="0"/>
          </a:p>
        </p:txBody>
      </p:sp>
      <p:sp>
        <p:nvSpPr>
          <p:cNvPr id="16" name="Shape 11"/>
          <p:cNvSpPr/>
          <p:nvPr/>
        </p:nvSpPr>
        <p:spPr>
          <a:xfrm>
            <a:off x="6007608" y="137160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17" name="Shape 12"/>
          <p:cNvSpPr/>
          <p:nvPr/>
        </p:nvSpPr>
        <p:spPr>
          <a:xfrm>
            <a:off x="6172200" y="1517904"/>
            <a:ext cx="475488" cy="475488"/>
          </a:xfrm>
          <a:prstGeom prst="ellipse">
            <a:avLst/>
          </a:prstGeom>
          <a:solidFill>
            <a:srgbClr val="E7EEFB"/>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6319601" y="1665305"/>
            <a:ext cx="180685" cy="180685"/>
          </a:xfrm>
          <a:prstGeom prst="rect">
            <a:avLst/>
          </a:prstGeom>
        </p:spPr>
      </p:pic>
      <p:sp>
        <p:nvSpPr>
          <p:cNvPr id="19" name="Text 13"/>
          <p:cNvSpPr txBox="1"/>
          <p:nvPr/>
        </p:nvSpPr>
        <p:spPr>
          <a:xfrm>
            <a:off x="6784848" y="151790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Agent</a:t>
            </a:r>
            <a:endParaRPr lang="en-US" sz="1400" dirty="0"/>
          </a:p>
        </p:txBody>
      </p:sp>
      <p:sp>
        <p:nvSpPr>
          <p:cNvPr id="20" name="Text 14"/>
          <p:cNvSpPr txBox="1"/>
          <p:nvPr/>
        </p:nvSpPr>
        <p:spPr>
          <a:xfrm>
            <a:off x="6172200" y="213969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LangGraph: read-only tools</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Gemini via LiteLLM: answers</a:t>
            </a:r>
            <a:endParaRPr lang="en-US" sz="1150" dirty="0"/>
          </a:p>
        </p:txBody>
      </p:sp>
      <p:sp>
        <p:nvSpPr>
          <p:cNvPr id="21" name="Shape 15"/>
          <p:cNvSpPr/>
          <p:nvPr/>
        </p:nvSpPr>
        <p:spPr>
          <a:xfrm>
            <a:off x="612648" y="301752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22" name="Shape 16"/>
          <p:cNvSpPr/>
          <p:nvPr/>
        </p:nvSpPr>
        <p:spPr>
          <a:xfrm>
            <a:off x="777240" y="3163824"/>
            <a:ext cx="475488" cy="475488"/>
          </a:xfrm>
          <a:prstGeom prst="ellipse">
            <a:avLst/>
          </a:prstGeom>
          <a:solidFill>
            <a:srgbClr val="E7EEFB"/>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924641" y="3311225"/>
            <a:ext cx="180685" cy="180685"/>
          </a:xfrm>
          <a:prstGeom prst="rect">
            <a:avLst/>
          </a:prstGeom>
        </p:spPr>
      </p:pic>
      <p:sp>
        <p:nvSpPr>
          <p:cNvPr id="24" name="Text 17"/>
          <p:cNvSpPr txBox="1"/>
          <p:nvPr/>
        </p:nvSpPr>
        <p:spPr>
          <a:xfrm>
            <a:off x="1389888" y="316382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Search</a:t>
            </a:r>
            <a:endParaRPr lang="en-US" sz="1400" dirty="0"/>
          </a:p>
        </p:txBody>
      </p:sp>
      <p:sp>
        <p:nvSpPr>
          <p:cNvPr id="25" name="Text 18"/>
          <p:cNvSpPr txBox="1"/>
          <p:nvPr/>
        </p:nvSpPr>
        <p:spPr>
          <a:xfrm>
            <a:off x="777240" y="378561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Qdrant: semantic search</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Gemini embeddings: 3072 dims</a:t>
            </a:r>
            <a:endParaRPr lang="en-US" sz="1150" dirty="0"/>
          </a:p>
        </p:txBody>
      </p:sp>
      <p:sp>
        <p:nvSpPr>
          <p:cNvPr id="26" name="Shape 19"/>
          <p:cNvSpPr/>
          <p:nvPr/>
        </p:nvSpPr>
        <p:spPr>
          <a:xfrm>
            <a:off x="3310128" y="301752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27" name="Shape 20"/>
          <p:cNvSpPr/>
          <p:nvPr/>
        </p:nvSpPr>
        <p:spPr>
          <a:xfrm>
            <a:off x="3474720" y="3163824"/>
            <a:ext cx="475488" cy="475488"/>
          </a:xfrm>
          <a:prstGeom prst="ellipse">
            <a:avLst/>
          </a:prstGeom>
          <a:solidFill>
            <a:srgbClr val="E7EEFB"/>
          </a:solidFill>
          <a:ln/>
        </p:spPr>
        <p:txBody>
          <a:bodyPr/>
          <a:lstStyle/>
          <a:p>
            <a:endParaRPr lang="en-US"/>
          </a:p>
        </p:txBody>
      </p:sp>
      <p:pic>
        <p:nvPicPr>
          <p:cNvPr id="28" name="Image 5" descr="preencoded.png"/>
          <p:cNvPicPr>
            <a:picLocks noChangeAspect="1"/>
          </p:cNvPicPr>
          <p:nvPr/>
        </p:nvPicPr>
        <p:blipFill>
          <a:blip r:embed="rId8"/>
          <a:stretch>
            <a:fillRect/>
          </a:stretch>
        </p:blipFill>
        <p:spPr>
          <a:xfrm>
            <a:off x="3622121" y="3311225"/>
            <a:ext cx="180685" cy="180685"/>
          </a:xfrm>
          <a:prstGeom prst="rect">
            <a:avLst/>
          </a:prstGeom>
        </p:spPr>
      </p:pic>
      <p:sp>
        <p:nvSpPr>
          <p:cNvPr id="29" name="Text 21"/>
          <p:cNvSpPr txBox="1"/>
          <p:nvPr/>
        </p:nvSpPr>
        <p:spPr>
          <a:xfrm>
            <a:off x="4087368" y="316382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Ingestion</a:t>
            </a:r>
            <a:endParaRPr lang="en-US" sz="1400" dirty="0"/>
          </a:p>
        </p:txBody>
      </p:sp>
      <p:sp>
        <p:nvSpPr>
          <p:cNvPr id="30" name="Text 22"/>
          <p:cNvSpPr txBox="1"/>
          <p:nvPr/>
        </p:nvSpPr>
        <p:spPr>
          <a:xfrm>
            <a:off x="3474720" y="378561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Vision-LLM CLI: reads PDFs</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Heading chunker by section</a:t>
            </a:r>
            <a:endParaRPr lang="en-US" sz="1150" dirty="0"/>
          </a:p>
        </p:txBody>
      </p:sp>
      <p:sp>
        <p:nvSpPr>
          <p:cNvPr id="31" name="Shape 23"/>
          <p:cNvSpPr/>
          <p:nvPr/>
        </p:nvSpPr>
        <p:spPr>
          <a:xfrm>
            <a:off x="6007608" y="301752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32" name="Shape 24"/>
          <p:cNvSpPr/>
          <p:nvPr/>
        </p:nvSpPr>
        <p:spPr>
          <a:xfrm>
            <a:off x="6172200" y="3163824"/>
            <a:ext cx="475488" cy="475488"/>
          </a:xfrm>
          <a:prstGeom prst="ellipse">
            <a:avLst/>
          </a:prstGeom>
          <a:solidFill>
            <a:srgbClr val="E7EEFB"/>
          </a:solidFill>
          <a:ln/>
        </p:spPr>
        <p:txBody>
          <a:bodyPr/>
          <a:lstStyle/>
          <a:p>
            <a:endParaRPr lang="en-US"/>
          </a:p>
        </p:txBody>
      </p:sp>
      <p:pic>
        <p:nvPicPr>
          <p:cNvPr id="33" name="Image 6" descr="preencoded.png"/>
          <p:cNvPicPr>
            <a:picLocks noChangeAspect="1"/>
          </p:cNvPicPr>
          <p:nvPr/>
        </p:nvPicPr>
        <p:blipFill>
          <a:blip r:embed="rId9"/>
          <a:stretch>
            <a:fillRect/>
          </a:stretch>
        </p:blipFill>
        <p:spPr>
          <a:xfrm>
            <a:off x="6319601" y="3311225"/>
            <a:ext cx="180685" cy="180685"/>
          </a:xfrm>
          <a:prstGeom prst="rect">
            <a:avLst/>
          </a:prstGeom>
        </p:spPr>
      </p:pic>
      <p:sp>
        <p:nvSpPr>
          <p:cNvPr id="34" name="Text 25"/>
          <p:cNvSpPr txBox="1"/>
          <p:nvPr/>
        </p:nvSpPr>
        <p:spPr>
          <a:xfrm>
            <a:off x="6784848" y="316382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Trust and tracing</a:t>
            </a:r>
            <a:endParaRPr lang="en-US" sz="1400" dirty="0"/>
          </a:p>
        </p:txBody>
      </p:sp>
      <p:sp>
        <p:nvSpPr>
          <p:cNvPr id="35" name="Text 26"/>
          <p:cNvSpPr txBox="1"/>
          <p:nvPr/>
        </p:nvSpPr>
        <p:spPr>
          <a:xfrm>
            <a:off x="6172200" y="378561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HMAC-SHA256: signed events</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Langfuse: traces every run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761"/>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8</a:t>
            </a:r>
            <a:endParaRPr lang="en-US" sz="900" dirty="0"/>
          </a:p>
        </p:txBody>
      </p:sp>
      <p:pic>
        <p:nvPicPr>
          <p:cNvPr id="3" name="Image 0" descr="glow.png"/>
          <p:cNvPicPr>
            <a:picLocks noChangeAspect="1"/>
          </p:cNvPicPr>
          <p:nvPr/>
        </p:nvPicPr>
        <p:blipFill>
          <a:blip r:embed="rId3"/>
          <a:stretch>
            <a:fillRect/>
          </a:stretch>
        </p:blipFill>
        <p:spPr>
          <a:xfrm>
            <a:off x="6400800" y="-365760"/>
            <a:ext cx="2834640" cy="2834640"/>
          </a:xfrm>
          <a:prstGeom prst="rect">
            <a:avLst/>
          </a:prstGeom>
        </p:spPr>
      </p:pic>
      <p:pic>
        <p:nvPicPr>
          <p:cNvPr id="4" name="Image 1" descr="preencoded.png"/>
          <p:cNvPicPr>
            <a:picLocks noChangeAspect="1"/>
          </p:cNvPicPr>
          <p:nvPr/>
        </p:nvPicPr>
        <p:blipFill>
          <a:blip r:embed="rId4"/>
          <a:stretch>
            <a:fillRect/>
          </a:stretch>
        </p:blipFill>
        <p:spPr>
          <a:xfrm>
            <a:off x="612648" y="594360"/>
            <a:ext cx="173736" cy="173736"/>
          </a:xfrm>
          <a:prstGeom prst="rect">
            <a:avLst/>
          </a:prstGeom>
        </p:spPr>
      </p:pic>
      <p:sp>
        <p:nvSpPr>
          <p:cNvPr id="5" name="Text 1"/>
          <p:cNvSpPr txBox="1"/>
          <p:nvPr/>
        </p:nvSpPr>
        <p:spPr>
          <a:xfrm>
            <a:off x="868680" y="566928"/>
            <a:ext cx="2743200" cy="201168"/>
          </a:xfrm>
          <a:prstGeom prst="rect">
            <a:avLst/>
          </a:prstGeom>
          <a:noFill/>
          <a:ln/>
        </p:spPr>
        <p:txBody>
          <a:bodyPr wrap="square" lIns="0" tIns="0" rIns="0" bIns="0" rtlCol="0" anchor="t"/>
          <a:lstStyle/>
          <a:p>
            <a:pPr marL="0" indent="0" algn="l">
              <a:buNone/>
            </a:pPr>
            <a:r>
              <a:rPr lang="en-US" sz="1100" b="1" dirty="0">
                <a:solidFill>
                  <a:srgbClr val="26CCC4"/>
                </a:solidFill>
                <a:latin typeface="Inter" pitchFamily="34" charset="0"/>
                <a:ea typeface="Inter" pitchFamily="34" charset="-122"/>
                <a:cs typeface="Inter" pitchFamily="34" charset="-120"/>
              </a:rPr>
              <a:t>LIVE DEMO</a:t>
            </a:r>
            <a:endParaRPr lang="en-US" sz="1100" dirty="0"/>
          </a:p>
        </p:txBody>
      </p:sp>
      <p:sp>
        <p:nvSpPr>
          <p:cNvPr id="6" name="Text 2"/>
          <p:cNvSpPr txBox="1"/>
          <p:nvPr/>
        </p:nvSpPr>
        <p:spPr>
          <a:xfrm>
            <a:off x="612648" y="804672"/>
            <a:ext cx="7918704" cy="457200"/>
          </a:xfrm>
          <a:prstGeom prst="rect">
            <a:avLst/>
          </a:prstGeom>
          <a:noFill/>
          <a:ln/>
        </p:spPr>
        <p:txBody>
          <a:bodyPr wrap="square" lIns="0" tIns="0" rIns="0" bIns="0" rtlCol="0" anchor="ctr"/>
          <a:lstStyle/>
          <a:p>
            <a:pPr marL="0" indent="0" algn="l">
              <a:buNone/>
            </a:pPr>
            <a:r>
              <a:rPr lang="en-US" sz="3000" b="1" dirty="0">
                <a:solidFill>
                  <a:srgbClr val="F4F6FF"/>
                </a:solidFill>
                <a:latin typeface="Inter" pitchFamily="34" charset="0"/>
                <a:ea typeface="Inter" pitchFamily="34" charset="-122"/>
                <a:cs typeface="Inter" pitchFamily="34" charset="-120"/>
              </a:rPr>
              <a:t>From incident to cited fix, live</a:t>
            </a:r>
            <a:endParaRPr lang="en-US" sz="3000" dirty="0"/>
          </a:p>
        </p:txBody>
      </p:sp>
      <p:sp>
        <p:nvSpPr>
          <p:cNvPr id="7" name="Text 3"/>
          <p:cNvSpPr txBox="1"/>
          <p:nvPr/>
        </p:nvSpPr>
        <p:spPr>
          <a:xfrm>
            <a:off x="612648" y="1353312"/>
            <a:ext cx="7918704" cy="274320"/>
          </a:xfrm>
          <a:prstGeom prst="rect">
            <a:avLst/>
          </a:prstGeom>
          <a:noFill/>
          <a:ln/>
        </p:spPr>
        <p:txBody>
          <a:bodyPr wrap="square" lIns="0" tIns="0" rIns="0" bIns="0" rtlCol="0" anchor="t"/>
          <a:lstStyle/>
          <a:p>
            <a:pPr marL="0" indent="0" algn="l">
              <a:buNone/>
            </a:pPr>
            <a:r>
              <a:rPr lang="en-US" sz="1300" dirty="0">
                <a:solidFill>
                  <a:srgbClr val="C5CCEB"/>
                </a:solidFill>
                <a:latin typeface="Inter" pitchFamily="34" charset="0"/>
                <a:ea typeface="Inter" pitchFamily="34" charset="-122"/>
                <a:cs typeface="Inter" pitchFamily="34" charset="-120"/>
              </a:rPr>
              <a:t>Scene: a user reports Outlook disconnected from the server (incident INC0010116).</a:t>
            </a:r>
            <a:endParaRPr lang="en-US" sz="1300" dirty="0"/>
          </a:p>
        </p:txBody>
      </p:sp>
      <p:sp>
        <p:nvSpPr>
          <p:cNvPr id="8" name="Shape 4"/>
          <p:cNvSpPr/>
          <p:nvPr/>
        </p:nvSpPr>
        <p:spPr>
          <a:xfrm>
            <a:off x="612648" y="1828800"/>
            <a:ext cx="2523744" cy="1691640"/>
          </a:xfrm>
          <a:prstGeom prst="roundRect">
            <a:avLst>
              <a:gd name="adj" fmla="val 5946"/>
            </a:avLst>
          </a:prstGeom>
          <a:solidFill>
            <a:srgbClr val="2A3474"/>
          </a:solidFill>
          <a:ln/>
        </p:spPr>
        <p:txBody>
          <a:bodyPr/>
          <a:lstStyle/>
          <a:p>
            <a:endParaRPr lang="en-US"/>
          </a:p>
        </p:txBody>
      </p:sp>
      <p:sp>
        <p:nvSpPr>
          <p:cNvPr id="9" name="Text 5"/>
          <p:cNvSpPr txBox="1"/>
          <p:nvPr/>
        </p:nvSpPr>
        <p:spPr>
          <a:xfrm>
            <a:off x="813816" y="1965960"/>
            <a:ext cx="914400" cy="320040"/>
          </a:xfrm>
          <a:prstGeom prst="rect">
            <a:avLst/>
          </a:prstGeom>
          <a:noFill/>
          <a:ln/>
        </p:spPr>
        <p:txBody>
          <a:bodyPr wrap="square" lIns="0" tIns="0" rIns="0" bIns="0" rtlCol="0" anchor="t"/>
          <a:lstStyle/>
          <a:p>
            <a:pPr marL="0" indent="0" algn="l">
              <a:buNone/>
            </a:pPr>
            <a:r>
              <a:rPr lang="en-US" sz="1700" b="1" dirty="0">
                <a:solidFill>
                  <a:srgbClr val="26CCC4"/>
                </a:solidFill>
                <a:latin typeface="Inter" pitchFamily="34" charset="0"/>
                <a:ea typeface="Inter" pitchFamily="34" charset="-122"/>
                <a:cs typeface="Inter" pitchFamily="34" charset="-120"/>
              </a:rPr>
              <a:t>01</a:t>
            </a:r>
            <a:endParaRPr lang="en-US" sz="1700" dirty="0"/>
          </a:p>
        </p:txBody>
      </p:sp>
      <p:sp>
        <p:nvSpPr>
          <p:cNvPr id="10" name="Text 6"/>
          <p:cNvSpPr txBox="1"/>
          <p:nvPr/>
        </p:nvSpPr>
        <p:spPr>
          <a:xfrm>
            <a:off x="813816" y="2395728"/>
            <a:ext cx="2121408" cy="1051560"/>
          </a:xfrm>
          <a:prstGeom prst="rect">
            <a:avLst/>
          </a:prstGeom>
          <a:noFill/>
          <a:ln/>
        </p:spPr>
        <p:txBody>
          <a:bodyPr wrap="square" lIns="0" tIns="0" rIns="0" bIns="0" rtlCol="0" anchor="t"/>
          <a:lstStyle/>
          <a:p>
            <a:pPr marL="0" indent="0" algn="l">
              <a:lnSpc>
                <a:spcPct val="110000"/>
              </a:lnSpc>
              <a:buNone/>
            </a:pPr>
            <a:r>
              <a:rPr lang="en-US" sz="1300" dirty="0">
                <a:solidFill>
                  <a:srgbClr val="FFFFFF"/>
                </a:solidFill>
                <a:latin typeface="Inter" pitchFamily="34" charset="0"/>
                <a:ea typeface="Inter" pitchFamily="34" charset="-122"/>
                <a:cs typeface="Inter" pitchFamily="34" charset="-120"/>
              </a:rPr>
              <a:t>INC0010116 appears in ServiceNow, AI fields still empty.</a:t>
            </a:r>
            <a:endParaRPr lang="en-US" sz="1300" dirty="0"/>
          </a:p>
        </p:txBody>
      </p:sp>
      <p:sp>
        <p:nvSpPr>
          <p:cNvPr id="11" name="Shape 7"/>
          <p:cNvSpPr/>
          <p:nvPr/>
        </p:nvSpPr>
        <p:spPr>
          <a:xfrm>
            <a:off x="3310128" y="1828800"/>
            <a:ext cx="2523744" cy="1691640"/>
          </a:xfrm>
          <a:prstGeom prst="roundRect">
            <a:avLst>
              <a:gd name="adj" fmla="val 5946"/>
            </a:avLst>
          </a:prstGeom>
          <a:solidFill>
            <a:srgbClr val="2A3474"/>
          </a:solidFill>
          <a:ln/>
        </p:spPr>
        <p:txBody>
          <a:bodyPr/>
          <a:lstStyle/>
          <a:p>
            <a:endParaRPr lang="en-US"/>
          </a:p>
        </p:txBody>
      </p:sp>
      <p:sp>
        <p:nvSpPr>
          <p:cNvPr id="12" name="Text 8"/>
          <p:cNvSpPr txBox="1"/>
          <p:nvPr/>
        </p:nvSpPr>
        <p:spPr>
          <a:xfrm>
            <a:off x="3511296" y="1965960"/>
            <a:ext cx="914400" cy="320040"/>
          </a:xfrm>
          <a:prstGeom prst="rect">
            <a:avLst/>
          </a:prstGeom>
          <a:noFill/>
          <a:ln/>
        </p:spPr>
        <p:txBody>
          <a:bodyPr wrap="square" lIns="0" tIns="0" rIns="0" bIns="0" rtlCol="0" anchor="t"/>
          <a:lstStyle/>
          <a:p>
            <a:pPr marL="0" indent="0" algn="l">
              <a:buNone/>
            </a:pPr>
            <a:r>
              <a:rPr lang="en-US" sz="1700" b="1" dirty="0">
                <a:solidFill>
                  <a:srgbClr val="26CCC4"/>
                </a:solidFill>
                <a:latin typeface="Inter" pitchFamily="34" charset="0"/>
                <a:ea typeface="Inter" pitchFamily="34" charset="-122"/>
                <a:cs typeface="Inter" pitchFamily="34" charset="-120"/>
              </a:rPr>
              <a:t>02</a:t>
            </a:r>
            <a:endParaRPr lang="en-US" sz="1700" dirty="0"/>
          </a:p>
        </p:txBody>
      </p:sp>
      <p:sp>
        <p:nvSpPr>
          <p:cNvPr id="13" name="Text 9"/>
          <p:cNvSpPr txBox="1"/>
          <p:nvPr/>
        </p:nvSpPr>
        <p:spPr>
          <a:xfrm>
            <a:off x="3511296" y="2395728"/>
            <a:ext cx="2121408" cy="1051560"/>
          </a:xfrm>
          <a:prstGeom prst="rect">
            <a:avLst/>
          </a:prstGeom>
          <a:noFill/>
          <a:ln/>
        </p:spPr>
        <p:txBody>
          <a:bodyPr wrap="square" lIns="0" tIns="0" rIns="0" bIns="0" rtlCol="0" anchor="t"/>
          <a:lstStyle/>
          <a:p>
            <a:pPr marL="0" indent="0" algn="l">
              <a:lnSpc>
                <a:spcPct val="110000"/>
              </a:lnSpc>
              <a:buNone/>
            </a:pPr>
            <a:r>
              <a:rPr lang="en-US" sz="1300" dirty="0">
                <a:solidFill>
                  <a:srgbClr val="FFFFFF"/>
                </a:solidFill>
                <a:latin typeface="Inter" pitchFamily="34" charset="0"/>
                <a:ea typeface="Inter" pitchFamily="34" charset="-122"/>
                <a:cs typeface="Inter" pitchFamily="34" charset="-120"/>
              </a:rPr>
              <a:t>Signed webhook, queue, agent and Qdrant search run, traced in Langfuse.</a:t>
            </a:r>
            <a:endParaRPr lang="en-US" sz="1300" dirty="0"/>
          </a:p>
        </p:txBody>
      </p:sp>
      <p:sp>
        <p:nvSpPr>
          <p:cNvPr id="14" name="Shape 10"/>
          <p:cNvSpPr/>
          <p:nvPr/>
        </p:nvSpPr>
        <p:spPr>
          <a:xfrm>
            <a:off x="6007608" y="1828800"/>
            <a:ext cx="2523744" cy="1691640"/>
          </a:xfrm>
          <a:prstGeom prst="roundRect">
            <a:avLst>
              <a:gd name="adj" fmla="val 5946"/>
            </a:avLst>
          </a:prstGeom>
          <a:solidFill>
            <a:srgbClr val="2A3474"/>
          </a:solidFill>
          <a:ln/>
        </p:spPr>
        <p:txBody>
          <a:bodyPr/>
          <a:lstStyle/>
          <a:p>
            <a:endParaRPr lang="en-US"/>
          </a:p>
        </p:txBody>
      </p:sp>
      <p:sp>
        <p:nvSpPr>
          <p:cNvPr id="15" name="Text 11"/>
          <p:cNvSpPr txBox="1"/>
          <p:nvPr/>
        </p:nvSpPr>
        <p:spPr>
          <a:xfrm>
            <a:off x="6208776" y="1965960"/>
            <a:ext cx="914400" cy="320040"/>
          </a:xfrm>
          <a:prstGeom prst="rect">
            <a:avLst/>
          </a:prstGeom>
          <a:noFill/>
          <a:ln/>
        </p:spPr>
        <p:txBody>
          <a:bodyPr wrap="square" lIns="0" tIns="0" rIns="0" bIns="0" rtlCol="0" anchor="t"/>
          <a:lstStyle/>
          <a:p>
            <a:pPr marL="0" indent="0" algn="l">
              <a:buNone/>
            </a:pPr>
            <a:r>
              <a:rPr lang="en-US" sz="1700" b="1" dirty="0">
                <a:solidFill>
                  <a:srgbClr val="26CCC4"/>
                </a:solidFill>
                <a:latin typeface="Inter" pitchFamily="34" charset="0"/>
                <a:ea typeface="Inter" pitchFamily="34" charset="-122"/>
                <a:cs typeface="Inter" pitchFamily="34" charset="-120"/>
              </a:rPr>
              <a:t>03</a:t>
            </a:r>
            <a:endParaRPr lang="en-US" sz="1700" dirty="0"/>
          </a:p>
        </p:txBody>
      </p:sp>
      <p:sp>
        <p:nvSpPr>
          <p:cNvPr id="16" name="Text 12"/>
          <p:cNvSpPr txBox="1"/>
          <p:nvPr/>
        </p:nvSpPr>
        <p:spPr>
          <a:xfrm>
            <a:off x="6208776" y="2395728"/>
            <a:ext cx="2121408" cy="1051560"/>
          </a:xfrm>
          <a:prstGeom prst="rect">
            <a:avLst/>
          </a:prstGeom>
          <a:noFill/>
          <a:ln/>
        </p:spPr>
        <p:txBody>
          <a:bodyPr wrap="square" lIns="0" tIns="0" rIns="0" bIns="0" rtlCol="0" anchor="t"/>
          <a:lstStyle/>
          <a:p>
            <a:pPr marL="0" indent="0" algn="l">
              <a:lnSpc>
                <a:spcPct val="110000"/>
              </a:lnSpc>
              <a:buNone/>
            </a:pPr>
            <a:r>
              <a:rPr lang="en-US" sz="1300" dirty="0">
                <a:solidFill>
                  <a:srgbClr val="FFFFFF"/>
                </a:solidFill>
                <a:latin typeface="Inter" pitchFamily="34" charset="0"/>
                <a:ea typeface="Inter" pitchFamily="34" charset="-122"/>
                <a:cs typeface="Inter" pitchFamily="34" charset="-120"/>
              </a:rPr>
              <a:t>AI Triager shows confidence 0.9, KB sources and Approve / Edit / Reject.</a:t>
            </a:r>
            <a:endParaRPr lang="en-US" sz="1300" dirty="0"/>
          </a:p>
        </p:txBody>
      </p:sp>
      <p:pic>
        <p:nvPicPr>
          <p:cNvPr id="17" name="Image 2" descr="preencoded.png"/>
          <p:cNvPicPr>
            <a:picLocks noChangeAspect="1"/>
          </p:cNvPicPr>
          <p:nvPr/>
        </p:nvPicPr>
        <p:blipFill>
          <a:blip r:embed="rId5"/>
          <a:stretch>
            <a:fillRect/>
          </a:stretch>
        </p:blipFill>
        <p:spPr>
          <a:xfrm>
            <a:off x="612648" y="3749040"/>
            <a:ext cx="182880" cy="182880"/>
          </a:xfrm>
          <a:prstGeom prst="rect">
            <a:avLst/>
          </a:prstGeom>
        </p:spPr>
      </p:pic>
      <p:sp>
        <p:nvSpPr>
          <p:cNvPr id="18" name="Text 13"/>
          <p:cNvSpPr txBox="1"/>
          <p:nvPr/>
        </p:nvSpPr>
        <p:spPr>
          <a:xfrm>
            <a:off x="914400" y="3721608"/>
            <a:ext cx="7315200" cy="237744"/>
          </a:xfrm>
          <a:prstGeom prst="rect">
            <a:avLst/>
          </a:prstGeom>
          <a:noFill/>
          <a:ln/>
        </p:spPr>
        <p:txBody>
          <a:bodyPr wrap="square" lIns="0" tIns="0" rIns="0" bIns="0" rtlCol="0" anchor="ctr"/>
          <a:lstStyle/>
          <a:p>
            <a:pPr marL="0" indent="0" algn="l">
              <a:buNone/>
            </a:pPr>
            <a:r>
              <a:rPr lang="en-US" sz="1200" dirty="0">
                <a:solidFill>
                  <a:srgbClr val="C5CCEB"/>
                </a:solidFill>
                <a:latin typeface="Inter" pitchFamily="34" charset="0"/>
                <a:ea typeface="Inter" pitchFamily="34" charset="-122"/>
                <a:cs typeface="Inter" pitchFamily="34" charset="-120"/>
              </a:rPr>
              <a:t>Backup ready: live E2E screenshots and terminal log (appendix)</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9</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RESULTS &amp; IMPACT</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What changed because of our work</a:t>
            </a:r>
            <a:endParaRPr lang="en-US" sz="3000" dirty="0"/>
          </a:p>
        </p:txBody>
      </p:sp>
      <p:sp>
        <p:nvSpPr>
          <p:cNvPr id="6" name="Shape 3"/>
          <p:cNvSpPr/>
          <p:nvPr/>
        </p:nvSpPr>
        <p:spPr>
          <a:xfrm>
            <a:off x="612648" y="1371600"/>
            <a:ext cx="2523744" cy="2468880"/>
          </a:xfrm>
          <a:prstGeom prst="roundRect">
            <a:avLst>
              <a:gd name="adj" fmla="val 4074"/>
            </a:avLst>
          </a:prstGeom>
          <a:solidFill>
            <a:srgbClr val="FDFEFF"/>
          </a:solidFill>
          <a:ln w="9525">
            <a:solidFill>
              <a:srgbClr val="E0E4F2"/>
            </a:solidFill>
            <a:prstDash val="solid"/>
          </a:ln>
        </p:spPr>
        <p:txBody>
          <a:bodyPr/>
          <a:lstStyle/>
          <a:p>
            <a:endParaRPr lang="en-US"/>
          </a:p>
        </p:txBody>
      </p:sp>
      <p:sp>
        <p:nvSpPr>
          <p:cNvPr id="7" name="Text 4"/>
          <p:cNvSpPr txBox="1"/>
          <p:nvPr/>
        </p:nvSpPr>
        <p:spPr>
          <a:xfrm>
            <a:off x="813816" y="1508760"/>
            <a:ext cx="2157984" cy="777240"/>
          </a:xfrm>
          <a:prstGeom prst="rect">
            <a:avLst/>
          </a:prstGeom>
          <a:noFill/>
          <a:ln/>
        </p:spPr>
        <p:txBody>
          <a:bodyPr wrap="square" lIns="0" tIns="0" rIns="0" bIns="0" rtlCol="0" anchor="ctr"/>
          <a:lstStyle/>
          <a:p>
            <a:pPr marL="0" indent="0" algn="l">
              <a:buNone/>
            </a:pPr>
            <a:r>
              <a:rPr lang="en-US" sz="4600" b="1" dirty="0">
                <a:solidFill>
                  <a:srgbClr val="0050FF"/>
                </a:solidFill>
                <a:latin typeface="Inter" pitchFamily="34" charset="0"/>
                <a:ea typeface="Inter" pitchFamily="34" charset="-122"/>
                <a:cs typeface="Inter" pitchFamily="34" charset="-120"/>
              </a:rPr>
              <a:t>~20 s</a:t>
            </a:r>
            <a:endParaRPr lang="en-US" sz="4600" dirty="0"/>
          </a:p>
        </p:txBody>
      </p:sp>
      <p:sp>
        <p:nvSpPr>
          <p:cNvPr id="8" name="Text 5"/>
          <p:cNvSpPr txBox="1"/>
          <p:nvPr/>
        </p:nvSpPr>
        <p:spPr>
          <a:xfrm>
            <a:off x="813816" y="2377440"/>
            <a:ext cx="2157984" cy="502920"/>
          </a:xfrm>
          <a:prstGeom prst="rect">
            <a:avLst/>
          </a:prstGeom>
          <a:noFill/>
          <a:ln/>
        </p:spPr>
        <p:txBody>
          <a:bodyPr wrap="square" lIns="0" tIns="0" rIns="0" bIns="0" rtlCol="0" anchor="t"/>
          <a:lstStyle/>
          <a:p>
            <a:pPr marL="0" indent="0" algn="l">
              <a:buNone/>
            </a:pPr>
            <a:r>
              <a:rPr lang="en-US" sz="1400" b="1" dirty="0">
                <a:solidFill>
                  <a:srgbClr val="1F2761"/>
                </a:solidFill>
                <a:latin typeface="Inter" pitchFamily="34" charset="0"/>
                <a:ea typeface="Inter" pitchFamily="34" charset="-122"/>
                <a:cs typeface="Inter" pitchFamily="34" charset="-120"/>
              </a:rPr>
              <a:t>Incident to cited suggestion</a:t>
            </a:r>
            <a:endParaRPr lang="en-US" sz="1400" dirty="0"/>
          </a:p>
        </p:txBody>
      </p:sp>
      <p:sp>
        <p:nvSpPr>
          <p:cNvPr id="9" name="Text 6"/>
          <p:cNvSpPr txBox="1"/>
          <p:nvPr/>
        </p:nvSpPr>
        <p:spPr>
          <a:xfrm>
            <a:off x="813816" y="2944368"/>
            <a:ext cx="2157984" cy="822960"/>
          </a:xfrm>
          <a:prstGeom prst="rect">
            <a:avLst/>
          </a:prstGeom>
          <a:noFill/>
          <a:ln/>
        </p:spPr>
        <p:txBody>
          <a:bodyPr wrap="square" lIns="0" tIns="0" rIns="0" bIns="0" rtlCol="0" anchor="t"/>
          <a:lstStyle/>
          <a:p>
            <a:pPr marL="0" indent="0" algn="l">
              <a:lnSpc>
                <a:spcPct val="110000"/>
              </a:lnSpc>
              <a:buNone/>
            </a:pPr>
            <a:r>
              <a:rPr lang="en-US" sz="1100" dirty="0">
                <a:solidFill>
                  <a:srgbClr val="6B7699"/>
                </a:solidFill>
                <a:latin typeface="Inter" pitchFamily="34" charset="0"/>
                <a:ea typeface="Inter" pitchFamily="34" charset="-122"/>
                <a:cs typeface="Inter" pitchFamily="34" charset="-120"/>
              </a:rPr>
              <a:t>Measured: live E2E run on INC0010116, Oct 1, 2026 (one run)</a:t>
            </a:r>
            <a:endParaRPr lang="en-US" sz="1100" dirty="0"/>
          </a:p>
        </p:txBody>
      </p:sp>
      <p:sp>
        <p:nvSpPr>
          <p:cNvPr id="10" name="Shape 7"/>
          <p:cNvSpPr/>
          <p:nvPr/>
        </p:nvSpPr>
        <p:spPr>
          <a:xfrm>
            <a:off x="3310128" y="1371600"/>
            <a:ext cx="2523744" cy="2468880"/>
          </a:xfrm>
          <a:prstGeom prst="roundRect">
            <a:avLst>
              <a:gd name="adj" fmla="val 4074"/>
            </a:avLst>
          </a:prstGeom>
          <a:solidFill>
            <a:srgbClr val="FDFEFF"/>
          </a:solidFill>
          <a:ln w="9525">
            <a:solidFill>
              <a:srgbClr val="E0E4F2"/>
            </a:solidFill>
            <a:prstDash val="solid"/>
          </a:ln>
        </p:spPr>
        <p:txBody>
          <a:bodyPr/>
          <a:lstStyle/>
          <a:p>
            <a:endParaRPr lang="en-US"/>
          </a:p>
        </p:txBody>
      </p:sp>
      <p:sp>
        <p:nvSpPr>
          <p:cNvPr id="11" name="Text 8"/>
          <p:cNvSpPr txBox="1"/>
          <p:nvPr/>
        </p:nvSpPr>
        <p:spPr>
          <a:xfrm>
            <a:off x="3511296" y="1508760"/>
            <a:ext cx="2157984" cy="777240"/>
          </a:xfrm>
          <a:prstGeom prst="rect">
            <a:avLst/>
          </a:prstGeom>
          <a:noFill/>
          <a:ln/>
        </p:spPr>
        <p:txBody>
          <a:bodyPr wrap="square" lIns="0" tIns="0" rIns="0" bIns="0" rtlCol="0" anchor="ctr"/>
          <a:lstStyle/>
          <a:p>
            <a:pPr marL="0" indent="0" algn="l">
              <a:buNone/>
            </a:pPr>
            <a:r>
              <a:rPr lang="en-US" sz="4600" b="1" dirty="0">
                <a:solidFill>
                  <a:srgbClr val="0050FF"/>
                </a:solidFill>
                <a:latin typeface="Inter" pitchFamily="34" charset="0"/>
                <a:ea typeface="Inter" pitchFamily="34" charset="-122"/>
                <a:cs typeface="Inter" pitchFamily="34" charset="-120"/>
              </a:rPr>
              <a:t>0.9</a:t>
            </a:r>
            <a:endParaRPr lang="en-US" sz="4600" dirty="0"/>
          </a:p>
        </p:txBody>
      </p:sp>
      <p:sp>
        <p:nvSpPr>
          <p:cNvPr id="12" name="Text 9"/>
          <p:cNvSpPr txBox="1"/>
          <p:nvPr/>
        </p:nvSpPr>
        <p:spPr>
          <a:xfrm>
            <a:off x="3511296" y="2377440"/>
            <a:ext cx="2157984" cy="502920"/>
          </a:xfrm>
          <a:prstGeom prst="rect">
            <a:avLst/>
          </a:prstGeom>
          <a:noFill/>
          <a:ln/>
        </p:spPr>
        <p:txBody>
          <a:bodyPr wrap="square" lIns="0" tIns="0" rIns="0" bIns="0" rtlCol="0" anchor="t"/>
          <a:lstStyle/>
          <a:p>
            <a:pPr marL="0" indent="0" algn="l">
              <a:buNone/>
            </a:pPr>
            <a:r>
              <a:rPr lang="en-US" sz="1400" b="1" dirty="0">
                <a:solidFill>
                  <a:srgbClr val="1F2761"/>
                </a:solidFill>
                <a:latin typeface="Inter" pitchFamily="34" charset="0"/>
                <a:ea typeface="Inter" pitchFamily="34" charset="-122"/>
                <a:cs typeface="Inter" pitchFamily="34" charset="-120"/>
              </a:rPr>
              <a:t>Agent confidence, 2 sources</a:t>
            </a:r>
            <a:endParaRPr lang="en-US" sz="1400" dirty="0"/>
          </a:p>
        </p:txBody>
      </p:sp>
      <p:sp>
        <p:nvSpPr>
          <p:cNvPr id="13" name="Text 10"/>
          <p:cNvSpPr txBox="1"/>
          <p:nvPr/>
        </p:nvSpPr>
        <p:spPr>
          <a:xfrm>
            <a:off x="3511296" y="2944368"/>
            <a:ext cx="2157984" cy="822960"/>
          </a:xfrm>
          <a:prstGeom prst="rect">
            <a:avLst/>
          </a:prstGeom>
          <a:noFill/>
          <a:ln/>
        </p:spPr>
        <p:txBody>
          <a:bodyPr wrap="square" lIns="0" tIns="0" rIns="0" bIns="0" rtlCol="0" anchor="t"/>
          <a:lstStyle/>
          <a:p>
            <a:pPr marL="0" indent="0" algn="l">
              <a:lnSpc>
                <a:spcPct val="110000"/>
              </a:lnSpc>
              <a:buNone/>
            </a:pPr>
            <a:r>
              <a:rPr lang="en-US" sz="1100" dirty="0">
                <a:solidFill>
                  <a:srgbClr val="6B7699"/>
                </a:solidFill>
                <a:latin typeface="Inter" pitchFamily="34" charset="0"/>
                <a:ea typeface="Inter" pitchFamily="34" charset="-122"/>
                <a:cs typeface="Inter" pitchFamily="34" charset="-120"/>
              </a:rPr>
              <a:t>Measured: same run. An LLM heuristic, not a calibrated probability</a:t>
            </a:r>
            <a:endParaRPr lang="en-US" sz="1100" dirty="0"/>
          </a:p>
        </p:txBody>
      </p:sp>
      <p:sp>
        <p:nvSpPr>
          <p:cNvPr id="14" name="Shape 11"/>
          <p:cNvSpPr/>
          <p:nvPr/>
        </p:nvSpPr>
        <p:spPr>
          <a:xfrm>
            <a:off x="6007608" y="1371600"/>
            <a:ext cx="2523744" cy="2468880"/>
          </a:xfrm>
          <a:prstGeom prst="roundRect">
            <a:avLst>
              <a:gd name="adj" fmla="val 4074"/>
            </a:avLst>
          </a:prstGeom>
          <a:solidFill>
            <a:srgbClr val="FDFEFF"/>
          </a:solidFill>
          <a:ln w="9525">
            <a:solidFill>
              <a:srgbClr val="E0E4F2"/>
            </a:solidFill>
            <a:prstDash val="solid"/>
          </a:ln>
        </p:spPr>
        <p:txBody>
          <a:bodyPr/>
          <a:lstStyle/>
          <a:p>
            <a:endParaRPr lang="en-US"/>
          </a:p>
        </p:txBody>
      </p:sp>
      <p:sp>
        <p:nvSpPr>
          <p:cNvPr id="15" name="Text 12"/>
          <p:cNvSpPr txBox="1"/>
          <p:nvPr/>
        </p:nvSpPr>
        <p:spPr>
          <a:xfrm>
            <a:off x="6208776" y="1508760"/>
            <a:ext cx="2157984" cy="777240"/>
          </a:xfrm>
          <a:prstGeom prst="rect">
            <a:avLst/>
          </a:prstGeom>
          <a:noFill/>
          <a:ln/>
        </p:spPr>
        <p:txBody>
          <a:bodyPr wrap="square" lIns="0" tIns="0" rIns="0" bIns="0" rtlCol="0" anchor="ctr"/>
          <a:lstStyle/>
          <a:p>
            <a:pPr marL="0" indent="0" algn="l">
              <a:buNone/>
            </a:pPr>
            <a:r>
              <a:rPr lang="en-US" sz="3200" b="1" dirty="0">
                <a:solidFill>
                  <a:srgbClr val="0050FF"/>
                </a:solidFill>
                <a:latin typeface="Inter" pitchFamily="34" charset="0"/>
                <a:ea typeface="Inter" pitchFamily="34" charset="-122"/>
                <a:cs typeface="Inter" pitchFamily="34" charset="-120"/>
              </a:rPr>
              <a:t>144 = 144</a:t>
            </a:r>
            <a:endParaRPr lang="en-US" sz="3200" dirty="0"/>
          </a:p>
        </p:txBody>
      </p:sp>
      <p:sp>
        <p:nvSpPr>
          <p:cNvPr id="16" name="Text 13"/>
          <p:cNvSpPr txBox="1"/>
          <p:nvPr/>
        </p:nvSpPr>
        <p:spPr>
          <a:xfrm>
            <a:off x="6208776" y="2377440"/>
            <a:ext cx="2157984" cy="502920"/>
          </a:xfrm>
          <a:prstGeom prst="rect">
            <a:avLst/>
          </a:prstGeom>
          <a:noFill/>
          <a:ln/>
        </p:spPr>
        <p:txBody>
          <a:bodyPr wrap="square" lIns="0" tIns="0" rIns="0" bIns="0" rtlCol="0" anchor="t"/>
          <a:lstStyle/>
          <a:p>
            <a:pPr marL="0" indent="0" algn="l">
              <a:buNone/>
            </a:pPr>
            <a:r>
              <a:rPr lang="en-US" sz="1400" b="1" dirty="0">
                <a:solidFill>
                  <a:srgbClr val="1F2761"/>
                </a:solidFill>
                <a:latin typeface="Inter" pitchFamily="34" charset="0"/>
                <a:ea typeface="Inter" pitchFamily="34" charset="-122"/>
                <a:cs typeface="Inter" pitchFamily="34" charset="-120"/>
              </a:rPr>
              <a:t>Chunks = points after re-run</a:t>
            </a:r>
            <a:endParaRPr lang="en-US" sz="1400" dirty="0"/>
          </a:p>
        </p:txBody>
      </p:sp>
      <p:sp>
        <p:nvSpPr>
          <p:cNvPr id="17" name="Text 14"/>
          <p:cNvSpPr txBox="1"/>
          <p:nvPr/>
        </p:nvSpPr>
        <p:spPr>
          <a:xfrm>
            <a:off x="6208776" y="2944368"/>
            <a:ext cx="2157984" cy="822960"/>
          </a:xfrm>
          <a:prstGeom prst="rect">
            <a:avLst/>
          </a:prstGeom>
          <a:noFill/>
          <a:ln/>
        </p:spPr>
        <p:txBody>
          <a:bodyPr wrap="square" lIns="0" tIns="0" rIns="0" bIns="0" rtlCol="0" anchor="t"/>
          <a:lstStyle/>
          <a:p>
            <a:pPr marL="0" indent="0" algn="l">
              <a:lnSpc>
                <a:spcPct val="110000"/>
              </a:lnSpc>
              <a:buNone/>
            </a:pPr>
            <a:r>
              <a:rPr lang="en-US" sz="1100" dirty="0">
                <a:solidFill>
                  <a:srgbClr val="6B7699"/>
                </a:solidFill>
                <a:latin typeface="Inter" pitchFamily="34" charset="0"/>
                <a:ea typeface="Inter" pitchFamily="34" charset="-122"/>
                <a:cs typeface="Inter" pitchFamily="34" charset="-120"/>
              </a:rPr>
              <a:t>Measured: 50 sample articles ingested twice</a:t>
            </a:r>
            <a:endParaRPr lang="en-US" sz="1100" dirty="0"/>
          </a:p>
        </p:txBody>
      </p:sp>
      <p:sp>
        <p:nvSpPr>
          <p:cNvPr id="18" name="Shape 15"/>
          <p:cNvSpPr/>
          <p:nvPr/>
        </p:nvSpPr>
        <p:spPr>
          <a:xfrm>
            <a:off x="612648" y="4023360"/>
            <a:ext cx="7918704" cy="658368"/>
          </a:xfrm>
          <a:prstGeom prst="roundRect">
            <a:avLst>
              <a:gd name="adj" fmla="val 15278"/>
            </a:avLst>
          </a:prstGeom>
          <a:solidFill>
            <a:srgbClr val="E7EEFB"/>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822960" y="4251960"/>
            <a:ext cx="201168" cy="201168"/>
          </a:xfrm>
          <a:prstGeom prst="rect">
            <a:avLst/>
          </a:prstGeom>
        </p:spPr>
      </p:pic>
      <p:sp>
        <p:nvSpPr>
          <p:cNvPr id="20" name="Text 16"/>
          <p:cNvSpPr txBox="1"/>
          <p:nvPr/>
        </p:nvSpPr>
        <p:spPr>
          <a:xfrm>
            <a:off x="1188720" y="4023360"/>
            <a:ext cx="7223760" cy="658368"/>
          </a:xfrm>
          <a:prstGeom prst="rect">
            <a:avLst/>
          </a:prstGeom>
          <a:noFill/>
          <a:ln/>
        </p:spPr>
        <p:txBody>
          <a:bodyPr wrap="square" lIns="0" tIns="0" rIns="0" bIns="0" rtlCol="0" anchor="ctr"/>
          <a:lstStyle/>
          <a:p>
            <a:pPr marL="0" indent="0" algn="l">
              <a:buNone/>
            </a:pPr>
            <a:r>
              <a:rPr lang="en-US" sz="1300" i="1" dirty="0">
                <a:solidFill>
                  <a:srgbClr val="1F2761"/>
                </a:solidFill>
                <a:latin typeface="Inter" pitchFamily="34" charset="0"/>
                <a:ea typeface="Inter" pitchFamily="34" charset="-122"/>
                <a:cs typeface="Inter" pitchFamily="34" charset="-120"/>
              </a:rPr>
              <a:t>“[A real quote from a user, client or tester]”  —  [Name, role]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10</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CHALLENGES &amp; LESSONS</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What we learned the hard way</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2179179480"/>
              </p:ext>
            </p:extLst>
          </p:nvPr>
        </p:nvGraphicFramePr>
        <p:xfrm>
          <a:off x="612648" y="1371600"/>
          <a:ext cx="7918704" cy="3337560"/>
        </p:xfrm>
        <a:graphic>
          <a:graphicData uri="http://schemas.openxmlformats.org/drawingml/2006/table">
            <a:tbl>
              <a:tblPr/>
              <a:tblGrid>
                <a:gridCol w="2377440">
                  <a:extLst>
                    <a:ext uri="{9D8B030D-6E8A-4147-A177-3AD203B41FA5}">
                      <a16:colId xmlns:a16="http://schemas.microsoft.com/office/drawing/2014/main" val="20000"/>
                    </a:ext>
                  </a:extLst>
                </a:gridCol>
                <a:gridCol w="2770632">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Inter" pitchFamily="34" charset="0"/>
                          <a:ea typeface="Inter" pitchFamily="34" charset="-122"/>
                          <a:cs typeface="Inter" pitchFamily="34" charset="-120"/>
                        </a:rPr>
                        <a:t>Challenge</a:t>
                      </a:r>
                      <a:endParaRPr lang="en-US" sz="130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1F2761"/>
                    </a:solidFill>
                  </a:tcPr>
                </a:tc>
                <a:tc>
                  <a:txBody>
                    <a:bodyPr/>
                    <a:lstStyle/>
                    <a:p>
                      <a:pPr marL="0" indent="0">
                        <a:buNone/>
                      </a:pPr>
                      <a:r>
                        <a:rPr lang="en-US" sz="1300" b="1" dirty="0">
                          <a:solidFill>
                            <a:srgbClr val="FFFFFF"/>
                          </a:solidFill>
                          <a:latin typeface="Inter" pitchFamily="34" charset="0"/>
                          <a:ea typeface="Inter" pitchFamily="34" charset="-122"/>
                          <a:cs typeface="Inter" pitchFamily="34" charset="-120"/>
                        </a:rPr>
                        <a:t>What we did</a:t>
                      </a:r>
                      <a:endParaRPr lang="en-US" sz="130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1F2761"/>
                    </a:solidFill>
                  </a:tcPr>
                </a:tc>
                <a:tc>
                  <a:txBody>
                    <a:bodyPr/>
                    <a:lstStyle/>
                    <a:p>
                      <a:pPr marL="0" indent="0">
                        <a:buNone/>
                      </a:pPr>
                      <a:r>
                        <a:rPr lang="en-US" sz="1300" b="1" dirty="0">
                          <a:solidFill>
                            <a:srgbClr val="FFFFFF"/>
                          </a:solidFill>
                          <a:latin typeface="Inter" pitchFamily="34" charset="0"/>
                          <a:ea typeface="Inter" pitchFamily="34" charset="-122"/>
                          <a:cs typeface="Inter" pitchFamily="34" charset="-120"/>
                        </a:rPr>
                        <a:t>What we learned</a:t>
                      </a:r>
                      <a:endParaRPr lang="en-US" sz="130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1F2761"/>
                    </a:solidFill>
                  </a:tcPr>
                </a:tc>
                <a:extLst>
                  <a:ext uri="{0D108BD9-81ED-4DB2-BD59-A6C34878D82A}">
                    <a16:rowId xmlns:a16="http://schemas.microsoft.com/office/drawing/2014/main" val="10000"/>
                  </a:ext>
                </a:extLst>
              </a:tr>
              <a:tr h="960120">
                <a:tc>
                  <a:txBody>
                    <a:bodyPr/>
                    <a:lstStyle/>
                    <a:p>
                      <a:pPr marL="0" indent="0">
                        <a:buNone/>
                      </a:pPr>
                      <a:r>
                        <a:rPr lang="en-US" sz="1150" b="1" dirty="0">
                          <a:solidFill>
                            <a:srgbClr val="1F2761"/>
                          </a:solidFill>
                          <a:latin typeface="Inter" pitchFamily="34" charset="0"/>
                          <a:ea typeface="Inter" pitchFamily="34" charset="-122"/>
                          <a:cs typeface="Inter" pitchFamily="34" charset="-120"/>
                        </a:rPr>
                        <a:t>Duplicate or replayed events</a:t>
                      </a:r>
                      <a:endParaRPr lang="en-US" sz="115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FDFEFF"/>
                    </a:solidFill>
                  </a:tcPr>
                </a:tc>
                <a:tc>
                  <a:txBody>
                    <a:bodyPr/>
                    <a:lstStyle/>
                    <a:p>
                      <a:pPr marL="0" indent="0">
                        <a:buNone/>
                      </a:pPr>
                      <a:r>
                        <a:rPr lang="en-US" sz="1150" dirty="0">
                          <a:solidFill>
                            <a:srgbClr val="4A5578"/>
                          </a:solidFill>
                          <a:latin typeface="Inter" pitchFamily="34" charset="0"/>
                          <a:ea typeface="Inter" pitchFamily="34" charset="-122"/>
                          <a:cs typeface="Inter" pitchFamily="34" charset="-120"/>
                        </a:rPr>
                        <a:t>Signed webhooks, Redis dedupe and a claim status so each incident runs once</a:t>
                      </a:r>
                      <a:endParaRPr lang="en-US" sz="115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FDFEFF"/>
                    </a:solidFill>
                  </a:tcPr>
                </a:tc>
                <a:tc>
                  <a:txBody>
                    <a:bodyPr/>
                    <a:lstStyle/>
                    <a:p>
                      <a:pPr marL="0" indent="0">
                        <a:buNone/>
                      </a:pPr>
                      <a:r>
                        <a:rPr lang="en-US" sz="1150" dirty="0">
                          <a:solidFill>
                            <a:srgbClr val="4A5578"/>
                          </a:solidFill>
                          <a:latin typeface="Inter" pitchFamily="34" charset="0"/>
                          <a:ea typeface="Inter" pitchFamily="34" charset="-122"/>
                          <a:cs typeface="Inter" pitchFamily="34" charset="-120"/>
                        </a:rPr>
                        <a:t>Make every step idempotent; assume events arrive twice</a:t>
                      </a:r>
                      <a:endParaRPr lang="en-US" sz="115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FDFEFF"/>
                    </a:solidFill>
                  </a:tcPr>
                </a:tc>
                <a:extLst>
                  <a:ext uri="{0D108BD9-81ED-4DB2-BD59-A6C34878D82A}">
                    <a16:rowId xmlns:a16="http://schemas.microsoft.com/office/drawing/2014/main" val="10001"/>
                  </a:ext>
                </a:extLst>
              </a:tr>
              <a:tr h="960120">
                <a:tc>
                  <a:txBody>
                    <a:bodyPr/>
                    <a:lstStyle/>
                    <a:p>
                      <a:pPr marL="0" indent="0">
                        <a:buNone/>
                      </a:pPr>
                      <a:r>
                        <a:rPr lang="en-US" sz="1150" b="1" dirty="0">
                          <a:solidFill>
                            <a:srgbClr val="1F2761"/>
                          </a:solidFill>
                          <a:latin typeface="Inter" pitchFamily="34" charset="0"/>
                          <a:ea typeface="Inter" pitchFamily="34" charset="-122"/>
                          <a:cs typeface="Inter" pitchFamily="34" charset="-120"/>
                        </a:rPr>
                        <a:t>Weak evidence could become a confident guess</a:t>
                      </a:r>
                      <a:endParaRPr lang="en-US" sz="115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EEF2FB"/>
                    </a:solidFill>
                  </a:tcPr>
                </a:tc>
                <a:tc>
                  <a:txBody>
                    <a:bodyPr/>
                    <a:lstStyle/>
                    <a:p>
                      <a:pPr marL="0" indent="0">
                        <a:buNone/>
                      </a:pPr>
                      <a:r>
                        <a:rPr lang="en-US" sz="1150" dirty="0">
                          <a:solidFill>
                            <a:srgbClr val="4A5578"/>
                          </a:solidFill>
                          <a:latin typeface="Inter" pitchFamily="34" charset="0"/>
                          <a:ea typeface="Inter" pitchFamily="34" charset="-122"/>
                          <a:cs typeface="Inter" pitchFamily="34" charset="-120"/>
                        </a:rPr>
                        <a:t>Threshold gate, fail-closed validation, escalate to a human</a:t>
                      </a:r>
                      <a:endParaRPr lang="en-US" sz="115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EEF2FB"/>
                    </a:solidFill>
                  </a:tcPr>
                </a:tc>
                <a:tc>
                  <a:txBody>
                    <a:bodyPr/>
                    <a:lstStyle/>
                    <a:p>
                      <a:pPr marL="0" indent="0">
                        <a:buNone/>
                      </a:pPr>
                      <a:r>
                        <a:rPr lang="en-US" sz="1150" dirty="0">
                          <a:solidFill>
                            <a:srgbClr val="4A5578"/>
                          </a:solidFill>
                          <a:latin typeface="Inter" pitchFamily="34" charset="0"/>
                          <a:ea typeface="Inter" pitchFamily="34" charset="-122"/>
                          <a:cs typeface="Inter" pitchFamily="34" charset="-120"/>
                        </a:rPr>
                        <a:t>Confidence is a heuristic, so a human keeps the final call</a:t>
                      </a:r>
                      <a:endParaRPr lang="en-US" sz="115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EEF2FB"/>
                    </a:solidFill>
                  </a:tcPr>
                </a:tc>
                <a:extLst>
                  <a:ext uri="{0D108BD9-81ED-4DB2-BD59-A6C34878D82A}">
                    <a16:rowId xmlns:a16="http://schemas.microsoft.com/office/drawing/2014/main" val="10002"/>
                  </a:ext>
                </a:extLst>
              </a:tr>
              <a:tr h="960120">
                <a:tc>
                  <a:txBody>
                    <a:bodyPr/>
                    <a:lstStyle/>
                    <a:p>
                      <a:pPr marL="0" indent="0">
                        <a:buNone/>
                      </a:pPr>
                      <a:r>
                        <a:rPr lang="en-US" sz="1150" b="1" dirty="0">
                          <a:solidFill>
                            <a:srgbClr val="1F2761"/>
                          </a:solidFill>
                          <a:latin typeface="Inter" pitchFamily="34" charset="0"/>
                          <a:ea typeface="Inter" pitchFamily="34" charset="-122"/>
                          <a:cs typeface="Inter" pitchFamily="34" charset="-120"/>
                        </a:rPr>
                        <a:t>A public tunnel is fragile for live use</a:t>
                      </a:r>
                      <a:endParaRPr lang="en-US" sz="115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FDFEFF"/>
                    </a:solidFill>
                  </a:tcPr>
                </a:tc>
                <a:tc>
                  <a:txBody>
                    <a:bodyPr/>
                    <a:lstStyle/>
                    <a:p>
                      <a:pPr marL="0" indent="0">
                        <a:buNone/>
                      </a:pPr>
                      <a:r>
                        <a:rPr lang="en-US" sz="1150" dirty="0">
                          <a:solidFill>
                            <a:srgbClr val="4A5578"/>
                          </a:solidFill>
                          <a:latin typeface="Inter" pitchFamily="34" charset="0"/>
                          <a:ea typeface="Inter" pitchFamily="34" charset="-122"/>
                          <a:cs typeface="Inter" pitchFamily="34" charset="-120"/>
                        </a:rPr>
                        <a:t>ngrok in dev, plus a written fallback: manual triage and retry</a:t>
                      </a:r>
                      <a:endParaRPr lang="en-US" sz="1150" dirty="0">
                        <a:latin typeface="Inter" charset="0"/>
                        <a:ea typeface="Inter"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FDFEFF"/>
                    </a:solidFill>
                  </a:tcPr>
                </a:tc>
                <a:tc>
                  <a:txBody>
                    <a:bodyPr/>
                    <a:lstStyle/>
                    <a:p>
                      <a:pPr marL="0" indent="0">
                        <a:buNone/>
                      </a:pPr>
                      <a:r>
                        <a:rPr lang="en-US" sz="1150" dirty="0">
                          <a:solidFill>
                            <a:srgbClr val="4A5578"/>
                          </a:solidFill>
                          <a:latin typeface="Inter" pitchFamily="34" charset="0"/>
                          <a:ea typeface="Inter" pitchFamily="34" charset="-122"/>
                          <a:cs typeface="Inter" pitchFamily="34" charset="-120"/>
                        </a:rPr>
                        <a:t>Plan for failure early; hardened hosting comes next</a:t>
                      </a:r>
                      <a:endParaRPr lang="en-US" sz="1150" dirty="0">
                        <a:latin typeface="Inter" charset="0"/>
                        <a:ea typeface="Cambria" panose="02040503050406030204" pitchFamily="18" charset="0"/>
                        <a:cs typeface="Inter" charset="0"/>
                      </a:endParaRPr>
                    </a:p>
                  </a:txBody>
                  <a:tcPr marL="128016" marR="128016" marT="0" marB="0" anchor="ctr">
                    <a:lnL w="9525" cap="flat" cmpd="sng" algn="ctr">
                      <a:solidFill>
                        <a:srgbClr val="C5CAD8"/>
                      </a:solidFill>
                      <a:prstDash val="solid"/>
                      <a:round/>
                      <a:headEnd type="none" w="med" len="med"/>
                      <a:tailEnd type="none" w="med" len="med"/>
                    </a:lnL>
                    <a:lnR w="9525" cap="flat" cmpd="sng" algn="ctr">
                      <a:solidFill>
                        <a:srgbClr val="C5CAD8"/>
                      </a:solidFill>
                      <a:prstDash val="solid"/>
                      <a:round/>
                      <a:headEnd type="none" w="med" len="med"/>
                      <a:tailEnd type="none" w="med" len="med"/>
                    </a:lnR>
                    <a:lnT w="9525" cap="flat" cmpd="sng" algn="ctr">
                      <a:solidFill>
                        <a:srgbClr val="C5CAD8"/>
                      </a:solidFill>
                      <a:prstDash val="solid"/>
                      <a:round/>
                      <a:headEnd type="none" w="med" len="med"/>
                      <a:tailEnd type="none" w="med" len="med"/>
                    </a:lnT>
                    <a:lnB w="9525" cap="flat" cmpd="sng" algn="ctr">
                      <a:solidFill>
                        <a:srgbClr val="C5CAD8"/>
                      </a:solidFill>
                      <a:prstDash val="solid"/>
                      <a:round/>
                      <a:headEnd type="none" w="med" len="med"/>
                      <a:tailEnd type="none" w="med" len="med"/>
                    </a:lnB>
                    <a:solidFill>
                      <a:srgbClr val="FDFE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11</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NEXT STEPS</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Where this goes next</a:t>
            </a:r>
            <a:endParaRPr lang="en-US" sz="3000" dirty="0"/>
          </a:p>
        </p:txBody>
      </p:sp>
      <p:sp>
        <p:nvSpPr>
          <p:cNvPr id="6" name="Shape 3"/>
          <p:cNvSpPr/>
          <p:nvPr/>
        </p:nvSpPr>
        <p:spPr>
          <a:xfrm>
            <a:off x="612648" y="1371600"/>
            <a:ext cx="2523744" cy="475488"/>
          </a:xfrm>
          <a:prstGeom prst="roundRect">
            <a:avLst>
              <a:gd name="adj" fmla="val 19231"/>
            </a:avLst>
          </a:prstGeom>
          <a:solidFill>
            <a:srgbClr val="0050FF"/>
          </a:solidFill>
          <a:ln/>
        </p:spPr>
        <p:txBody>
          <a:bodyPr/>
          <a:lstStyle/>
          <a:p>
            <a:endParaRPr lang="en-US"/>
          </a:p>
        </p:txBody>
      </p:sp>
      <p:sp>
        <p:nvSpPr>
          <p:cNvPr id="7" name="Text 4"/>
          <p:cNvSpPr txBox="1"/>
          <p:nvPr/>
        </p:nvSpPr>
        <p:spPr>
          <a:xfrm>
            <a:off x="795528" y="1371600"/>
            <a:ext cx="2249424"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Inter" pitchFamily="34" charset="0"/>
                <a:ea typeface="Inter" pitchFamily="34" charset="-122"/>
                <a:cs typeface="Inter" pitchFamily="34" charset="-120"/>
              </a:rPr>
              <a:t>Now</a:t>
            </a:r>
            <a:endParaRPr lang="en-US" sz="1400" dirty="0"/>
          </a:p>
        </p:txBody>
      </p:sp>
      <p:sp>
        <p:nvSpPr>
          <p:cNvPr id="8" name="Shape 5"/>
          <p:cNvSpPr/>
          <p:nvPr/>
        </p:nvSpPr>
        <p:spPr>
          <a:xfrm>
            <a:off x="612648" y="1965960"/>
            <a:ext cx="2523744"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9" name="Text 6"/>
          <p:cNvSpPr txBox="1"/>
          <p:nvPr/>
        </p:nvSpPr>
        <p:spPr>
          <a:xfrm>
            <a:off x="795528" y="2057400"/>
            <a:ext cx="2203704"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Harden hosting</a:t>
            </a:r>
            <a:endParaRPr lang="en-US" sz="1400" dirty="0"/>
          </a:p>
        </p:txBody>
      </p:sp>
      <p:sp>
        <p:nvSpPr>
          <p:cNvPr id="10" name="Text 7"/>
          <p:cNvSpPr txBox="1"/>
          <p:nvPr/>
        </p:nvSpPr>
        <p:spPr>
          <a:xfrm>
            <a:off x="795528" y="2368296"/>
            <a:ext cx="2203704" cy="457200"/>
          </a:xfrm>
          <a:prstGeom prst="rect">
            <a:avLst/>
          </a:prstGeom>
          <a:noFill/>
          <a:ln/>
        </p:spPr>
        <p:txBody>
          <a:bodyPr wrap="square" lIns="0" tIns="0" rIns="0" bIns="0" rtlCol="0" anchor="t"/>
          <a:lstStyle/>
          <a:p>
            <a:pPr marL="0" indent="0" algn="l">
              <a:buNone/>
            </a:pPr>
            <a:r>
              <a:rPr lang="en-US" sz="1150" dirty="0">
                <a:solidFill>
                  <a:srgbClr val="6B7699"/>
                </a:solidFill>
                <a:latin typeface="Inter" pitchFamily="34" charset="0"/>
                <a:ea typeface="Inter" pitchFamily="34" charset="-122"/>
                <a:cs typeface="Inter" pitchFamily="34" charset="-120"/>
              </a:rPr>
              <a:t>Move from ngrok to scalable cloud hosting</a:t>
            </a:r>
            <a:endParaRPr lang="en-US" sz="1150" dirty="0"/>
          </a:p>
        </p:txBody>
      </p:sp>
      <p:sp>
        <p:nvSpPr>
          <p:cNvPr id="11" name="Shape 8"/>
          <p:cNvSpPr/>
          <p:nvPr/>
        </p:nvSpPr>
        <p:spPr>
          <a:xfrm>
            <a:off x="612648" y="2971800"/>
            <a:ext cx="2523744"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12" name="Text 9"/>
          <p:cNvSpPr txBox="1"/>
          <p:nvPr/>
        </p:nvSpPr>
        <p:spPr>
          <a:xfrm>
            <a:off x="795528" y="3063240"/>
            <a:ext cx="2203704"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Secure operations</a:t>
            </a:r>
            <a:endParaRPr lang="en-US" sz="1400" dirty="0"/>
          </a:p>
        </p:txBody>
      </p:sp>
      <p:sp>
        <p:nvSpPr>
          <p:cNvPr id="13" name="Text 10"/>
          <p:cNvSpPr txBox="1"/>
          <p:nvPr/>
        </p:nvSpPr>
        <p:spPr>
          <a:xfrm>
            <a:off x="795528" y="3374136"/>
            <a:ext cx="2203704" cy="457200"/>
          </a:xfrm>
          <a:prstGeom prst="rect">
            <a:avLst/>
          </a:prstGeom>
          <a:noFill/>
          <a:ln/>
        </p:spPr>
        <p:txBody>
          <a:bodyPr wrap="square" lIns="0" tIns="0" rIns="0" bIns="0" rtlCol="0" anchor="t"/>
          <a:lstStyle/>
          <a:p>
            <a:pPr marL="0" indent="0" algn="l">
              <a:buNone/>
            </a:pPr>
            <a:r>
              <a:rPr lang="en-US" sz="1150" dirty="0">
                <a:solidFill>
                  <a:srgbClr val="6B7699"/>
                </a:solidFill>
                <a:latin typeface="Inter" pitchFamily="34" charset="0"/>
                <a:ea typeface="Inter" pitchFamily="34" charset="-122"/>
                <a:cs typeface="Inter" pitchFamily="34" charset="-120"/>
              </a:rPr>
              <a:t>Managed data stores, vaulted secrets</a:t>
            </a:r>
            <a:endParaRPr lang="en-US" sz="1150" dirty="0"/>
          </a:p>
        </p:txBody>
      </p:sp>
      <p:sp>
        <p:nvSpPr>
          <p:cNvPr id="14" name="Shape 11"/>
          <p:cNvSpPr/>
          <p:nvPr/>
        </p:nvSpPr>
        <p:spPr>
          <a:xfrm>
            <a:off x="3310128" y="1371600"/>
            <a:ext cx="2523744" cy="475488"/>
          </a:xfrm>
          <a:prstGeom prst="roundRect">
            <a:avLst>
              <a:gd name="adj" fmla="val 19231"/>
            </a:avLst>
          </a:prstGeom>
          <a:solidFill>
            <a:srgbClr val="9FB3EC"/>
          </a:solidFill>
          <a:ln/>
        </p:spPr>
        <p:txBody>
          <a:bodyPr/>
          <a:lstStyle/>
          <a:p>
            <a:endParaRPr lang="en-US"/>
          </a:p>
        </p:txBody>
      </p:sp>
      <p:sp>
        <p:nvSpPr>
          <p:cNvPr id="15" name="Text 12"/>
          <p:cNvSpPr txBox="1"/>
          <p:nvPr/>
        </p:nvSpPr>
        <p:spPr>
          <a:xfrm>
            <a:off x="3493008" y="1371600"/>
            <a:ext cx="224942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Next</a:t>
            </a:r>
            <a:endParaRPr lang="en-US" sz="1400" dirty="0"/>
          </a:p>
        </p:txBody>
      </p:sp>
      <p:sp>
        <p:nvSpPr>
          <p:cNvPr id="16" name="Shape 13"/>
          <p:cNvSpPr/>
          <p:nvPr/>
        </p:nvSpPr>
        <p:spPr>
          <a:xfrm>
            <a:off x="3310128" y="1965960"/>
            <a:ext cx="2523744"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17" name="Text 14"/>
          <p:cNvSpPr txBox="1"/>
          <p:nvPr/>
        </p:nvSpPr>
        <p:spPr>
          <a:xfrm>
            <a:off x="3493008" y="2057400"/>
            <a:ext cx="2203704"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Learn from fulfillers</a:t>
            </a:r>
            <a:endParaRPr lang="en-US" sz="1400" dirty="0"/>
          </a:p>
        </p:txBody>
      </p:sp>
      <p:sp>
        <p:nvSpPr>
          <p:cNvPr id="18" name="Text 15"/>
          <p:cNvSpPr txBox="1"/>
          <p:nvPr/>
        </p:nvSpPr>
        <p:spPr>
          <a:xfrm>
            <a:off x="3493008" y="2368296"/>
            <a:ext cx="2203704" cy="457200"/>
          </a:xfrm>
          <a:prstGeom prst="rect">
            <a:avLst/>
          </a:prstGeom>
          <a:noFill/>
          <a:ln/>
        </p:spPr>
        <p:txBody>
          <a:bodyPr wrap="square" lIns="0" tIns="0" rIns="0" bIns="0" rtlCol="0" anchor="t"/>
          <a:lstStyle/>
          <a:p>
            <a:pPr marL="0" indent="0" algn="l">
              <a:buNone/>
            </a:pPr>
            <a:r>
              <a:rPr lang="en-US" sz="1150" dirty="0">
                <a:solidFill>
                  <a:srgbClr val="6B7699"/>
                </a:solidFill>
                <a:latin typeface="Inter" pitchFamily="34" charset="0"/>
                <a:ea typeface="Inter" pitchFamily="34" charset="-122"/>
                <a:cs typeface="Inter" pitchFamily="34" charset="-120"/>
              </a:rPr>
              <a:t>Capture approve, edit, reject as feedback</a:t>
            </a:r>
            <a:endParaRPr lang="en-US" sz="1150" dirty="0"/>
          </a:p>
        </p:txBody>
      </p:sp>
      <p:sp>
        <p:nvSpPr>
          <p:cNvPr id="19" name="Shape 16"/>
          <p:cNvSpPr/>
          <p:nvPr/>
        </p:nvSpPr>
        <p:spPr>
          <a:xfrm>
            <a:off x="3310128" y="2971800"/>
            <a:ext cx="2523744"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20" name="Text 17"/>
          <p:cNvSpPr txBox="1"/>
          <p:nvPr/>
        </p:nvSpPr>
        <p:spPr>
          <a:xfrm>
            <a:off x="3493008" y="3063240"/>
            <a:ext cx="2203704"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Calibrate confidence</a:t>
            </a:r>
            <a:endParaRPr lang="en-US" sz="1400" dirty="0"/>
          </a:p>
        </p:txBody>
      </p:sp>
      <p:sp>
        <p:nvSpPr>
          <p:cNvPr id="21" name="Text 18"/>
          <p:cNvSpPr txBox="1"/>
          <p:nvPr/>
        </p:nvSpPr>
        <p:spPr>
          <a:xfrm>
            <a:off x="3493008" y="3374136"/>
            <a:ext cx="2203704" cy="457200"/>
          </a:xfrm>
          <a:prstGeom prst="rect">
            <a:avLst/>
          </a:prstGeom>
          <a:noFill/>
          <a:ln/>
        </p:spPr>
        <p:txBody>
          <a:bodyPr wrap="square" lIns="0" tIns="0" rIns="0" bIns="0" rtlCol="0" anchor="t"/>
          <a:lstStyle/>
          <a:p>
            <a:pPr marL="0" indent="0" algn="l">
              <a:buNone/>
            </a:pPr>
            <a:r>
              <a:rPr lang="en-US" sz="1150" dirty="0">
                <a:solidFill>
                  <a:srgbClr val="6B7699"/>
                </a:solidFill>
                <a:latin typeface="Inter" pitchFamily="34" charset="0"/>
                <a:ea typeface="Inter" pitchFamily="34" charset="-122"/>
                <a:cs typeface="Inter" pitchFamily="34" charset="-120"/>
              </a:rPr>
              <a:t>Compare confidence with real outcomes</a:t>
            </a:r>
            <a:endParaRPr lang="en-US" sz="1150" dirty="0"/>
          </a:p>
        </p:txBody>
      </p:sp>
      <p:sp>
        <p:nvSpPr>
          <p:cNvPr id="22" name="Shape 19"/>
          <p:cNvSpPr/>
          <p:nvPr/>
        </p:nvSpPr>
        <p:spPr>
          <a:xfrm>
            <a:off x="6007608" y="1371600"/>
            <a:ext cx="2523744" cy="475488"/>
          </a:xfrm>
          <a:prstGeom prst="roundRect">
            <a:avLst>
              <a:gd name="adj" fmla="val 19231"/>
            </a:avLst>
          </a:prstGeom>
          <a:solidFill>
            <a:srgbClr val="D4DFF8"/>
          </a:solidFill>
          <a:ln/>
        </p:spPr>
        <p:txBody>
          <a:bodyPr/>
          <a:lstStyle/>
          <a:p>
            <a:endParaRPr lang="en-US"/>
          </a:p>
        </p:txBody>
      </p:sp>
      <p:sp>
        <p:nvSpPr>
          <p:cNvPr id="23" name="Text 20"/>
          <p:cNvSpPr txBox="1"/>
          <p:nvPr/>
        </p:nvSpPr>
        <p:spPr>
          <a:xfrm>
            <a:off x="6190488" y="1371600"/>
            <a:ext cx="224942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Later</a:t>
            </a:r>
            <a:endParaRPr lang="en-US" sz="1400" dirty="0"/>
          </a:p>
        </p:txBody>
      </p:sp>
      <p:sp>
        <p:nvSpPr>
          <p:cNvPr id="24" name="Shape 21"/>
          <p:cNvSpPr/>
          <p:nvPr/>
        </p:nvSpPr>
        <p:spPr>
          <a:xfrm>
            <a:off x="6007608" y="1965960"/>
            <a:ext cx="2523744"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25" name="Text 22"/>
          <p:cNvSpPr txBox="1"/>
          <p:nvPr/>
        </p:nvSpPr>
        <p:spPr>
          <a:xfrm>
            <a:off x="6190488" y="2057400"/>
            <a:ext cx="2203704"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Wider coverage</a:t>
            </a:r>
            <a:endParaRPr lang="en-US" sz="1400" dirty="0"/>
          </a:p>
        </p:txBody>
      </p:sp>
      <p:sp>
        <p:nvSpPr>
          <p:cNvPr id="26" name="Text 23"/>
          <p:cNvSpPr txBox="1"/>
          <p:nvPr/>
        </p:nvSpPr>
        <p:spPr>
          <a:xfrm>
            <a:off x="6190488" y="2368296"/>
            <a:ext cx="2203704" cy="457200"/>
          </a:xfrm>
          <a:prstGeom prst="rect">
            <a:avLst/>
          </a:prstGeom>
          <a:noFill/>
          <a:ln/>
        </p:spPr>
        <p:txBody>
          <a:bodyPr wrap="square" lIns="0" tIns="0" rIns="0" bIns="0" rtlCol="0" anchor="t"/>
          <a:lstStyle/>
          <a:p>
            <a:pPr marL="0" indent="0" algn="l">
              <a:buNone/>
            </a:pPr>
            <a:r>
              <a:rPr lang="en-US" sz="1150" dirty="0">
                <a:solidFill>
                  <a:srgbClr val="6B7699"/>
                </a:solidFill>
                <a:latin typeface="Inter" pitchFamily="34" charset="0"/>
                <a:ea typeface="Inter" pitchFamily="34" charset="-122"/>
                <a:cs typeface="Inter" pitchFamily="34" charset="-120"/>
              </a:rPr>
              <a:t>More incident categories and KB sources</a:t>
            </a:r>
            <a:endParaRPr lang="en-US" sz="1150" dirty="0"/>
          </a:p>
        </p:txBody>
      </p:sp>
      <p:sp>
        <p:nvSpPr>
          <p:cNvPr id="27" name="Shape 24"/>
          <p:cNvSpPr/>
          <p:nvPr/>
        </p:nvSpPr>
        <p:spPr>
          <a:xfrm>
            <a:off x="6007608" y="2971800"/>
            <a:ext cx="2523744" cy="896112"/>
          </a:xfrm>
          <a:prstGeom prst="roundRect">
            <a:avLst>
              <a:gd name="adj" fmla="val 11224"/>
            </a:avLst>
          </a:prstGeom>
          <a:solidFill>
            <a:srgbClr val="FDFEFF"/>
          </a:solidFill>
          <a:ln w="9525">
            <a:solidFill>
              <a:srgbClr val="E0E4F2"/>
            </a:solidFill>
            <a:prstDash val="solid"/>
          </a:ln>
        </p:spPr>
        <p:txBody>
          <a:bodyPr/>
          <a:lstStyle/>
          <a:p>
            <a:endParaRPr lang="en-US"/>
          </a:p>
        </p:txBody>
      </p:sp>
      <p:sp>
        <p:nvSpPr>
          <p:cNvPr id="28" name="Text 25"/>
          <p:cNvSpPr txBox="1"/>
          <p:nvPr/>
        </p:nvSpPr>
        <p:spPr>
          <a:xfrm>
            <a:off x="6190488" y="3063240"/>
            <a:ext cx="2203704" cy="274320"/>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Quality dashboards</a:t>
            </a:r>
            <a:endParaRPr lang="en-US" sz="1400" dirty="0"/>
          </a:p>
        </p:txBody>
      </p:sp>
      <p:sp>
        <p:nvSpPr>
          <p:cNvPr id="29" name="Text 26"/>
          <p:cNvSpPr txBox="1"/>
          <p:nvPr/>
        </p:nvSpPr>
        <p:spPr>
          <a:xfrm>
            <a:off x="6190488" y="3374136"/>
            <a:ext cx="2203704" cy="457200"/>
          </a:xfrm>
          <a:prstGeom prst="rect">
            <a:avLst/>
          </a:prstGeom>
          <a:noFill/>
          <a:ln/>
        </p:spPr>
        <p:txBody>
          <a:bodyPr wrap="square" lIns="0" tIns="0" rIns="0" bIns="0" rtlCol="0" anchor="t"/>
          <a:lstStyle/>
          <a:p>
            <a:pPr marL="0" indent="0" algn="l">
              <a:buNone/>
            </a:pPr>
            <a:r>
              <a:rPr lang="en-US" sz="1150" dirty="0">
                <a:solidFill>
                  <a:srgbClr val="6B7699"/>
                </a:solidFill>
                <a:latin typeface="Inter" pitchFamily="34" charset="0"/>
                <a:ea typeface="Inter" pitchFamily="34" charset="-122"/>
                <a:cs typeface="Inter" pitchFamily="34" charset="-120"/>
              </a:rPr>
              <a:t>Acceptance rate and latency from traces</a:t>
            </a:r>
            <a:endParaRPr lang="en-US" sz="1150" dirty="0"/>
          </a:p>
        </p:txBody>
      </p:sp>
      <p:sp>
        <p:nvSpPr>
          <p:cNvPr id="30" name="Shape 27"/>
          <p:cNvSpPr/>
          <p:nvPr/>
        </p:nvSpPr>
        <p:spPr>
          <a:xfrm>
            <a:off x="612648" y="4069080"/>
            <a:ext cx="7918704" cy="640080"/>
          </a:xfrm>
          <a:prstGeom prst="roundRect">
            <a:avLst>
              <a:gd name="adj" fmla="val 15714"/>
            </a:avLst>
          </a:prstGeom>
          <a:solidFill>
            <a:srgbClr val="1F2761"/>
          </a:solidFill>
          <a:ln/>
        </p:spPr>
        <p:txBody>
          <a:bodyPr/>
          <a:lstStyle/>
          <a:p>
            <a:endParaRPr lang="en-US"/>
          </a:p>
        </p:txBody>
      </p:sp>
      <p:sp>
        <p:nvSpPr>
          <p:cNvPr id="31" name="Text 28"/>
          <p:cNvSpPr txBox="1"/>
          <p:nvPr/>
        </p:nvSpPr>
        <p:spPr>
          <a:xfrm>
            <a:off x="822960" y="4069080"/>
            <a:ext cx="1097280" cy="640080"/>
          </a:xfrm>
          <a:prstGeom prst="rect">
            <a:avLst/>
          </a:prstGeom>
          <a:noFill/>
          <a:ln/>
        </p:spPr>
        <p:txBody>
          <a:bodyPr wrap="square" lIns="0" tIns="0" rIns="0" bIns="0" rtlCol="0" anchor="ctr"/>
          <a:lstStyle/>
          <a:p>
            <a:pPr marL="0" indent="0" algn="l">
              <a:buNone/>
            </a:pPr>
            <a:r>
              <a:rPr lang="en-US" sz="1100" b="1" dirty="0">
                <a:solidFill>
                  <a:srgbClr val="26CCC4"/>
                </a:solidFill>
                <a:latin typeface="Inter" pitchFamily="34" charset="0"/>
                <a:ea typeface="Inter" pitchFamily="34" charset="-122"/>
                <a:cs typeface="Inter" pitchFamily="34" charset="-120"/>
              </a:rPr>
              <a:t>OUR ASK</a:t>
            </a:r>
            <a:endParaRPr lang="en-US" sz="1100" dirty="0"/>
          </a:p>
        </p:txBody>
      </p:sp>
      <p:sp>
        <p:nvSpPr>
          <p:cNvPr id="32" name="Text 29"/>
          <p:cNvSpPr txBox="1"/>
          <p:nvPr/>
        </p:nvSpPr>
        <p:spPr>
          <a:xfrm>
            <a:off x="1828800" y="4069080"/>
            <a:ext cx="6583680" cy="640080"/>
          </a:xfrm>
          <a:prstGeom prst="rect">
            <a:avLst/>
          </a:prstGeom>
          <a:noFill/>
          <a:ln/>
        </p:spPr>
        <p:txBody>
          <a:bodyPr wrap="square" lIns="0" tIns="0" rIns="0" bIns="0" rtlCol="0" anchor="ctr"/>
          <a:lstStyle/>
          <a:p>
            <a:pPr marL="0" indent="0" algn="l">
              <a:buNone/>
            </a:pPr>
            <a:r>
              <a:rPr lang="en-US" sz="1300" dirty="0">
                <a:solidFill>
                  <a:srgbClr val="E7EEFB"/>
                </a:solidFill>
                <a:latin typeface="Inter" pitchFamily="34" charset="0"/>
                <a:ea typeface="Inter" pitchFamily="34" charset="-122"/>
                <a:cs typeface="Inter" pitchFamily="34" charset="-120"/>
              </a:rPr>
              <a:t>Feedback from IT service-desk teams and a pilot environment to try BARQ on real tickets.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7EEFB"/>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12</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2743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SUMMARY</a:t>
            </a:r>
            <a:endParaRPr lang="en-US" sz="1100" dirty="0"/>
          </a:p>
        </p:txBody>
      </p:sp>
      <p:sp>
        <p:nvSpPr>
          <p:cNvPr id="5" name="Text 2"/>
          <p:cNvSpPr txBox="1"/>
          <p:nvPr/>
        </p:nvSpPr>
        <p:spPr>
          <a:xfrm>
            <a:off x="612648" y="822960"/>
            <a:ext cx="7498080" cy="1005840"/>
          </a:xfrm>
          <a:prstGeom prst="rect">
            <a:avLst/>
          </a:prstGeom>
          <a:noFill/>
          <a:ln/>
        </p:spPr>
        <p:txBody>
          <a:bodyPr wrap="square" lIns="0" tIns="0" rIns="0" bIns="0" rtlCol="0" anchor="t"/>
          <a:lstStyle/>
          <a:p>
            <a:pPr marL="0" indent="0" algn="l">
              <a:lnSpc>
                <a:spcPct val="105000"/>
              </a:lnSpc>
              <a:buNone/>
            </a:pPr>
            <a:r>
              <a:rPr lang="en-US" sz="3000" b="1" dirty="0">
                <a:solidFill>
                  <a:srgbClr val="1F2761"/>
                </a:solidFill>
                <a:latin typeface="Inter" pitchFamily="34" charset="0"/>
                <a:ea typeface="Inter" pitchFamily="34" charset="-122"/>
                <a:cs typeface="Inter" pitchFamily="34" charset="-120"/>
              </a:rPr>
              <a:t>BARQ G3: faster triage,</a:t>
            </a:r>
            <a:endParaRPr lang="en-US" sz="3000" dirty="0"/>
          </a:p>
          <a:p>
            <a:pPr marL="0" indent="0" algn="l">
              <a:lnSpc>
                <a:spcPct val="105000"/>
              </a:lnSpc>
              <a:buNone/>
            </a:pPr>
            <a:r>
              <a:rPr lang="en-US" sz="3000" b="1" dirty="0">
                <a:solidFill>
                  <a:srgbClr val="1F2761"/>
                </a:solidFill>
                <a:latin typeface="Inter" pitchFamily="34" charset="0"/>
                <a:ea typeface="Inter" pitchFamily="34" charset="-122"/>
                <a:cs typeface="Inter" pitchFamily="34" charset="-120"/>
              </a:rPr>
              <a:t>a human always in charge</a:t>
            </a:r>
            <a:endParaRPr lang="en-US" sz="3000" dirty="0"/>
          </a:p>
        </p:txBody>
      </p:sp>
      <p:sp>
        <p:nvSpPr>
          <p:cNvPr id="6" name="Shape 3"/>
          <p:cNvSpPr/>
          <p:nvPr/>
        </p:nvSpPr>
        <p:spPr>
          <a:xfrm>
            <a:off x="612648" y="2103120"/>
            <a:ext cx="2350008" cy="457200"/>
          </a:xfrm>
          <a:prstGeom prst="roundRect">
            <a:avLst>
              <a:gd name="adj" fmla="val 44000"/>
            </a:avLst>
          </a:prstGeom>
          <a:solidFill>
            <a:srgbClr val="FFFFFF"/>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795528" y="2267712"/>
            <a:ext cx="128016" cy="128016"/>
          </a:xfrm>
          <a:prstGeom prst="rect">
            <a:avLst/>
          </a:prstGeom>
        </p:spPr>
      </p:pic>
      <p:sp>
        <p:nvSpPr>
          <p:cNvPr id="8" name="Text 4"/>
          <p:cNvSpPr txBox="1"/>
          <p:nvPr/>
        </p:nvSpPr>
        <p:spPr>
          <a:xfrm>
            <a:off x="1033272" y="2103120"/>
            <a:ext cx="1892808" cy="457200"/>
          </a:xfrm>
          <a:prstGeom prst="rect">
            <a:avLst/>
          </a:prstGeom>
          <a:noFill/>
          <a:ln/>
        </p:spPr>
        <p:txBody>
          <a:bodyPr wrap="square" lIns="0" tIns="0" rIns="0" bIns="0" rtlCol="0" anchor="ctr"/>
          <a:lstStyle/>
          <a:p>
            <a:pPr marL="0" indent="0" algn="l">
              <a:buNone/>
            </a:pPr>
            <a:r>
              <a:rPr lang="en-US" sz="1200" b="1" dirty="0">
                <a:solidFill>
                  <a:srgbClr val="1F2761"/>
                </a:solidFill>
                <a:latin typeface="Inter" pitchFamily="34" charset="0"/>
                <a:ea typeface="Inter" pitchFamily="34" charset="-122"/>
                <a:cs typeface="Inter" pitchFamily="34" charset="-120"/>
              </a:rPr>
              <a:t>~20 s to a cited draft</a:t>
            </a:r>
            <a:endParaRPr lang="en-US" sz="1200" dirty="0"/>
          </a:p>
        </p:txBody>
      </p:sp>
      <p:sp>
        <p:nvSpPr>
          <p:cNvPr id="9" name="Shape 5"/>
          <p:cNvSpPr/>
          <p:nvPr/>
        </p:nvSpPr>
        <p:spPr>
          <a:xfrm>
            <a:off x="3072384" y="2103120"/>
            <a:ext cx="2194560" cy="457200"/>
          </a:xfrm>
          <a:prstGeom prst="roundRect">
            <a:avLst>
              <a:gd name="adj" fmla="val 44000"/>
            </a:avLst>
          </a:prstGeom>
          <a:solidFill>
            <a:srgbClr val="FFFFFF"/>
          </a:solidFill>
          <a:ln/>
        </p:spPr>
        <p:txBody>
          <a:bodyPr/>
          <a:lstStyle/>
          <a:p>
            <a:endParaRPr lang="en-US"/>
          </a:p>
        </p:txBody>
      </p:sp>
      <p:pic>
        <p:nvPicPr>
          <p:cNvPr id="10" name="Image 2" descr="preencoded.png"/>
          <p:cNvPicPr>
            <a:picLocks noChangeAspect="1"/>
          </p:cNvPicPr>
          <p:nvPr/>
        </p:nvPicPr>
        <p:blipFill>
          <a:blip r:embed="rId4"/>
          <a:stretch>
            <a:fillRect/>
          </a:stretch>
        </p:blipFill>
        <p:spPr>
          <a:xfrm>
            <a:off x="3255264" y="2267712"/>
            <a:ext cx="128016" cy="128016"/>
          </a:xfrm>
          <a:prstGeom prst="rect">
            <a:avLst/>
          </a:prstGeom>
        </p:spPr>
      </p:pic>
      <p:sp>
        <p:nvSpPr>
          <p:cNvPr id="11" name="Text 6"/>
          <p:cNvSpPr txBox="1"/>
          <p:nvPr/>
        </p:nvSpPr>
        <p:spPr>
          <a:xfrm>
            <a:off x="3493008" y="2103120"/>
            <a:ext cx="1737360" cy="457200"/>
          </a:xfrm>
          <a:prstGeom prst="rect">
            <a:avLst/>
          </a:prstGeom>
          <a:noFill/>
          <a:ln/>
        </p:spPr>
        <p:txBody>
          <a:bodyPr wrap="square" lIns="0" tIns="0" rIns="0" bIns="0" rtlCol="0" anchor="ctr"/>
          <a:lstStyle/>
          <a:p>
            <a:pPr marL="0" indent="0" algn="l">
              <a:buNone/>
            </a:pPr>
            <a:r>
              <a:rPr lang="en-US" sz="1200" b="1" dirty="0">
                <a:solidFill>
                  <a:srgbClr val="1F2761"/>
                </a:solidFill>
                <a:latin typeface="Inter" pitchFamily="34" charset="0"/>
                <a:ea typeface="Inter" pitchFamily="34" charset="-122"/>
                <a:cs typeface="Inter" pitchFamily="34" charset="-120"/>
              </a:rPr>
              <a:t>Idempotent ingestion</a:t>
            </a:r>
            <a:endParaRPr lang="en-US" sz="1200" dirty="0"/>
          </a:p>
        </p:txBody>
      </p:sp>
      <p:sp>
        <p:nvSpPr>
          <p:cNvPr id="12" name="Shape 7"/>
          <p:cNvSpPr/>
          <p:nvPr/>
        </p:nvSpPr>
        <p:spPr>
          <a:xfrm>
            <a:off x="5376672" y="2103120"/>
            <a:ext cx="2583180" cy="457200"/>
          </a:xfrm>
          <a:prstGeom prst="roundRect">
            <a:avLst>
              <a:gd name="adj" fmla="val 44000"/>
            </a:avLst>
          </a:prstGeom>
          <a:solidFill>
            <a:srgbClr val="FFFFFF"/>
          </a:solidFill>
          <a:ln/>
        </p:spPr>
        <p:txBody>
          <a:bodyPr/>
          <a:lstStyle/>
          <a:p>
            <a:endParaRPr lang="en-US"/>
          </a:p>
        </p:txBody>
      </p:sp>
      <p:pic>
        <p:nvPicPr>
          <p:cNvPr id="13" name="Image 3" descr="preencoded.png"/>
          <p:cNvPicPr>
            <a:picLocks noChangeAspect="1"/>
          </p:cNvPicPr>
          <p:nvPr/>
        </p:nvPicPr>
        <p:blipFill>
          <a:blip r:embed="rId4"/>
          <a:stretch>
            <a:fillRect/>
          </a:stretch>
        </p:blipFill>
        <p:spPr>
          <a:xfrm>
            <a:off x="5559552" y="2267712"/>
            <a:ext cx="128016" cy="128016"/>
          </a:xfrm>
          <a:prstGeom prst="rect">
            <a:avLst/>
          </a:prstGeom>
        </p:spPr>
      </p:pic>
      <p:sp>
        <p:nvSpPr>
          <p:cNvPr id="14" name="Text 8"/>
          <p:cNvSpPr txBox="1"/>
          <p:nvPr/>
        </p:nvSpPr>
        <p:spPr>
          <a:xfrm>
            <a:off x="5797296" y="2103120"/>
            <a:ext cx="2125980" cy="457200"/>
          </a:xfrm>
          <a:prstGeom prst="rect">
            <a:avLst/>
          </a:prstGeom>
          <a:noFill/>
          <a:ln/>
        </p:spPr>
        <p:txBody>
          <a:bodyPr wrap="square" lIns="0" tIns="0" rIns="0" bIns="0" rtlCol="0" anchor="ctr"/>
          <a:lstStyle/>
          <a:p>
            <a:pPr marL="0" indent="0" algn="l">
              <a:buNone/>
            </a:pPr>
            <a:r>
              <a:rPr lang="en-US" sz="1200" b="1" dirty="0">
                <a:solidFill>
                  <a:srgbClr val="1F2761"/>
                </a:solidFill>
                <a:latin typeface="Inter" pitchFamily="34" charset="0"/>
                <a:ea typeface="Inter" pitchFamily="34" charset="-122"/>
                <a:cs typeface="Inter" pitchFamily="34" charset="-120"/>
              </a:rPr>
              <a:t>Human approves every call</a:t>
            </a:r>
            <a:endParaRPr lang="en-US" sz="1200" dirty="0"/>
          </a:p>
        </p:txBody>
      </p:sp>
      <p:sp>
        <p:nvSpPr>
          <p:cNvPr id="15" name="Text 9"/>
          <p:cNvSpPr txBox="1"/>
          <p:nvPr/>
        </p:nvSpPr>
        <p:spPr>
          <a:xfrm>
            <a:off x="612648" y="3383280"/>
            <a:ext cx="6400800" cy="548640"/>
          </a:xfrm>
          <a:prstGeom prst="rect">
            <a:avLst/>
          </a:prstGeom>
          <a:noFill/>
          <a:ln/>
        </p:spPr>
        <p:txBody>
          <a:bodyPr wrap="square" lIns="0" tIns="0" rIns="0" bIns="0" rtlCol="0" anchor="ctr"/>
          <a:lstStyle/>
          <a:p>
            <a:pPr marL="0" indent="0" algn="l">
              <a:buNone/>
            </a:pPr>
            <a:r>
              <a:rPr lang="en-US" sz="3000" b="1" dirty="0">
                <a:solidFill>
                  <a:srgbClr val="0050FF"/>
                </a:solidFill>
                <a:latin typeface="Inter" pitchFamily="34" charset="0"/>
                <a:ea typeface="Inter" pitchFamily="34" charset="-122"/>
                <a:cs typeface="Inter" pitchFamily="34" charset="-120"/>
              </a:rPr>
              <a:t>Thank you — questions welcome</a:t>
            </a:r>
            <a:endParaRPr lang="en-US" sz="3000" dirty="0"/>
          </a:p>
        </p:txBody>
      </p:sp>
      <p:sp>
        <p:nvSpPr>
          <p:cNvPr id="16" name="Text 10"/>
          <p:cNvSpPr txBox="1"/>
          <p:nvPr/>
        </p:nvSpPr>
        <p:spPr>
          <a:xfrm>
            <a:off x="612648" y="4023360"/>
            <a:ext cx="6766560" cy="274320"/>
          </a:xfrm>
          <a:prstGeom prst="rect">
            <a:avLst/>
          </a:prstGeom>
          <a:noFill/>
          <a:ln/>
        </p:spPr>
        <p:txBody>
          <a:bodyPr wrap="square" lIns="0" tIns="0" rIns="0" bIns="0" rtlCol="0" anchor="ctr"/>
          <a:lstStyle/>
          <a:p>
            <a:pPr marL="0" indent="0" algn="l">
              <a:buNone/>
            </a:pPr>
            <a:r>
              <a:rPr lang="en-US" sz="1100" dirty="0">
                <a:solidFill>
                  <a:srgbClr val="4A5578"/>
                </a:solidFill>
                <a:latin typeface="Inter" pitchFamily="34" charset="0"/>
                <a:ea typeface="Inter" pitchFamily="34" charset="-122"/>
                <a:cs typeface="Inter" pitchFamily="34" charset="-120"/>
              </a:rPr>
              <a:t>github.com/MoHatemTC/barq-sprints-ai-servicenow-support-assistant-group-3</a:t>
            </a:r>
            <a:endParaRPr lang="en-US" sz="1100" dirty="0"/>
          </a:p>
        </p:txBody>
      </p:sp>
      <p:sp>
        <p:nvSpPr>
          <p:cNvPr id="17" name="Shape 11"/>
          <p:cNvSpPr/>
          <p:nvPr/>
        </p:nvSpPr>
        <p:spPr>
          <a:xfrm>
            <a:off x="7452360" y="3429000"/>
            <a:ext cx="1078992" cy="1078992"/>
          </a:xfrm>
          <a:prstGeom prst="roundRect">
            <a:avLst>
              <a:gd name="adj" fmla="val 8475"/>
            </a:avLst>
          </a:prstGeom>
          <a:solidFill>
            <a:srgbClr val="FFFFFF"/>
          </a:solidFill>
          <a:ln w="15875">
            <a:solidFill>
              <a:srgbClr val="0050FF"/>
            </a:solidFill>
            <a:prstDash val="dash"/>
          </a:ln>
        </p:spPr>
        <p:txBody>
          <a:bodyPr/>
          <a:lstStyle/>
          <a:p>
            <a:endParaRPr lang="en-US"/>
          </a:p>
        </p:txBody>
      </p:sp>
      <p:pic>
        <p:nvPicPr>
          <p:cNvPr id="18" name="Image 4" descr="qr_repo.png"/>
          <p:cNvPicPr>
            <a:picLocks noChangeAspect="1"/>
          </p:cNvPicPr>
          <p:nvPr/>
        </p:nvPicPr>
        <p:blipFill>
          <a:blip r:embed="rId5"/>
          <a:stretch>
            <a:fillRect/>
          </a:stretch>
        </p:blipFill>
        <p:spPr>
          <a:xfrm>
            <a:off x="7534656" y="3511296"/>
            <a:ext cx="914400" cy="914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13</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APPENDIX · INCIDENT TO FEEDBACK (1 OF 2)</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Trace: incident to queue</a:t>
            </a:r>
            <a:endParaRPr lang="en-US" sz="3000" dirty="0"/>
          </a:p>
        </p:txBody>
      </p:sp>
      <p:sp>
        <p:nvSpPr>
          <p:cNvPr id="6" name="Shape 3"/>
          <p:cNvSpPr/>
          <p:nvPr/>
        </p:nvSpPr>
        <p:spPr>
          <a:xfrm>
            <a:off x="612648" y="1371600"/>
            <a:ext cx="1755648" cy="2331720"/>
          </a:xfrm>
          <a:prstGeom prst="roundRect">
            <a:avLst>
              <a:gd name="adj" fmla="val 5729"/>
            </a:avLst>
          </a:prstGeom>
          <a:solidFill>
            <a:srgbClr val="FDFEFF"/>
          </a:solidFill>
          <a:ln w="9525">
            <a:solidFill>
              <a:srgbClr val="E0E4F2"/>
            </a:solidFill>
            <a:prstDash val="solid"/>
          </a:ln>
        </p:spPr>
        <p:txBody>
          <a:bodyPr/>
          <a:lstStyle/>
          <a:p>
            <a:endParaRPr lang="en-US"/>
          </a:p>
        </p:txBody>
      </p:sp>
      <p:sp>
        <p:nvSpPr>
          <p:cNvPr id="7" name="Shape 4"/>
          <p:cNvSpPr/>
          <p:nvPr/>
        </p:nvSpPr>
        <p:spPr>
          <a:xfrm>
            <a:off x="768096" y="1536192"/>
            <a:ext cx="384048" cy="384048"/>
          </a:xfrm>
          <a:prstGeom prst="ellipse">
            <a:avLst/>
          </a:prstGeom>
          <a:solidFill>
            <a:srgbClr val="0050FF"/>
          </a:solidFill>
          <a:ln/>
        </p:spPr>
        <p:txBody>
          <a:bodyPr/>
          <a:lstStyle/>
          <a:p>
            <a:endParaRPr lang="en-US"/>
          </a:p>
        </p:txBody>
      </p:sp>
      <p:sp>
        <p:nvSpPr>
          <p:cNvPr id="8" name="Text 5"/>
          <p:cNvSpPr txBox="1"/>
          <p:nvPr/>
        </p:nvSpPr>
        <p:spPr>
          <a:xfrm>
            <a:off x="768096" y="1536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9" name="Text 6"/>
          <p:cNvSpPr txBox="1"/>
          <p:nvPr/>
        </p:nvSpPr>
        <p:spPr>
          <a:xfrm>
            <a:off x="768096" y="2029968"/>
            <a:ext cx="1499616" cy="502920"/>
          </a:xfrm>
          <a:prstGeom prst="rect">
            <a:avLst/>
          </a:prstGeom>
          <a:noFill/>
          <a:ln/>
        </p:spPr>
        <p:txBody>
          <a:bodyPr wrap="square" lIns="0" tIns="0" rIns="0" bIns="0" rtlCol="0" anchor="t"/>
          <a:lstStyle/>
          <a:p>
            <a:pPr marL="0" indent="0" algn="l">
              <a:buNone/>
            </a:pPr>
            <a:r>
              <a:rPr lang="en-US" sz="1350" b="1" dirty="0">
                <a:solidFill>
                  <a:srgbClr val="1F2761"/>
                </a:solidFill>
                <a:latin typeface="Inter" pitchFamily="34" charset="0"/>
                <a:ea typeface="Inter" pitchFamily="34" charset="-122"/>
                <a:cs typeface="Inter" pitchFamily="34" charset="-120"/>
              </a:rPr>
              <a:t>Incident created</a:t>
            </a:r>
            <a:endParaRPr lang="en-US" sz="1350" dirty="0"/>
          </a:p>
        </p:txBody>
      </p:sp>
      <p:sp>
        <p:nvSpPr>
          <p:cNvPr id="10" name="Text 7"/>
          <p:cNvSpPr txBox="1"/>
          <p:nvPr/>
        </p:nvSpPr>
        <p:spPr>
          <a:xfrm>
            <a:off x="768096" y="2542032"/>
            <a:ext cx="1499616" cy="1097280"/>
          </a:xfrm>
          <a:prstGeom prst="rect">
            <a:avLst/>
          </a:prstGeom>
          <a:noFill/>
          <a:ln/>
        </p:spPr>
        <p:txBody>
          <a:bodyPr wrap="square" lIns="0" tIns="0" rIns="0" bIns="0" rtlCol="0" anchor="t"/>
          <a:lstStyle/>
          <a:p>
            <a:pPr marL="0" indent="0" algn="l">
              <a:lnSpc>
                <a:spcPct val="108000"/>
              </a:lnSpc>
              <a:buNone/>
            </a:pPr>
            <a:r>
              <a:rPr lang="en-US" sz="1150" dirty="0">
                <a:solidFill>
                  <a:srgbClr val="6B7699"/>
                </a:solidFill>
                <a:latin typeface="Inter" pitchFamily="34" charset="0"/>
                <a:ea typeface="Inter" pitchFamily="34" charset="-122"/>
                <a:cs typeface="Inter" pitchFamily="34" charset="-120"/>
              </a:rPr>
              <a:t>Category network, software, hardware or inquiry. Must be active.</a:t>
            </a:r>
            <a:endParaRPr lang="en-US" sz="1150" dirty="0"/>
          </a:p>
        </p:txBody>
      </p:sp>
      <p:sp>
        <p:nvSpPr>
          <p:cNvPr id="11" name="Shape 8"/>
          <p:cNvSpPr/>
          <p:nvPr/>
        </p:nvSpPr>
        <p:spPr>
          <a:xfrm>
            <a:off x="2417064" y="1673352"/>
            <a:ext cx="201168" cy="118872"/>
          </a:xfrm>
          <a:prstGeom prst="rightArrow">
            <a:avLst/>
          </a:prstGeom>
          <a:solidFill>
            <a:srgbClr val="9FB3EC"/>
          </a:solidFill>
          <a:ln/>
        </p:spPr>
        <p:txBody>
          <a:bodyPr/>
          <a:lstStyle/>
          <a:p>
            <a:endParaRPr lang="en-US"/>
          </a:p>
        </p:txBody>
      </p:sp>
      <p:sp>
        <p:nvSpPr>
          <p:cNvPr id="12" name="Shape 9"/>
          <p:cNvSpPr/>
          <p:nvPr/>
        </p:nvSpPr>
        <p:spPr>
          <a:xfrm>
            <a:off x="2667000" y="1371600"/>
            <a:ext cx="1755648" cy="2331720"/>
          </a:xfrm>
          <a:prstGeom prst="roundRect">
            <a:avLst>
              <a:gd name="adj" fmla="val 5729"/>
            </a:avLst>
          </a:prstGeom>
          <a:solidFill>
            <a:srgbClr val="FDFEFF"/>
          </a:solidFill>
          <a:ln w="9525">
            <a:solidFill>
              <a:srgbClr val="E0E4F2"/>
            </a:solidFill>
            <a:prstDash val="solid"/>
          </a:ln>
        </p:spPr>
        <p:txBody>
          <a:bodyPr/>
          <a:lstStyle/>
          <a:p>
            <a:endParaRPr lang="en-US"/>
          </a:p>
        </p:txBody>
      </p:sp>
      <p:sp>
        <p:nvSpPr>
          <p:cNvPr id="13" name="Shape 10"/>
          <p:cNvSpPr/>
          <p:nvPr/>
        </p:nvSpPr>
        <p:spPr>
          <a:xfrm>
            <a:off x="2822448" y="1536192"/>
            <a:ext cx="384048" cy="384048"/>
          </a:xfrm>
          <a:prstGeom prst="ellipse">
            <a:avLst/>
          </a:prstGeom>
          <a:solidFill>
            <a:srgbClr val="0050FF"/>
          </a:solidFill>
          <a:ln/>
        </p:spPr>
        <p:txBody>
          <a:bodyPr/>
          <a:lstStyle/>
          <a:p>
            <a:endParaRPr lang="en-US"/>
          </a:p>
        </p:txBody>
      </p:sp>
      <p:sp>
        <p:nvSpPr>
          <p:cNvPr id="14" name="Text 11"/>
          <p:cNvSpPr txBox="1"/>
          <p:nvPr/>
        </p:nvSpPr>
        <p:spPr>
          <a:xfrm>
            <a:off x="2822448" y="1536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5" name="Text 12"/>
          <p:cNvSpPr txBox="1"/>
          <p:nvPr/>
        </p:nvSpPr>
        <p:spPr>
          <a:xfrm>
            <a:off x="2822448" y="2029968"/>
            <a:ext cx="1499616" cy="502920"/>
          </a:xfrm>
          <a:prstGeom prst="rect">
            <a:avLst/>
          </a:prstGeom>
          <a:noFill/>
          <a:ln/>
        </p:spPr>
        <p:txBody>
          <a:bodyPr wrap="square" lIns="0" tIns="0" rIns="0" bIns="0" rtlCol="0" anchor="t"/>
          <a:lstStyle/>
          <a:p>
            <a:pPr marL="0" indent="0" algn="l">
              <a:buNone/>
            </a:pPr>
            <a:r>
              <a:rPr lang="en-US" sz="1350" b="1" dirty="0">
                <a:solidFill>
                  <a:srgbClr val="1F2761"/>
                </a:solidFill>
                <a:latin typeface="Inter" pitchFamily="34" charset="0"/>
                <a:ea typeface="Inter" pitchFamily="34" charset="-122"/>
                <a:cs typeface="Inter" pitchFamily="34" charset="-120"/>
              </a:rPr>
              <a:t>Eligibility check</a:t>
            </a:r>
            <a:endParaRPr lang="en-US" sz="1350" dirty="0"/>
          </a:p>
        </p:txBody>
      </p:sp>
      <p:sp>
        <p:nvSpPr>
          <p:cNvPr id="16" name="Text 13"/>
          <p:cNvSpPr txBox="1"/>
          <p:nvPr/>
        </p:nvSpPr>
        <p:spPr>
          <a:xfrm>
            <a:off x="2822448" y="2542032"/>
            <a:ext cx="1499616" cy="1097280"/>
          </a:xfrm>
          <a:prstGeom prst="rect">
            <a:avLst/>
          </a:prstGeom>
          <a:noFill/>
          <a:ln/>
        </p:spPr>
        <p:txBody>
          <a:bodyPr wrap="square" lIns="0" tIns="0" rIns="0" bIns="0" rtlCol="0" anchor="t"/>
          <a:lstStyle/>
          <a:p>
            <a:pPr marL="0" indent="0" algn="l">
              <a:lnSpc>
                <a:spcPct val="108000"/>
              </a:lnSpc>
              <a:buNone/>
            </a:pPr>
            <a:r>
              <a:rPr lang="en-US" sz="1150" dirty="0">
                <a:solidFill>
                  <a:srgbClr val="6B7699"/>
                </a:solidFill>
                <a:latin typeface="Inter" pitchFamily="34" charset="0"/>
                <a:ea typeface="Inter" pitchFamily="34" charset="-122"/>
                <a:cs typeface="Inter" pitchFamily="34" charset="-120"/>
              </a:rPr>
              <a:t>Skipped if already AI-processed or in progress, suggested or escalated.</a:t>
            </a:r>
            <a:endParaRPr lang="en-US" sz="1150" dirty="0"/>
          </a:p>
        </p:txBody>
      </p:sp>
      <p:sp>
        <p:nvSpPr>
          <p:cNvPr id="17" name="Shape 14"/>
          <p:cNvSpPr/>
          <p:nvPr/>
        </p:nvSpPr>
        <p:spPr>
          <a:xfrm>
            <a:off x="4471416" y="1673352"/>
            <a:ext cx="201168" cy="118872"/>
          </a:xfrm>
          <a:prstGeom prst="rightArrow">
            <a:avLst/>
          </a:prstGeom>
          <a:solidFill>
            <a:srgbClr val="9FB3EC"/>
          </a:solidFill>
          <a:ln/>
        </p:spPr>
        <p:txBody>
          <a:bodyPr/>
          <a:lstStyle/>
          <a:p>
            <a:endParaRPr lang="en-US"/>
          </a:p>
        </p:txBody>
      </p:sp>
      <p:sp>
        <p:nvSpPr>
          <p:cNvPr id="18" name="Shape 15"/>
          <p:cNvSpPr/>
          <p:nvPr/>
        </p:nvSpPr>
        <p:spPr>
          <a:xfrm>
            <a:off x="4721352" y="1371600"/>
            <a:ext cx="1755648" cy="2331720"/>
          </a:xfrm>
          <a:prstGeom prst="roundRect">
            <a:avLst>
              <a:gd name="adj" fmla="val 5729"/>
            </a:avLst>
          </a:prstGeom>
          <a:solidFill>
            <a:srgbClr val="FDFEFF"/>
          </a:solidFill>
          <a:ln w="9525">
            <a:solidFill>
              <a:srgbClr val="E0E4F2"/>
            </a:solidFill>
            <a:prstDash val="solid"/>
          </a:ln>
        </p:spPr>
        <p:txBody>
          <a:bodyPr/>
          <a:lstStyle/>
          <a:p>
            <a:endParaRPr lang="en-US"/>
          </a:p>
        </p:txBody>
      </p:sp>
      <p:sp>
        <p:nvSpPr>
          <p:cNvPr id="19" name="Shape 16"/>
          <p:cNvSpPr/>
          <p:nvPr/>
        </p:nvSpPr>
        <p:spPr>
          <a:xfrm>
            <a:off x="4876800" y="1536192"/>
            <a:ext cx="384048" cy="384048"/>
          </a:xfrm>
          <a:prstGeom prst="ellipse">
            <a:avLst/>
          </a:prstGeom>
          <a:solidFill>
            <a:srgbClr val="0050FF"/>
          </a:solidFill>
          <a:ln/>
        </p:spPr>
        <p:txBody>
          <a:bodyPr/>
          <a:lstStyle/>
          <a:p>
            <a:endParaRPr lang="en-US"/>
          </a:p>
        </p:txBody>
      </p:sp>
      <p:sp>
        <p:nvSpPr>
          <p:cNvPr id="20" name="Text 17"/>
          <p:cNvSpPr txBox="1"/>
          <p:nvPr/>
        </p:nvSpPr>
        <p:spPr>
          <a:xfrm>
            <a:off x="4876800" y="1536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21" name="Text 18"/>
          <p:cNvSpPr txBox="1"/>
          <p:nvPr/>
        </p:nvSpPr>
        <p:spPr>
          <a:xfrm>
            <a:off x="4876800" y="2029968"/>
            <a:ext cx="1499616" cy="502920"/>
          </a:xfrm>
          <a:prstGeom prst="rect">
            <a:avLst/>
          </a:prstGeom>
          <a:noFill/>
          <a:ln/>
        </p:spPr>
        <p:txBody>
          <a:bodyPr wrap="square" lIns="0" tIns="0" rIns="0" bIns="0" rtlCol="0" anchor="t"/>
          <a:lstStyle/>
          <a:p>
            <a:pPr marL="0" indent="0" algn="l">
              <a:buNone/>
            </a:pPr>
            <a:r>
              <a:rPr lang="en-US" sz="1350" b="1" dirty="0">
                <a:solidFill>
                  <a:srgbClr val="1F2761"/>
                </a:solidFill>
                <a:latin typeface="Inter" pitchFamily="34" charset="0"/>
                <a:ea typeface="Inter" pitchFamily="34" charset="-122"/>
                <a:cs typeface="Inter" pitchFamily="34" charset="-120"/>
              </a:rPr>
              <a:t>Sign and send</a:t>
            </a:r>
            <a:endParaRPr lang="en-US" sz="1350" dirty="0"/>
          </a:p>
        </p:txBody>
      </p:sp>
      <p:sp>
        <p:nvSpPr>
          <p:cNvPr id="22" name="Text 19"/>
          <p:cNvSpPr txBox="1"/>
          <p:nvPr/>
        </p:nvSpPr>
        <p:spPr>
          <a:xfrm>
            <a:off x="4876800" y="2542032"/>
            <a:ext cx="1499616" cy="1097280"/>
          </a:xfrm>
          <a:prstGeom prst="rect">
            <a:avLst/>
          </a:prstGeom>
          <a:noFill/>
          <a:ln/>
        </p:spPr>
        <p:txBody>
          <a:bodyPr wrap="square" lIns="0" tIns="0" rIns="0" bIns="0" rtlCol="0" anchor="t"/>
          <a:lstStyle/>
          <a:p>
            <a:pPr marL="0" indent="0" algn="l">
              <a:lnSpc>
                <a:spcPct val="108000"/>
              </a:lnSpc>
              <a:buNone/>
            </a:pPr>
            <a:r>
              <a:rPr lang="en-US" sz="1150" dirty="0">
                <a:solidFill>
                  <a:srgbClr val="6B7699"/>
                </a:solidFill>
                <a:latin typeface="Inter" pitchFamily="34" charset="0"/>
                <a:ea typeface="Inter" pitchFamily="34" charset="-122"/>
                <a:cs typeface="Inter" pitchFamily="34" charset="-120"/>
              </a:rPr>
              <a:t>Business Rule signs the payload (HMAC-SHA256) and POSTs via ngrok.</a:t>
            </a:r>
            <a:endParaRPr lang="en-US" sz="1150" dirty="0"/>
          </a:p>
        </p:txBody>
      </p:sp>
      <p:sp>
        <p:nvSpPr>
          <p:cNvPr id="23" name="Shape 20"/>
          <p:cNvSpPr/>
          <p:nvPr/>
        </p:nvSpPr>
        <p:spPr>
          <a:xfrm>
            <a:off x="6525768" y="1673352"/>
            <a:ext cx="201168" cy="118872"/>
          </a:xfrm>
          <a:prstGeom prst="rightArrow">
            <a:avLst/>
          </a:prstGeom>
          <a:solidFill>
            <a:srgbClr val="9FB3EC"/>
          </a:solidFill>
          <a:ln/>
        </p:spPr>
        <p:txBody>
          <a:bodyPr/>
          <a:lstStyle/>
          <a:p>
            <a:endParaRPr lang="en-US"/>
          </a:p>
        </p:txBody>
      </p:sp>
      <p:sp>
        <p:nvSpPr>
          <p:cNvPr id="24" name="Shape 21"/>
          <p:cNvSpPr/>
          <p:nvPr/>
        </p:nvSpPr>
        <p:spPr>
          <a:xfrm>
            <a:off x="6775704" y="1371600"/>
            <a:ext cx="1755648" cy="2331720"/>
          </a:xfrm>
          <a:prstGeom prst="roundRect">
            <a:avLst>
              <a:gd name="adj" fmla="val 5729"/>
            </a:avLst>
          </a:prstGeom>
          <a:solidFill>
            <a:srgbClr val="FDFEFF"/>
          </a:solidFill>
          <a:ln w="9525">
            <a:solidFill>
              <a:srgbClr val="E0E4F2"/>
            </a:solidFill>
            <a:prstDash val="solid"/>
          </a:ln>
        </p:spPr>
        <p:txBody>
          <a:bodyPr/>
          <a:lstStyle/>
          <a:p>
            <a:endParaRPr lang="en-US"/>
          </a:p>
        </p:txBody>
      </p:sp>
      <p:sp>
        <p:nvSpPr>
          <p:cNvPr id="25" name="Shape 22"/>
          <p:cNvSpPr/>
          <p:nvPr/>
        </p:nvSpPr>
        <p:spPr>
          <a:xfrm>
            <a:off x="6931152" y="1536192"/>
            <a:ext cx="384048" cy="384048"/>
          </a:xfrm>
          <a:prstGeom prst="ellipse">
            <a:avLst/>
          </a:prstGeom>
          <a:solidFill>
            <a:srgbClr val="0050FF"/>
          </a:solidFill>
          <a:ln/>
        </p:spPr>
        <p:txBody>
          <a:bodyPr/>
          <a:lstStyle/>
          <a:p>
            <a:endParaRPr lang="en-US"/>
          </a:p>
        </p:txBody>
      </p:sp>
      <p:sp>
        <p:nvSpPr>
          <p:cNvPr id="26" name="Text 23"/>
          <p:cNvSpPr txBox="1"/>
          <p:nvPr/>
        </p:nvSpPr>
        <p:spPr>
          <a:xfrm>
            <a:off x="6931152" y="1536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7" name="Text 24"/>
          <p:cNvSpPr txBox="1"/>
          <p:nvPr/>
        </p:nvSpPr>
        <p:spPr>
          <a:xfrm>
            <a:off x="6931152" y="2029968"/>
            <a:ext cx="1499616" cy="502920"/>
          </a:xfrm>
          <a:prstGeom prst="rect">
            <a:avLst/>
          </a:prstGeom>
          <a:noFill/>
          <a:ln/>
        </p:spPr>
        <p:txBody>
          <a:bodyPr wrap="square" lIns="0" tIns="0" rIns="0" bIns="0" rtlCol="0" anchor="t"/>
          <a:lstStyle/>
          <a:p>
            <a:pPr marL="0" indent="0" algn="l">
              <a:buNone/>
            </a:pPr>
            <a:r>
              <a:rPr lang="en-US" sz="1350" b="1" dirty="0">
                <a:solidFill>
                  <a:srgbClr val="1F2761"/>
                </a:solidFill>
                <a:latin typeface="Inter" pitchFamily="34" charset="0"/>
                <a:ea typeface="Inter" pitchFamily="34" charset="-122"/>
                <a:cs typeface="Inter" pitchFamily="34" charset="-120"/>
              </a:rPr>
              <a:t>Verify, dedupe</a:t>
            </a:r>
            <a:endParaRPr lang="en-US" sz="1350" dirty="0"/>
          </a:p>
        </p:txBody>
      </p:sp>
      <p:sp>
        <p:nvSpPr>
          <p:cNvPr id="28" name="Text 25"/>
          <p:cNvSpPr txBox="1"/>
          <p:nvPr/>
        </p:nvSpPr>
        <p:spPr>
          <a:xfrm>
            <a:off x="6931152" y="2542032"/>
            <a:ext cx="1499616" cy="1097280"/>
          </a:xfrm>
          <a:prstGeom prst="rect">
            <a:avLst/>
          </a:prstGeom>
          <a:noFill/>
          <a:ln/>
        </p:spPr>
        <p:txBody>
          <a:bodyPr wrap="square" lIns="0" tIns="0" rIns="0" bIns="0" rtlCol="0" anchor="t"/>
          <a:lstStyle/>
          <a:p>
            <a:pPr marL="0" indent="0" algn="l">
              <a:lnSpc>
                <a:spcPct val="108000"/>
              </a:lnSpc>
              <a:buNone/>
            </a:pPr>
            <a:r>
              <a:rPr lang="en-US" sz="1150" dirty="0">
                <a:solidFill>
                  <a:srgbClr val="6B7699"/>
                </a:solidFill>
                <a:latin typeface="Inter" pitchFamily="34" charset="0"/>
                <a:ea typeface="Inter" pitchFamily="34" charset="-122"/>
                <a:cs typeface="Inter" pitchFamily="34" charset="-120"/>
              </a:rPr>
              <a:t>FastAPI verifies X-Signature; Redis drops duplicate events.</a:t>
            </a:r>
            <a:endParaRPr lang="en-US" sz="1150" dirty="0"/>
          </a:p>
        </p:txBody>
      </p:sp>
      <p:sp>
        <p:nvSpPr>
          <p:cNvPr id="29" name="Shape 26"/>
          <p:cNvSpPr/>
          <p:nvPr/>
        </p:nvSpPr>
        <p:spPr>
          <a:xfrm>
            <a:off x="612648" y="3931920"/>
            <a:ext cx="7918704" cy="685800"/>
          </a:xfrm>
          <a:prstGeom prst="roundRect">
            <a:avLst>
              <a:gd name="adj" fmla="val 14667"/>
            </a:avLst>
          </a:prstGeom>
          <a:solidFill>
            <a:srgbClr val="E7EEFB"/>
          </a:solidFill>
          <a:ln/>
        </p:spPr>
        <p:txBody>
          <a:bodyPr/>
          <a:lstStyle/>
          <a:p>
            <a:endParaRPr lang="en-US"/>
          </a:p>
        </p:txBody>
      </p:sp>
      <p:sp>
        <p:nvSpPr>
          <p:cNvPr id="30" name="Text 27"/>
          <p:cNvSpPr txBox="1"/>
          <p:nvPr/>
        </p:nvSpPr>
        <p:spPr>
          <a:xfrm>
            <a:off x="822960" y="3931920"/>
            <a:ext cx="7461504" cy="685800"/>
          </a:xfrm>
          <a:prstGeom prst="rect">
            <a:avLst/>
          </a:prstGeom>
          <a:noFill/>
          <a:ln/>
        </p:spPr>
        <p:txBody>
          <a:bodyPr wrap="square" lIns="0" tIns="0" rIns="0" bIns="0" rtlCol="0" anchor="ctr"/>
          <a:lstStyle/>
          <a:p>
            <a:pPr marL="0" indent="0" algn="l">
              <a:buNone/>
            </a:pPr>
            <a:r>
              <a:rPr lang="en-US" sz="1250" b="1" dirty="0">
                <a:solidFill>
                  <a:srgbClr val="1F2761"/>
                </a:solidFill>
                <a:latin typeface="Inter" pitchFamily="34" charset="0"/>
                <a:ea typeface="Inter" pitchFamily="34" charset="-122"/>
                <a:cs typeface="Inter" pitchFamily="34" charset="-120"/>
              </a:rPr>
              <a:t>Result: </a:t>
            </a:r>
            <a:r>
              <a:rPr lang="en-US" sz="1250" dirty="0">
                <a:solidFill>
                  <a:srgbClr val="4A5578"/>
                </a:solidFill>
                <a:latin typeface="Inter" pitchFamily="34" charset="0"/>
                <a:ea typeface="Inter" pitchFamily="34" charset="-122"/>
                <a:cs typeface="Inter" pitchFamily="34" charset="-120"/>
              </a:rPr>
              <a:t>only genuine, unprocessed, authenticated incidents reach the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14</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APPENDIX · INCIDENT TO FEEDBACK (2 OF 2)</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Trace: queue to fulfiller decision</a:t>
            </a:r>
            <a:endParaRPr lang="en-US" sz="3000" dirty="0"/>
          </a:p>
        </p:txBody>
      </p:sp>
      <p:sp>
        <p:nvSpPr>
          <p:cNvPr id="6" name="Shape 3"/>
          <p:cNvSpPr/>
          <p:nvPr/>
        </p:nvSpPr>
        <p:spPr>
          <a:xfrm>
            <a:off x="612648" y="1371600"/>
            <a:ext cx="1417320" cy="246888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7" name="Shape 4"/>
          <p:cNvSpPr/>
          <p:nvPr/>
        </p:nvSpPr>
        <p:spPr>
          <a:xfrm>
            <a:off x="768096" y="1536192"/>
            <a:ext cx="384048" cy="384048"/>
          </a:xfrm>
          <a:prstGeom prst="ellipse">
            <a:avLst/>
          </a:prstGeom>
          <a:solidFill>
            <a:srgbClr val="0050FF"/>
          </a:solidFill>
          <a:ln/>
        </p:spPr>
        <p:txBody>
          <a:bodyPr/>
          <a:lstStyle/>
          <a:p>
            <a:endParaRPr lang="en-US"/>
          </a:p>
        </p:txBody>
      </p:sp>
      <p:sp>
        <p:nvSpPr>
          <p:cNvPr id="8" name="Text 5"/>
          <p:cNvSpPr txBox="1"/>
          <p:nvPr/>
        </p:nvSpPr>
        <p:spPr>
          <a:xfrm>
            <a:off x="768096" y="1536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5</a:t>
            </a:r>
            <a:endParaRPr lang="en-US" sz="1400" dirty="0"/>
          </a:p>
        </p:txBody>
      </p:sp>
      <p:sp>
        <p:nvSpPr>
          <p:cNvPr id="9" name="Text 6"/>
          <p:cNvSpPr txBox="1"/>
          <p:nvPr/>
        </p:nvSpPr>
        <p:spPr>
          <a:xfrm>
            <a:off x="768096" y="202996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Claim</a:t>
            </a:r>
            <a:endParaRPr lang="en-US" sz="1250" dirty="0"/>
          </a:p>
        </p:txBody>
      </p:sp>
      <p:sp>
        <p:nvSpPr>
          <p:cNvPr id="10" name="Text 7"/>
          <p:cNvSpPr txBox="1"/>
          <p:nvPr/>
        </p:nvSpPr>
        <p:spPr>
          <a:xfrm>
            <a:off x="768096" y="2542032"/>
            <a:ext cx="1161288" cy="123444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Celery worker sets ai_status = in_progress.</a:t>
            </a:r>
            <a:endParaRPr lang="en-US" sz="1100" dirty="0"/>
          </a:p>
        </p:txBody>
      </p:sp>
      <p:sp>
        <p:nvSpPr>
          <p:cNvPr id="11" name="Shape 8"/>
          <p:cNvSpPr/>
          <p:nvPr/>
        </p:nvSpPr>
        <p:spPr>
          <a:xfrm>
            <a:off x="2237994" y="1371600"/>
            <a:ext cx="1417320" cy="246888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12" name="Shape 9"/>
          <p:cNvSpPr/>
          <p:nvPr/>
        </p:nvSpPr>
        <p:spPr>
          <a:xfrm>
            <a:off x="2393442" y="1536192"/>
            <a:ext cx="384048" cy="384048"/>
          </a:xfrm>
          <a:prstGeom prst="ellipse">
            <a:avLst/>
          </a:prstGeom>
          <a:solidFill>
            <a:srgbClr val="0050FF"/>
          </a:solidFill>
          <a:ln/>
        </p:spPr>
        <p:txBody>
          <a:bodyPr/>
          <a:lstStyle/>
          <a:p>
            <a:endParaRPr lang="en-US"/>
          </a:p>
        </p:txBody>
      </p:sp>
      <p:sp>
        <p:nvSpPr>
          <p:cNvPr id="13" name="Text 10"/>
          <p:cNvSpPr txBox="1"/>
          <p:nvPr/>
        </p:nvSpPr>
        <p:spPr>
          <a:xfrm>
            <a:off x="2393442" y="1536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6</a:t>
            </a:r>
            <a:endParaRPr lang="en-US" sz="1400" dirty="0"/>
          </a:p>
        </p:txBody>
      </p:sp>
      <p:sp>
        <p:nvSpPr>
          <p:cNvPr id="14" name="Text 11"/>
          <p:cNvSpPr txBox="1"/>
          <p:nvPr/>
        </p:nvSpPr>
        <p:spPr>
          <a:xfrm>
            <a:off x="2393442" y="202996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Retrieve</a:t>
            </a:r>
            <a:endParaRPr lang="en-US" sz="1250" dirty="0"/>
          </a:p>
        </p:txBody>
      </p:sp>
      <p:sp>
        <p:nvSpPr>
          <p:cNvPr id="15" name="Text 12"/>
          <p:cNvSpPr txBox="1"/>
          <p:nvPr/>
        </p:nvSpPr>
        <p:spPr>
          <a:xfrm>
            <a:off x="2393442" y="2542032"/>
            <a:ext cx="1161288" cy="123444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Qdrant search; threshold gate blocks weak matches.</a:t>
            </a:r>
            <a:endParaRPr lang="en-US" sz="1100" dirty="0"/>
          </a:p>
        </p:txBody>
      </p:sp>
      <p:sp>
        <p:nvSpPr>
          <p:cNvPr id="16" name="Shape 13"/>
          <p:cNvSpPr/>
          <p:nvPr/>
        </p:nvSpPr>
        <p:spPr>
          <a:xfrm>
            <a:off x="3863340" y="1371600"/>
            <a:ext cx="1417320" cy="246888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17" name="Shape 14"/>
          <p:cNvSpPr/>
          <p:nvPr/>
        </p:nvSpPr>
        <p:spPr>
          <a:xfrm>
            <a:off x="4018788" y="1536192"/>
            <a:ext cx="384048" cy="384048"/>
          </a:xfrm>
          <a:prstGeom prst="ellipse">
            <a:avLst/>
          </a:prstGeom>
          <a:solidFill>
            <a:srgbClr val="0050FF"/>
          </a:solidFill>
          <a:ln/>
        </p:spPr>
        <p:txBody>
          <a:bodyPr/>
          <a:lstStyle/>
          <a:p>
            <a:endParaRPr lang="en-US"/>
          </a:p>
        </p:txBody>
      </p:sp>
      <p:sp>
        <p:nvSpPr>
          <p:cNvPr id="18" name="Text 15"/>
          <p:cNvSpPr txBox="1"/>
          <p:nvPr/>
        </p:nvSpPr>
        <p:spPr>
          <a:xfrm>
            <a:off x="4018788" y="1536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7</a:t>
            </a:r>
            <a:endParaRPr lang="en-US" sz="1400" dirty="0"/>
          </a:p>
        </p:txBody>
      </p:sp>
      <p:sp>
        <p:nvSpPr>
          <p:cNvPr id="19" name="Text 16"/>
          <p:cNvSpPr txBox="1"/>
          <p:nvPr/>
        </p:nvSpPr>
        <p:spPr>
          <a:xfrm>
            <a:off x="4018788" y="202996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Reason</a:t>
            </a:r>
            <a:endParaRPr lang="en-US" sz="1250" dirty="0"/>
          </a:p>
        </p:txBody>
      </p:sp>
      <p:sp>
        <p:nvSpPr>
          <p:cNvPr id="20" name="Text 17"/>
          <p:cNvSpPr txBox="1"/>
          <p:nvPr/>
        </p:nvSpPr>
        <p:spPr>
          <a:xfrm>
            <a:off x="4018788" y="2542032"/>
            <a:ext cx="1161288" cy="123444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LangGraph agent: max 5 iterations, read-only tools.</a:t>
            </a:r>
            <a:endParaRPr lang="en-US" sz="1100" dirty="0"/>
          </a:p>
        </p:txBody>
      </p:sp>
      <p:sp>
        <p:nvSpPr>
          <p:cNvPr id="21" name="Shape 18"/>
          <p:cNvSpPr/>
          <p:nvPr/>
        </p:nvSpPr>
        <p:spPr>
          <a:xfrm>
            <a:off x="5488686" y="1371600"/>
            <a:ext cx="1417320" cy="246888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22" name="Shape 19"/>
          <p:cNvSpPr/>
          <p:nvPr/>
        </p:nvSpPr>
        <p:spPr>
          <a:xfrm>
            <a:off x="5644134" y="1536192"/>
            <a:ext cx="384048" cy="384048"/>
          </a:xfrm>
          <a:prstGeom prst="ellipse">
            <a:avLst/>
          </a:prstGeom>
          <a:solidFill>
            <a:srgbClr val="0050FF"/>
          </a:solidFill>
          <a:ln/>
        </p:spPr>
        <p:txBody>
          <a:bodyPr/>
          <a:lstStyle/>
          <a:p>
            <a:endParaRPr lang="en-US"/>
          </a:p>
        </p:txBody>
      </p:sp>
      <p:sp>
        <p:nvSpPr>
          <p:cNvPr id="23" name="Text 20"/>
          <p:cNvSpPr txBox="1"/>
          <p:nvPr/>
        </p:nvSpPr>
        <p:spPr>
          <a:xfrm>
            <a:off x="5644134" y="1536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8</a:t>
            </a:r>
            <a:endParaRPr lang="en-US" sz="1400" dirty="0"/>
          </a:p>
        </p:txBody>
      </p:sp>
      <p:sp>
        <p:nvSpPr>
          <p:cNvPr id="24" name="Text 21"/>
          <p:cNvSpPr txBox="1"/>
          <p:nvPr/>
        </p:nvSpPr>
        <p:spPr>
          <a:xfrm>
            <a:off x="5644134" y="202996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Write back</a:t>
            </a:r>
            <a:endParaRPr lang="en-US" sz="1250" dirty="0"/>
          </a:p>
        </p:txBody>
      </p:sp>
      <p:sp>
        <p:nvSpPr>
          <p:cNvPr id="25" name="Text 22"/>
          <p:cNvSpPr txBox="1"/>
          <p:nvPr/>
        </p:nvSpPr>
        <p:spPr>
          <a:xfrm>
            <a:off x="5644134" y="2542032"/>
            <a:ext cx="1161288" cy="123444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Resolution and confidence written; ai_status = suggested.</a:t>
            </a:r>
            <a:endParaRPr lang="en-US" sz="1100" dirty="0"/>
          </a:p>
        </p:txBody>
      </p:sp>
      <p:sp>
        <p:nvSpPr>
          <p:cNvPr id="26" name="Shape 23"/>
          <p:cNvSpPr/>
          <p:nvPr/>
        </p:nvSpPr>
        <p:spPr>
          <a:xfrm>
            <a:off x="7114032" y="1371600"/>
            <a:ext cx="1417320" cy="246888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27" name="Shape 24"/>
          <p:cNvSpPr/>
          <p:nvPr/>
        </p:nvSpPr>
        <p:spPr>
          <a:xfrm>
            <a:off x="7269480" y="1536192"/>
            <a:ext cx="384048" cy="384048"/>
          </a:xfrm>
          <a:prstGeom prst="ellipse">
            <a:avLst/>
          </a:prstGeom>
          <a:solidFill>
            <a:srgbClr val="F2AA3E"/>
          </a:solidFill>
          <a:ln/>
        </p:spPr>
        <p:txBody>
          <a:bodyPr/>
          <a:lstStyle/>
          <a:p>
            <a:endParaRPr lang="en-US"/>
          </a:p>
        </p:txBody>
      </p:sp>
      <p:sp>
        <p:nvSpPr>
          <p:cNvPr id="28" name="Text 25"/>
          <p:cNvSpPr txBox="1"/>
          <p:nvPr/>
        </p:nvSpPr>
        <p:spPr>
          <a:xfrm>
            <a:off x="7269480" y="1536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9</a:t>
            </a:r>
            <a:endParaRPr lang="en-US" sz="1400" dirty="0"/>
          </a:p>
        </p:txBody>
      </p:sp>
      <p:sp>
        <p:nvSpPr>
          <p:cNvPr id="29" name="Text 26"/>
          <p:cNvSpPr txBox="1"/>
          <p:nvPr/>
        </p:nvSpPr>
        <p:spPr>
          <a:xfrm>
            <a:off x="7269480" y="202996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Fulfiller decides</a:t>
            </a:r>
            <a:endParaRPr lang="en-US" sz="1250" dirty="0"/>
          </a:p>
        </p:txBody>
      </p:sp>
      <p:sp>
        <p:nvSpPr>
          <p:cNvPr id="30" name="Text 27"/>
          <p:cNvSpPr txBox="1"/>
          <p:nvPr/>
        </p:nvSpPr>
        <p:spPr>
          <a:xfrm>
            <a:off x="7269480" y="2542032"/>
            <a:ext cx="1161288" cy="123444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Approve, Edit or Reject: the human-feedback signal.</a:t>
            </a:r>
            <a:endParaRPr lang="en-US" sz="1100" dirty="0"/>
          </a:p>
        </p:txBody>
      </p:sp>
      <p:sp>
        <p:nvSpPr>
          <p:cNvPr id="31" name="Shape 28"/>
          <p:cNvSpPr/>
          <p:nvPr/>
        </p:nvSpPr>
        <p:spPr>
          <a:xfrm>
            <a:off x="612648" y="4023360"/>
            <a:ext cx="7918704" cy="685800"/>
          </a:xfrm>
          <a:prstGeom prst="roundRect">
            <a:avLst>
              <a:gd name="adj" fmla="val 14667"/>
            </a:avLst>
          </a:prstGeom>
          <a:solidFill>
            <a:srgbClr val="E7EEFB"/>
          </a:solidFill>
          <a:ln/>
        </p:spPr>
        <p:txBody>
          <a:bodyPr/>
          <a:lstStyle/>
          <a:p>
            <a:endParaRPr lang="en-US"/>
          </a:p>
        </p:txBody>
      </p:sp>
      <p:sp>
        <p:nvSpPr>
          <p:cNvPr id="32" name="Text 29"/>
          <p:cNvSpPr txBox="1"/>
          <p:nvPr/>
        </p:nvSpPr>
        <p:spPr>
          <a:xfrm>
            <a:off x="822960" y="4023360"/>
            <a:ext cx="7461504" cy="685800"/>
          </a:xfrm>
          <a:prstGeom prst="rect">
            <a:avLst/>
          </a:prstGeom>
          <a:noFill/>
          <a:ln/>
        </p:spPr>
        <p:txBody>
          <a:bodyPr wrap="square" lIns="0" tIns="0" rIns="0" bIns="0" rtlCol="0" anchor="ctr"/>
          <a:lstStyle/>
          <a:p>
            <a:pPr marL="0" indent="0" algn="l">
              <a:buNone/>
            </a:pPr>
            <a:r>
              <a:rPr lang="en-US" sz="1250" b="1" dirty="0">
                <a:solidFill>
                  <a:srgbClr val="1F2761"/>
                </a:solidFill>
                <a:latin typeface="Inter" pitchFamily="34" charset="0"/>
                <a:ea typeface="Inter" pitchFamily="34" charset="-122"/>
                <a:cs typeface="Inter" pitchFamily="34" charset="-120"/>
              </a:rPr>
              <a:t>Note: </a:t>
            </a:r>
            <a:r>
              <a:rPr lang="en-US" sz="1250" dirty="0">
                <a:solidFill>
                  <a:srgbClr val="4A5578"/>
                </a:solidFill>
                <a:latin typeface="Inter" pitchFamily="34" charset="0"/>
                <a:ea typeface="Inter" pitchFamily="34" charset="-122"/>
                <a:cs typeface="Inter" pitchFamily="34" charset="-120"/>
              </a:rPr>
              <a:t>confidence is an LLM heuristic, not a calibrated probability. Weak evidence escalates.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15</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APPENDIX · KNOWLEDGE INGESTION</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Article ingestion: source to vector</a:t>
            </a:r>
            <a:endParaRPr lang="en-US" sz="3000" dirty="0"/>
          </a:p>
        </p:txBody>
      </p:sp>
      <p:sp>
        <p:nvSpPr>
          <p:cNvPr id="6" name="Shape 3"/>
          <p:cNvSpPr/>
          <p:nvPr/>
        </p:nvSpPr>
        <p:spPr>
          <a:xfrm>
            <a:off x="612648" y="1325880"/>
            <a:ext cx="1417320" cy="214884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7" name="Shape 4"/>
          <p:cNvSpPr/>
          <p:nvPr/>
        </p:nvSpPr>
        <p:spPr>
          <a:xfrm>
            <a:off x="768096" y="1490472"/>
            <a:ext cx="384048" cy="384048"/>
          </a:xfrm>
          <a:prstGeom prst="ellipse">
            <a:avLst/>
          </a:prstGeom>
          <a:solidFill>
            <a:srgbClr val="0050FF"/>
          </a:solidFill>
          <a:ln/>
        </p:spPr>
        <p:txBody>
          <a:bodyPr/>
          <a:lstStyle/>
          <a:p>
            <a:endParaRPr lang="en-US"/>
          </a:p>
        </p:txBody>
      </p:sp>
      <p:sp>
        <p:nvSpPr>
          <p:cNvPr id="8" name="Text 5"/>
          <p:cNvSpPr txBox="1"/>
          <p:nvPr/>
        </p:nvSpPr>
        <p:spPr>
          <a:xfrm>
            <a:off x="768096" y="1490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9" name="Text 6"/>
          <p:cNvSpPr txBox="1"/>
          <p:nvPr/>
        </p:nvSpPr>
        <p:spPr>
          <a:xfrm>
            <a:off x="768096" y="198424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Source</a:t>
            </a:r>
            <a:endParaRPr lang="en-US" sz="1250" dirty="0"/>
          </a:p>
        </p:txBody>
      </p:sp>
      <p:sp>
        <p:nvSpPr>
          <p:cNvPr id="10" name="Text 7"/>
          <p:cNvSpPr txBox="1"/>
          <p:nvPr/>
        </p:nvSpPr>
        <p:spPr>
          <a:xfrm>
            <a:off x="768096" y="2496312"/>
            <a:ext cx="1161288" cy="91440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PDFs via Vision-LLM CLI, or KB publish events.</a:t>
            </a:r>
            <a:endParaRPr lang="en-US" sz="1100" dirty="0"/>
          </a:p>
        </p:txBody>
      </p:sp>
      <p:sp>
        <p:nvSpPr>
          <p:cNvPr id="11" name="Shape 8"/>
          <p:cNvSpPr/>
          <p:nvPr/>
        </p:nvSpPr>
        <p:spPr>
          <a:xfrm>
            <a:off x="2237994" y="1325880"/>
            <a:ext cx="1417320" cy="214884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12" name="Shape 9"/>
          <p:cNvSpPr/>
          <p:nvPr/>
        </p:nvSpPr>
        <p:spPr>
          <a:xfrm>
            <a:off x="2393442" y="1490472"/>
            <a:ext cx="384048" cy="384048"/>
          </a:xfrm>
          <a:prstGeom prst="ellipse">
            <a:avLst/>
          </a:prstGeom>
          <a:solidFill>
            <a:srgbClr val="0050FF"/>
          </a:solidFill>
          <a:ln/>
        </p:spPr>
        <p:txBody>
          <a:bodyPr/>
          <a:lstStyle/>
          <a:p>
            <a:endParaRPr lang="en-US"/>
          </a:p>
        </p:txBody>
      </p:sp>
      <p:sp>
        <p:nvSpPr>
          <p:cNvPr id="13" name="Text 10"/>
          <p:cNvSpPr txBox="1"/>
          <p:nvPr/>
        </p:nvSpPr>
        <p:spPr>
          <a:xfrm>
            <a:off x="2393442" y="1490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4" name="Text 11"/>
          <p:cNvSpPr txBox="1"/>
          <p:nvPr/>
        </p:nvSpPr>
        <p:spPr>
          <a:xfrm>
            <a:off x="2393442" y="198424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Chunk</a:t>
            </a:r>
            <a:endParaRPr lang="en-US" sz="1250" dirty="0"/>
          </a:p>
        </p:txBody>
      </p:sp>
      <p:sp>
        <p:nvSpPr>
          <p:cNvPr id="15" name="Text 12"/>
          <p:cNvSpPr txBox="1"/>
          <p:nvPr/>
        </p:nvSpPr>
        <p:spPr>
          <a:xfrm>
            <a:off x="2393442" y="2496312"/>
            <a:ext cx="1161288" cy="91440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Split HTML by headings: Problem, Resolution, Steps.</a:t>
            </a:r>
            <a:endParaRPr lang="en-US" sz="1100" dirty="0"/>
          </a:p>
        </p:txBody>
      </p:sp>
      <p:sp>
        <p:nvSpPr>
          <p:cNvPr id="16" name="Shape 13"/>
          <p:cNvSpPr/>
          <p:nvPr/>
        </p:nvSpPr>
        <p:spPr>
          <a:xfrm>
            <a:off x="3863340" y="1325880"/>
            <a:ext cx="1417320" cy="214884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17" name="Shape 14"/>
          <p:cNvSpPr/>
          <p:nvPr/>
        </p:nvSpPr>
        <p:spPr>
          <a:xfrm>
            <a:off x="4018788" y="1490472"/>
            <a:ext cx="384048" cy="384048"/>
          </a:xfrm>
          <a:prstGeom prst="ellipse">
            <a:avLst/>
          </a:prstGeom>
          <a:solidFill>
            <a:srgbClr val="0050FF"/>
          </a:solidFill>
          <a:ln/>
        </p:spPr>
        <p:txBody>
          <a:bodyPr/>
          <a:lstStyle/>
          <a:p>
            <a:endParaRPr lang="en-US"/>
          </a:p>
        </p:txBody>
      </p:sp>
      <p:sp>
        <p:nvSpPr>
          <p:cNvPr id="18" name="Text 15"/>
          <p:cNvSpPr txBox="1"/>
          <p:nvPr/>
        </p:nvSpPr>
        <p:spPr>
          <a:xfrm>
            <a:off x="4018788" y="1490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9" name="Text 16"/>
          <p:cNvSpPr txBox="1"/>
          <p:nvPr/>
        </p:nvSpPr>
        <p:spPr>
          <a:xfrm>
            <a:off x="4018788" y="198424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Embed</a:t>
            </a:r>
            <a:endParaRPr lang="en-US" sz="1250" dirty="0"/>
          </a:p>
        </p:txBody>
      </p:sp>
      <p:sp>
        <p:nvSpPr>
          <p:cNvPr id="20" name="Text 17"/>
          <p:cNvSpPr txBox="1"/>
          <p:nvPr/>
        </p:nvSpPr>
        <p:spPr>
          <a:xfrm>
            <a:off x="4018788" y="2496312"/>
            <a:ext cx="1161288" cy="91440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gemini-embedding-2, 3072 dims, cached for resume.</a:t>
            </a:r>
            <a:endParaRPr lang="en-US" sz="1100" dirty="0"/>
          </a:p>
        </p:txBody>
      </p:sp>
      <p:sp>
        <p:nvSpPr>
          <p:cNvPr id="21" name="Shape 18"/>
          <p:cNvSpPr/>
          <p:nvPr/>
        </p:nvSpPr>
        <p:spPr>
          <a:xfrm>
            <a:off x="5488686" y="1325880"/>
            <a:ext cx="1417320" cy="214884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22" name="Shape 19"/>
          <p:cNvSpPr/>
          <p:nvPr/>
        </p:nvSpPr>
        <p:spPr>
          <a:xfrm>
            <a:off x="5644134" y="1490472"/>
            <a:ext cx="384048" cy="384048"/>
          </a:xfrm>
          <a:prstGeom prst="ellipse">
            <a:avLst/>
          </a:prstGeom>
          <a:solidFill>
            <a:srgbClr val="0050FF"/>
          </a:solidFill>
          <a:ln/>
        </p:spPr>
        <p:txBody>
          <a:bodyPr/>
          <a:lstStyle/>
          <a:p>
            <a:endParaRPr lang="en-US"/>
          </a:p>
        </p:txBody>
      </p:sp>
      <p:sp>
        <p:nvSpPr>
          <p:cNvPr id="23" name="Text 20"/>
          <p:cNvSpPr txBox="1"/>
          <p:nvPr/>
        </p:nvSpPr>
        <p:spPr>
          <a:xfrm>
            <a:off x="5644134" y="1490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4" name="Text 21"/>
          <p:cNvSpPr txBox="1"/>
          <p:nvPr/>
        </p:nvSpPr>
        <p:spPr>
          <a:xfrm>
            <a:off x="5644134" y="198424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Upsert</a:t>
            </a:r>
            <a:endParaRPr lang="en-US" sz="1250" dirty="0"/>
          </a:p>
        </p:txBody>
      </p:sp>
      <p:sp>
        <p:nvSpPr>
          <p:cNvPr id="25" name="Text 22"/>
          <p:cNvSpPr txBox="1"/>
          <p:nvPr/>
        </p:nvSpPr>
        <p:spPr>
          <a:xfrm>
            <a:off x="5644134" y="2496312"/>
            <a:ext cx="1161288" cy="91440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Batched into Qdrant with full provenance.</a:t>
            </a:r>
            <a:endParaRPr lang="en-US" sz="1100" dirty="0"/>
          </a:p>
        </p:txBody>
      </p:sp>
      <p:sp>
        <p:nvSpPr>
          <p:cNvPr id="26" name="Shape 23"/>
          <p:cNvSpPr/>
          <p:nvPr/>
        </p:nvSpPr>
        <p:spPr>
          <a:xfrm>
            <a:off x="7114032" y="1325880"/>
            <a:ext cx="1417320" cy="2148840"/>
          </a:xfrm>
          <a:prstGeom prst="roundRect">
            <a:avLst>
              <a:gd name="adj" fmla="val 7097"/>
            </a:avLst>
          </a:prstGeom>
          <a:solidFill>
            <a:srgbClr val="FDFEFF"/>
          </a:solidFill>
          <a:ln w="9525">
            <a:solidFill>
              <a:srgbClr val="E0E4F2"/>
            </a:solidFill>
            <a:prstDash val="solid"/>
          </a:ln>
        </p:spPr>
        <p:txBody>
          <a:bodyPr/>
          <a:lstStyle/>
          <a:p>
            <a:endParaRPr lang="en-US"/>
          </a:p>
        </p:txBody>
      </p:sp>
      <p:sp>
        <p:nvSpPr>
          <p:cNvPr id="27" name="Shape 24"/>
          <p:cNvSpPr/>
          <p:nvPr/>
        </p:nvSpPr>
        <p:spPr>
          <a:xfrm>
            <a:off x="7269480" y="1490472"/>
            <a:ext cx="384048" cy="384048"/>
          </a:xfrm>
          <a:prstGeom prst="ellipse">
            <a:avLst/>
          </a:prstGeom>
          <a:solidFill>
            <a:srgbClr val="26CCC4"/>
          </a:solidFill>
          <a:ln/>
        </p:spPr>
        <p:txBody>
          <a:bodyPr/>
          <a:lstStyle/>
          <a:p>
            <a:endParaRPr lang="en-US"/>
          </a:p>
        </p:txBody>
      </p:sp>
      <p:sp>
        <p:nvSpPr>
          <p:cNvPr id="28" name="Text 25"/>
          <p:cNvSpPr txBox="1"/>
          <p:nvPr/>
        </p:nvSpPr>
        <p:spPr>
          <a:xfrm>
            <a:off x="7269480" y="1490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5</a:t>
            </a:r>
            <a:endParaRPr lang="en-US" sz="1400" dirty="0"/>
          </a:p>
        </p:txBody>
      </p:sp>
      <p:sp>
        <p:nvSpPr>
          <p:cNvPr id="29" name="Text 26"/>
          <p:cNvSpPr txBox="1"/>
          <p:nvPr/>
        </p:nvSpPr>
        <p:spPr>
          <a:xfrm>
            <a:off x="7269480" y="1984248"/>
            <a:ext cx="1161288" cy="502920"/>
          </a:xfrm>
          <a:prstGeom prst="rect">
            <a:avLst/>
          </a:prstGeom>
          <a:noFill/>
          <a:ln/>
        </p:spPr>
        <p:txBody>
          <a:bodyPr wrap="square" lIns="0" tIns="0" rIns="0" bIns="0" rtlCol="0" anchor="t"/>
          <a:lstStyle/>
          <a:p>
            <a:pPr marL="0" indent="0" algn="l">
              <a:buNone/>
            </a:pPr>
            <a:r>
              <a:rPr lang="en-US" sz="1250" b="1" dirty="0">
                <a:solidFill>
                  <a:srgbClr val="1F2761"/>
                </a:solidFill>
                <a:latin typeface="Inter" pitchFamily="34" charset="0"/>
                <a:ea typeface="Inter" pitchFamily="34" charset="-122"/>
                <a:cs typeface="Inter" pitchFamily="34" charset="-120"/>
              </a:rPr>
              <a:t>Searchable</a:t>
            </a:r>
            <a:endParaRPr lang="en-US" sz="1250" dirty="0"/>
          </a:p>
        </p:txBody>
      </p:sp>
      <p:sp>
        <p:nvSpPr>
          <p:cNvPr id="30" name="Text 27"/>
          <p:cNvSpPr txBox="1"/>
          <p:nvPr/>
        </p:nvSpPr>
        <p:spPr>
          <a:xfrm>
            <a:off x="7269480" y="2496312"/>
            <a:ext cx="1161288" cy="914400"/>
          </a:xfrm>
          <a:prstGeom prst="rect">
            <a:avLst/>
          </a:prstGeom>
          <a:noFill/>
          <a:ln/>
        </p:spPr>
        <p:txBody>
          <a:bodyPr wrap="square" lIns="0" tIns="0" rIns="0" bIns="0" rtlCol="0" anchor="t"/>
          <a:lstStyle/>
          <a:p>
            <a:pPr marL="0" indent="0" algn="l">
              <a:lnSpc>
                <a:spcPct val="108000"/>
              </a:lnSpc>
              <a:buNone/>
            </a:pPr>
            <a:r>
              <a:rPr lang="en-US" sz="1100" dirty="0">
                <a:solidFill>
                  <a:srgbClr val="6B7699"/>
                </a:solidFill>
                <a:latin typeface="Inter" pitchFamily="34" charset="0"/>
                <a:ea typeface="Inter" pitchFamily="34" charset="-122"/>
                <a:cs typeface="Inter" pitchFamily="34" charset="-120"/>
              </a:rPr>
              <a:t>Threshold-gated retrieval at incident time.</a:t>
            </a:r>
            <a:endParaRPr lang="en-US" sz="1100" dirty="0"/>
          </a:p>
        </p:txBody>
      </p:sp>
      <p:sp>
        <p:nvSpPr>
          <p:cNvPr id="31" name="Shape 28"/>
          <p:cNvSpPr/>
          <p:nvPr/>
        </p:nvSpPr>
        <p:spPr>
          <a:xfrm>
            <a:off x="612648" y="3611880"/>
            <a:ext cx="1911096" cy="777240"/>
          </a:xfrm>
          <a:prstGeom prst="roundRect">
            <a:avLst>
              <a:gd name="adj" fmla="val 12941"/>
            </a:avLst>
          </a:prstGeom>
          <a:solidFill>
            <a:srgbClr val="E7EEFB"/>
          </a:solidFill>
          <a:ln/>
        </p:spPr>
        <p:txBody>
          <a:bodyPr/>
          <a:lstStyle/>
          <a:p>
            <a:endParaRPr lang="en-US"/>
          </a:p>
        </p:txBody>
      </p:sp>
      <p:sp>
        <p:nvSpPr>
          <p:cNvPr id="32" name="Text 29"/>
          <p:cNvSpPr txBox="1"/>
          <p:nvPr/>
        </p:nvSpPr>
        <p:spPr>
          <a:xfrm>
            <a:off x="612648" y="3639312"/>
            <a:ext cx="1911096" cy="457200"/>
          </a:xfrm>
          <a:prstGeom prst="rect">
            <a:avLst/>
          </a:prstGeom>
          <a:noFill/>
          <a:ln/>
        </p:spPr>
        <p:txBody>
          <a:bodyPr wrap="square" lIns="0" tIns="0" rIns="0" bIns="0" rtlCol="0" anchor="ctr"/>
          <a:lstStyle/>
          <a:p>
            <a:pPr marL="0" indent="0" algn="ctr">
              <a:buNone/>
            </a:pPr>
            <a:r>
              <a:rPr lang="en-US" sz="2400" b="1" dirty="0">
                <a:solidFill>
                  <a:srgbClr val="0050FF"/>
                </a:solidFill>
                <a:latin typeface="Inter" pitchFamily="34" charset="0"/>
                <a:ea typeface="Inter" pitchFamily="34" charset="-122"/>
                <a:cs typeface="Inter" pitchFamily="34" charset="-120"/>
              </a:rPr>
              <a:t>50</a:t>
            </a:r>
            <a:endParaRPr lang="en-US" sz="2400" dirty="0"/>
          </a:p>
        </p:txBody>
      </p:sp>
      <p:sp>
        <p:nvSpPr>
          <p:cNvPr id="33" name="Text 30"/>
          <p:cNvSpPr txBox="1"/>
          <p:nvPr/>
        </p:nvSpPr>
        <p:spPr>
          <a:xfrm>
            <a:off x="612648" y="4087368"/>
            <a:ext cx="1911096" cy="256032"/>
          </a:xfrm>
          <a:prstGeom prst="rect">
            <a:avLst/>
          </a:prstGeom>
          <a:noFill/>
          <a:ln/>
        </p:spPr>
        <p:txBody>
          <a:bodyPr wrap="square" lIns="0" tIns="0" rIns="0" bIns="0" rtlCol="0" anchor="t"/>
          <a:lstStyle/>
          <a:p>
            <a:pPr marL="0" indent="0" algn="ctr">
              <a:buNone/>
            </a:pPr>
            <a:r>
              <a:rPr lang="en-US" sz="1100" dirty="0">
                <a:solidFill>
                  <a:srgbClr val="6B7699"/>
                </a:solidFill>
                <a:latin typeface="Inter" pitchFamily="34" charset="0"/>
                <a:ea typeface="Inter" pitchFamily="34" charset="-122"/>
                <a:cs typeface="Inter" pitchFamily="34" charset="-120"/>
              </a:rPr>
              <a:t>articles ingested</a:t>
            </a:r>
            <a:endParaRPr lang="en-US" sz="1100" dirty="0"/>
          </a:p>
        </p:txBody>
      </p:sp>
      <p:sp>
        <p:nvSpPr>
          <p:cNvPr id="34" name="Shape 31"/>
          <p:cNvSpPr/>
          <p:nvPr/>
        </p:nvSpPr>
        <p:spPr>
          <a:xfrm>
            <a:off x="2615184" y="3611880"/>
            <a:ext cx="1911096" cy="777240"/>
          </a:xfrm>
          <a:prstGeom prst="roundRect">
            <a:avLst>
              <a:gd name="adj" fmla="val 12941"/>
            </a:avLst>
          </a:prstGeom>
          <a:solidFill>
            <a:srgbClr val="E7EEFB"/>
          </a:solidFill>
          <a:ln/>
        </p:spPr>
        <p:txBody>
          <a:bodyPr/>
          <a:lstStyle/>
          <a:p>
            <a:endParaRPr lang="en-US"/>
          </a:p>
        </p:txBody>
      </p:sp>
      <p:sp>
        <p:nvSpPr>
          <p:cNvPr id="35" name="Text 32"/>
          <p:cNvSpPr txBox="1"/>
          <p:nvPr/>
        </p:nvSpPr>
        <p:spPr>
          <a:xfrm>
            <a:off x="2615184" y="3639312"/>
            <a:ext cx="1911096" cy="457200"/>
          </a:xfrm>
          <a:prstGeom prst="rect">
            <a:avLst/>
          </a:prstGeom>
          <a:noFill/>
          <a:ln/>
        </p:spPr>
        <p:txBody>
          <a:bodyPr wrap="square" lIns="0" tIns="0" rIns="0" bIns="0" rtlCol="0" anchor="ctr"/>
          <a:lstStyle/>
          <a:p>
            <a:pPr marL="0" indent="0" algn="ctr">
              <a:buNone/>
            </a:pPr>
            <a:r>
              <a:rPr lang="en-US" sz="2400" b="1" dirty="0">
                <a:solidFill>
                  <a:srgbClr val="0050FF"/>
                </a:solidFill>
                <a:latin typeface="Inter" pitchFamily="34" charset="0"/>
                <a:ea typeface="Inter" pitchFamily="34" charset="-122"/>
                <a:cs typeface="Inter" pitchFamily="34" charset="-120"/>
              </a:rPr>
              <a:t>144</a:t>
            </a:r>
            <a:endParaRPr lang="en-US" sz="2400" dirty="0"/>
          </a:p>
        </p:txBody>
      </p:sp>
      <p:sp>
        <p:nvSpPr>
          <p:cNvPr id="36" name="Text 33"/>
          <p:cNvSpPr txBox="1"/>
          <p:nvPr/>
        </p:nvSpPr>
        <p:spPr>
          <a:xfrm>
            <a:off x="2615184" y="4087368"/>
            <a:ext cx="1911096" cy="256032"/>
          </a:xfrm>
          <a:prstGeom prst="rect">
            <a:avLst/>
          </a:prstGeom>
          <a:noFill/>
          <a:ln/>
        </p:spPr>
        <p:txBody>
          <a:bodyPr wrap="square" lIns="0" tIns="0" rIns="0" bIns="0" rtlCol="0" anchor="t"/>
          <a:lstStyle/>
          <a:p>
            <a:pPr marL="0" indent="0" algn="ctr">
              <a:buNone/>
            </a:pPr>
            <a:r>
              <a:rPr lang="en-US" sz="1100" dirty="0">
                <a:solidFill>
                  <a:srgbClr val="6B7699"/>
                </a:solidFill>
                <a:latin typeface="Inter" pitchFamily="34" charset="0"/>
                <a:ea typeface="Inter" pitchFamily="34" charset="-122"/>
                <a:cs typeface="Inter" pitchFamily="34" charset="-120"/>
              </a:rPr>
              <a:t>chunks stored</a:t>
            </a:r>
            <a:endParaRPr lang="en-US" sz="1100" dirty="0"/>
          </a:p>
        </p:txBody>
      </p:sp>
      <p:sp>
        <p:nvSpPr>
          <p:cNvPr id="37" name="Shape 34"/>
          <p:cNvSpPr/>
          <p:nvPr/>
        </p:nvSpPr>
        <p:spPr>
          <a:xfrm>
            <a:off x="4617720" y="3611880"/>
            <a:ext cx="1911096" cy="777240"/>
          </a:xfrm>
          <a:prstGeom prst="roundRect">
            <a:avLst>
              <a:gd name="adj" fmla="val 12941"/>
            </a:avLst>
          </a:prstGeom>
          <a:solidFill>
            <a:srgbClr val="E7EEFB"/>
          </a:solidFill>
          <a:ln/>
        </p:spPr>
        <p:txBody>
          <a:bodyPr/>
          <a:lstStyle/>
          <a:p>
            <a:endParaRPr lang="en-US"/>
          </a:p>
        </p:txBody>
      </p:sp>
      <p:sp>
        <p:nvSpPr>
          <p:cNvPr id="38" name="Text 35"/>
          <p:cNvSpPr txBox="1"/>
          <p:nvPr/>
        </p:nvSpPr>
        <p:spPr>
          <a:xfrm>
            <a:off x="4617720" y="3639312"/>
            <a:ext cx="1911096" cy="457200"/>
          </a:xfrm>
          <a:prstGeom prst="rect">
            <a:avLst/>
          </a:prstGeom>
          <a:noFill/>
          <a:ln/>
        </p:spPr>
        <p:txBody>
          <a:bodyPr wrap="square" lIns="0" tIns="0" rIns="0" bIns="0" rtlCol="0" anchor="ctr"/>
          <a:lstStyle/>
          <a:p>
            <a:pPr marL="0" indent="0" algn="ctr">
              <a:buNone/>
            </a:pPr>
            <a:r>
              <a:rPr lang="en-US" sz="2400" b="1" dirty="0">
                <a:solidFill>
                  <a:srgbClr val="0050FF"/>
                </a:solidFill>
                <a:latin typeface="Inter" pitchFamily="34" charset="0"/>
                <a:ea typeface="Inter" pitchFamily="34" charset="-122"/>
                <a:cs typeface="Inter" pitchFamily="34" charset="-120"/>
              </a:rPr>
              <a:t>3072</a:t>
            </a:r>
            <a:endParaRPr lang="en-US" sz="2400" dirty="0"/>
          </a:p>
        </p:txBody>
      </p:sp>
      <p:sp>
        <p:nvSpPr>
          <p:cNvPr id="39" name="Text 36"/>
          <p:cNvSpPr txBox="1"/>
          <p:nvPr/>
        </p:nvSpPr>
        <p:spPr>
          <a:xfrm>
            <a:off x="4617720" y="4087368"/>
            <a:ext cx="1911096" cy="256032"/>
          </a:xfrm>
          <a:prstGeom prst="rect">
            <a:avLst/>
          </a:prstGeom>
          <a:noFill/>
          <a:ln/>
        </p:spPr>
        <p:txBody>
          <a:bodyPr wrap="square" lIns="0" tIns="0" rIns="0" bIns="0" rtlCol="0" anchor="t"/>
          <a:lstStyle/>
          <a:p>
            <a:pPr marL="0" indent="0" algn="ctr">
              <a:buNone/>
            </a:pPr>
            <a:r>
              <a:rPr lang="en-US" sz="1100" dirty="0">
                <a:solidFill>
                  <a:srgbClr val="6B7699"/>
                </a:solidFill>
                <a:latin typeface="Inter" pitchFamily="34" charset="0"/>
                <a:ea typeface="Inter" pitchFamily="34" charset="-122"/>
                <a:cs typeface="Inter" pitchFamily="34" charset="-120"/>
              </a:rPr>
              <a:t>vector dimensions</a:t>
            </a:r>
            <a:endParaRPr lang="en-US" sz="1100" dirty="0"/>
          </a:p>
        </p:txBody>
      </p:sp>
      <p:sp>
        <p:nvSpPr>
          <p:cNvPr id="40" name="Shape 37"/>
          <p:cNvSpPr/>
          <p:nvPr/>
        </p:nvSpPr>
        <p:spPr>
          <a:xfrm>
            <a:off x="6620256" y="3611880"/>
            <a:ext cx="1911096" cy="777240"/>
          </a:xfrm>
          <a:prstGeom prst="roundRect">
            <a:avLst>
              <a:gd name="adj" fmla="val 12941"/>
            </a:avLst>
          </a:prstGeom>
          <a:solidFill>
            <a:srgbClr val="E7EEFB"/>
          </a:solidFill>
          <a:ln/>
        </p:spPr>
        <p:txBody>
          <a:bodyPr/>
          <a:lstStyle/>
          <a:p>
            <a:endParaRPr lang="en-US"/>
          </a:p>
        </p:txBody>
      </p:sp>
      <p:sp>
        <p:nvSpPr>
          <p:cNvPr id="41" name="Text 38"/>
          <p:cNvSpPr txBox="1"/>
          <p:nvPr/>
        </p:nvSpPr>
        <p:spPr>
          <a:xfrm>
            <a:off x="6620256" y="3639312"/>
            <a:ext cx="1911096" cy="457200"/>
          </a:xfrm>
          <a:prstGeom prst="rect">
            <a:avLst/>
          </a:prstGeom>
          <a:noFill/>
          <a:ln/>
        </p:spPr>
        <p:txBody>
          <a:bodyPr wrap="square" lIns="0" tIns="0" rIns="0" bIns="0" rtlCol="0" anchor="ctr"/>
          <a:lstStyle/>
          <a:p>
            <a:pPr marL="0" indent="0" algn="ctr">
              <a:buNone/>
            </a:pPr>
            <a:r>
              <a:rPr lang="en-US" sz="2000" b="1" dirty="0">
                <a:solidFill>
                  <a:srgbClr val="0050FF"/>
                </a:solidFill>
                <a:latin typeface="Inter" pitchFamily="34" charset="0"/>
                <a:ea typeface="Inter" pitchFamily="34" charset="-122"/>
                <a:cs typeface="Inter" pitchFamily="34" charset="-120"/>
              </a:rPr>
              <a:t>144 = 144</a:t>
            </a:r>
            <a:endParaRPr lang="en-US" sz="2000" dirty="0"/>
          </a:p>
        </p:txBody>
      </p:sp>
      <p:sp>
        <p:nvSpPr>
          <p:cNvPr id="42" name="Text 39"/>
          <p:cNvSpPr txBox="1"/>
          <p:nvPr/>
        </p:nvSpPr>
        <p:spPr>
          <a:xfrm>
            <a:off x="6620256" y="4087368"/>
            <a:ext cx="1911096" cy="256032"/>
          </a:xfrm>
          <a:prstGeom prst="rect">
            <a:avLst/>
          </a:prstGeom>
          <a:noFill/>
          <a:ln/>
        </p:spPr>
        <p:txBody>
          <a:bodyPr wrap="square" lIns="0" tIns="0" rIns="0" bIns="0" rtlCol="0" anchor="t"/>
          <a:lstStyle/>
          <a:p>
            <a:pPr marL="0" indent="0" algn="ctr">
              <a:buNone/>
            </a:pPr>
            <a:r>
              <a:rPr lang="en-US" sz="1100" dirty="0">
                <a:solidFill>
                  <a:srgbClr val="6B7699"/>
                </a:solidFill>
                <a:latin typeface="Inter" pitchFamily="34" charset="0"/>
                <a:ea typeface="Inter" pitchFamily="34" charset="-122"/>
                <a:cs typeface="Inter" pitchFamily="34" charset="-120"/>
              </a:rPr>
              <a:t>points after re-run</a:t>
            </a:r>
            <a:endParaRPr lang="en-US" sz="1100" dirty="0"/>
          </a:p>
        </p:txBody>
      </p:sp>
      <p:sp>
        <p:nvSpPr>
          <p:cNvPr id="43" name="Text 40"/>
          <p:cNvSpPr txBox="1"/>
          <p:nvPr/>
        </p:nvSpPr>
        <p:spPr>
          <a:xfrm>
            <a:off x="612648" y="4526280"/>
            <a:ext cx="7918704" cy="228600"/>
          </a:xfrm>
          <a:prstGeom prst="rect">
            <a:avLst/>
          </a:prstGeom>
          <a:noFill/>
          <a:ln/>
        </p:spPr>
        <p:txBody>
          <a:bodyPr wrap="square" lIns="0" tIns="0" rIns="0" bIns="0" rtlCol="0" anchor="t"/>
          <a:lstStyle/>
          <a:p>
            <a:pPr marL="0" indent="0" algn="l">
              <a:buNone/>
            </a:pPr>
            <a:r>
              <a:rPr lang="en-US" sz="1100" i="1" dirty="0">
                <a:solidFill>
                  <a:srgbClr val="6B7699"/>
                </a:solidFill>
                <a:latin typeface="Inter" pitchFamily="34" charset="0"/>
                <a:ea typeface="Inter" pitchFamily="34" charset="-122"/>
                <a:cs typeface="Inter" pitchFamily="34" charset="-120"/>
              </a:rPr>
              <a:t>Deterministic IDs make re-runs safe. Sprint 2 suite: 52 passed, 7 skipped.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16</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APPENDIX · GUARDRAILS</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Security and trust at every hop</a:t>
            </a:r>
            <a:endParaRPr lang="en-US" sz="3000" dirty="0"/>
          </a:p>
        </p:txBody>
      </p:sp>
      <p:sp>
        <p:nvSpPr>
          <p:cNvPr id="6" name="Shape 3"/>
          <p:cNvSpPr/>
          <p:nvPr/>
        </p:nvSpPr>
        <p:spPr>
          <a:xfrm>
            <a:off x="612648" y="137160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7" name="Shape 4"/>
          <p:cNvSpPr/>
          <p:nvPr/>
        </p:nvSpPr>
        <p:spPr>
          <a:xfrm>
            <a:off x="777240" y="1517904"/>
            <a:ext cx="475488" cy="475488"/>
          </a:xfrm>
          <a:prstGeom prst="ellipse">
            <a:avLst/>
          </a:prstGeom>
          <a:solidFill>
            <a:srgbClr val="E7EEFB"/>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924641" y="1665305"/>
            <a:ext cx="180685" cy="180685"/>
          </a:xfrm>
          <a:prstGeom prst="rect">
            <a:avLst/>
          </a:prstGeom>
        </p:spPr>
      </p:pic>
      <p:sp>
        <p:nvSpPr>
          <p:cNvPr id="9" name="Text 5"/>
          <p:cNvSpPr txBox="1"/>
          <p:nvPr/>
        </p:nvSpPr>
        <p:spPr>
          <a:xfrm>
            <a:off x="1389888" y="151790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Signed events</a:t>
            </a:r>
            <a:endParaRPr lang="en-US" sz="1400" dirty="0"/>
          </a:p>
        </p:txBody>
      </p:sp>
      <p:sp>
        <p:nvSpPr>
          <p:cNvPr id="10" name="Text 6"/>
          <p:cNvSpPr txBox="1"/>
          <p:nvPr/>
        </p:nvSpPr>
        <p:spPr>
          <a:xfrm>
            <a:off x="777240" y="213969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HMAC-SHA256 on every</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webhook; bad ones rejected</a:t>
            </a:r>
            <a:endParaRPr lang="en-US" sz="1150" dirty="0"/>
          </a:p>
        </p:txBody>
      </p:sp>
      <p:sp>
        <p:nvSpPr>
          <p:cNvPr id="11" name="Shape 7"/>
          <p:cNvSpPr/>
          <p:nvPr/>
        </p:nvSpPr>
        <p:spPr>
          <a:xfrm>
            <a:off x="3310128" y="137160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12" name="Shape 8"/>
          <p:cNvSpPr/>
          <p:nvPr/>
        </p:nvSpPr>
        <p:spPr>
          <a:xfrm>
            <a:off x="3474720" y="1517904"/>
            <a:ext cx="475488" cy="475488"/>
          </a:xfrm>
          <a:prstGeom prst="ellipse">
            <a:avLst/>
          </a:prstGeom>
          <a:solidFill>
            <a:srgbClr val="E7EEFB"/>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3622121" y="1665305"/>
            <a:ext cx="180685" cy="180685"/>
          </a:xfrm>
          <a:prstGeom prst="rect">
            <a:avLst/>
          </a:prstGeom>
        </p:spPr>
      </p:pic>
      <p:sp>
        <p:nvSpPr>
          <p:cNvPr id="14" name="Text 9"/>
          <p:cNvSpPr txBox="1"/>
          <p:nvPr/>
        </p:nvSpPr>
        <p:spPr>
          <a:xfrm>
            <a:off x="4087368" y="151790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Exactly once</a:t>
            </a:r>
            <a:endParaRPr lang="en-US" sz="1400" dirty="0"/>
          </a:p>
        </p:txBody>
      </p:sp>
      <p:sp>
        <p:nvSpPr>
          <p:cNvPr id="15" name="Text 10"/>
          <p:cNvSpPr txBox="1"/>
          <p:nvPr/>
        </p:nvSpPr>
        <p:spPr>
          <a:xfrm>
            <a:off x="3474720" y="213969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Redis dedupe plus claim</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status stop double runs</a:t>
            </a:r>
            <a:endParaRPr lang="en-US" sz="1150" dirty="0"/>
          </a:p>
        </p:txBody>
      </p:sp>
      <p:sp>
        <p:nvSpPr>
          <p:cNvPr id="16" name="Shape 11"/>
          <p:cNvSpPr/>
          <p:nvPr/>
        </p:nvSpPr>
        <p:spPr>
          <a:xfrm>
            <a:off x="6007608" y="137160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17" name="Shape 12"/>
          <p:cNvSpPr/>
          <p:nvPr/>
        </p:nvSpPr>
        <p:spPr>
          <a:xfrm>
            <a:off x="6172200" y="1517904"/>
            <a:ext cx="475488" cy="475488"/>
          </a:xfrm>
          <a:prstGeom prst="ellipse">
            <a:avLst/>
          </a:prstGeom>
          <a:solidFill>
            <a:srgbClr val="E7EEFB"/>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6319601" y="1665305"/>
            <a:ext cx="180685" cy="180685"/>
          </a:xfrm>
          <a:prstGeom prst="rect">
            <a:avLst/>
          </a:prstGeom>
        </p:spPr>
      </p:pic>
      <p:sp>
        <p:nvSpPr>
          <p:cNvPr id="19" name="Text 13"/>
          <p:cNvSpPr txBox="1"/>
          <p:nvPr/>
        </p:nvSpPr>
        <p:spPr>
          <a:xfrm>
            <a:off x="6784848" y="151790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Read-only agent</a:t>
            </a:r>
            <a:endParaRPr lang="en-US" sz="1400" dirty="0"/>
          </a:p>
        </p:txBody>
      </p:sp>
      <p:sp>
        <p:nvSpPr>
          <p:cNvPr id="20" name="Text 14"/>
          <p:cNvSpPr txBox="1"/>
          <p:nvPr/>
        </p:nvSpPr>
        <p:spPr>
          <a:xfrm>
            <a:off x="6172200" y="213969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Scoped tools only; resolve,</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close, reassign impossible</a:t>
            </a:r>
            <a:endParaRPr lang="en-US" sz="1150" dirty="0"/>
          </a:p>
        </p:txBody>
      </p:sp>
      <p:sp>
        <p:nvSpPr>
          <p:cNvPr id="21" name="Shape 15"/>
          <p:cNvSpPr/>
          <p:nvPr/>
        </p:nvSpPr>
        <p:spPr>
          <a:xfrm>
            <a:off x="612648" y="301752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22" name="Shape 16"/>
          <p:cNvSpPr/>
          <p:nvPr/>
        </p:nvSpPr>
        <p:spPr>
          <a:xfrm>
            <a:off x="777240" y="3163824"/>
            <a:ext cx="475488" cy="475488"/>
          </a:xfrm>
          <a:prstGeom prst="ellipse">
            <a:avLst/>
          </a:prstGeom>
          <a:solidFill>
            <a:srgbClr val="E7EEFB"/>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924641" y="3311225"/>
            <a:ext cx="180685" cy="180685"/>
          </a:xfrm>
          <a:prstGeom prst="rect">
            <a:avLst/>
          </a:prstGeom>
        </p:spPr>
      </p:pic>
      <p:sp>
        <p:nvSpPr>
          <p:cNvPr id="24" name="Text 17"/>
          <p:cNvSpPr txBox="1"/>
          <p:nvPr/>
        </p:nvSpPr>
        <p:spPr>
          <a:xfrm>
            <a:off x="1389888" y="316382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Grounded output</a:t>
            </a:r>
            <a:endParaRPr lang="en-US" sz="1400" dirty="0"/>
          </a:p>
        </p:txBody>
      </p:sp>
      <p:sp>
        <p:nvSpPr>
          <p:cNvPr id="25" name="Text 18"/>
          <p:cNvSpPr txBox="1"/>
          <p:nvPr/>
        </p:nvSpPr>
        <p:spPr>
          <a:xfrm>
            <a:off x="777240" y="378561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Threshold gate and fail-</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closed answer validation</a:t>
            </a:r>
            <a:endParaRPr lang="en-US" sz="1150" dirty="0"/>
          </a:p>
        </p:txBody>
      </p:sp>
      <p:sp>
        <p:nvSpPr>
          <p:cNvPr id="26" name="Shape 19"/>
          <p:cNvSpPr/>
          <p:nvPr/>
        </p:nvSpPr>
        <p:spPr>
          <a:xfrm>
            <a:off x="3310128" y="3017520"/>
            <a:ext cx="2523744" cy="1536192"/>
          </a:xfrm>
          <a:prstGeom prst="roundRect">
            <a:avLst>
              <a:gd name="adj" fmla="val 6548"/>
            </a:avLst>
          </a:prstGeom>
          <a:solidFill>
            <a:srgbClr val="FDFEFF"/>
          </a:solidFill>
          <a:ln w="9525">
            <a:solidFill>
              <a:srgbClr val="E0E4F2"/>
            </a:solidFill>
            <a:prstDash val="solid"/>
          </a:ln>
        </p:spPr>
        <p:txBody>
          <a:bodyPr/>
          <a:lstStyle/>
          <a:p>
            <a:endParaRPr lang="en-US"/>
          </a:p>
        </p:txBody>
      </p:sp>
      <p:sp>
        <p:nvSpPr>
          <p:cNvPr id="27" name="Shape 20"/>
          <p:cNvSpPr/>
          <p:nvPr/>
        </p:nvSpPr>
        <p:spPr>
          <a:xfrm>
            <a:off x="3474720" y="3163824"/>
            <a:ext cx="475488" cy="475488"/>
          </a:xfrm>
          <a:prstGeom prst="ellipse">
            <a:avLst/>
          </a:prstGeom>
          <a:solidFill>
            <a:srgbClr val="E7EEFB"/>
          </a:solidFill>
          <a:ln/>
        </p:spPr>
        <p:txBody>
          <a:bodyPr/>
          <a:lstStyle/>
          <a:p>
            <a:endParaRPr lang="en-US"/>
          </a:p>
        </p:txBody>
      </p:sp>
      <p:pic>
        <p:nvPicPr>
          <p:cNvPr id="28" name="Image 5" descr="preencoded.png"/>
          <p:cNvPicPr>
            <a:picLocks noChangeAspect="1"/>
          </p:cNvPicPr>
          <p:nvPr/>
        </p:nvPicPr>
        <p:blipFill>
          <a:blip r:embed="rId8"/>
          <a:stretch>
            <a:fillRect/>
          </a:stretch>
        </p:blipFill>
        <p:spPr>
          <a:xfrm>
            <a:off x="3622121" y="3311225"/>
            <a:ext cx="180685" cy="180685"/>
          </a:xfrm>
          <a:prstGeom prst="rect">
            <a:avLst/>
          </a:prstGeom>
        </p:spPr>
      </p:pic>
      <p:sp>
        <p:nvSpPr>
          <p:cNvPr id="29" name="Text 21"/>
          <p:cNvSpPr txBox="1"/>
          <p:nvPr/>
        </p:nvSpPr>
        <p:spPr>
          <a:xfrm>
            <a:off x="4087368" y="3163824"/>
            <a:ext cx="1655064" cy="475488"/>
          </a:xfrm>
          <a:prstGeom prst="rect">
            <a:avLst/>
          </a:prstGeom>
          <a:noFill/>
          <a:ln/>
        </p:spPr>
        <p:txBody>
          <a:bodyPr wrap="square" lIns="0" tIns="0" rIns="0" bIns="0" rtlCol="0" anchor="ctr"/>
          <a:lstStyle/>
          <a:p>
            <a:pPr marL="0" indent="0" algn="l">
              <a:buNone/>
            </a:pPr>
            <a:r>
              <a:rPr lang="en-US" sz="1400" b="1" dirty="0">
                <a:solidFill>
                  <a:srgbClr val="1F2761"/>
                </a:solidFill>
                <a:latin typeface="Inter" pitchFamily="34" charset="0"/>
                <a:ea typeface="Inter" pitchFamily="34" charset="-122"/>
                <a:cs typeface="Inter" pitchFamily="34" charset="-120"/>
              </a:rPr>
              <a:t>Secrets hygiene</a:t>
            </a:r>
            <a:endParaRPr lang="en-US" sz="1400" dirty="0"/>
          </a:p>
        </p:txBody>
      </p:sp>
      <p:sp>
        <p:nvSpPr>
          <p:cNvPr id="30" name="Text 22"/>
          <p:cNvSpPr txBox="1"/>
          <p:nvPr/>
        </p:nvSpPr>
        <p:spPr>
          <a:xfrm>
            <a:off x="3474720" y="378561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Keys in .env only; tracing</a:t>
            </a:r>
            <a:endParaRPr lang="en-US" sz="1150" dirty="0"/>
          </a:p>
          <a:p>
            <a:pPr marL="0" indent="0" algn="l">
              <a:lnSpc>
                <a:spcPct val="115000"/>
              </a:lnSpc>
              <a:buNone/>
            </a:pPr>
            <a:r>
              <a:rPr lang="en-US" sz="1150" dirty="0">
                <a:solidFill>
                  <a:srgbClr val="6B7699"/>
                </a:solidFill>
                <a:latin typeface="Inter" pitchFamily="34" charset="0"/>
                <a:ea typeface="Inter" pitchFamily="34" charset="-122"/>
                <a:cs typeface="Inter" pitchFamily="34" charset="-120"/>
              </a:rPr>
              <a:t>keys are masked</a:t>
            </a:r>
            <a:endParaRPr lang="en-US" sz="1150" dirty="0"/>
          </a:p>
        </p:txBody>
      </p:sp>
      <p:sp>
        <p:nvSpPr>
          <p:cNvPr id="31" name="Shape 23"/>
          <p:cNvSpPr/>
          <p:nvPr/>
        </p:nvSpPr>
        <p:spPr>
          <a:xfrm>
            <a:off x="6007608" y="3017520"/>
            <a:ext cx="2523744" cy="1536192"/>
          </a:xfrm>
          <a:prstGeom prst="roundRect">
            <a:avLst>
              <a:gd name="adj" fmla="val 6548"/>
            </a:avLst>
          </a:prstGeom>
          <a:solidFill>
            <a:srgbClr val="1F2761"/>
          </a:solidFill>
          <a:ln/>
        </p:spPr>
        <p:txBody>
          <a:bodyPr/>
          <a:lstStyle/>
          <a:p>
            <a:endParaRPr lang="en-US"/>
          </a:p>
        </p:txBody>
      </p:sp>
      <p:sp>
        <p:nvSpPr>
          <p:cNvPr id="32" name="Shape 24"/>
          <p:cNvSpPr/>
          <p:nvPr/>
        </p:nvSpPr>
        <p:spPr>
          <a:xfrm>
            <a:off x="6172200" y="3163824"/>
            <a:ext cx="475488" cy="475488"/>
          </a:xfrm>
          <a:prstGeom prst="ellipse">
            <a:avLst/>
          </a:prstGeom>
          <a:solidFill>
            <a:srgbClr val="2A3474"/>
          </a:solidFill>
          <a:ln/>
        </p:spPr>
        <p:txBody>
          <a:bodyPr/>
          <a:lstStyle/>
          <a:p>
            <a:endParaRPr lang="en-US"/>
          </a:p>
        </p:txBody>
      </p:sp>
      <p:pic>
        <p:nvPicPr>
          <p:cNvPr id="33" name="Image 6" descr="preencoded.png"/>
          <p:cNvPicPr>
            <a:picLocks noChangeAspect="1"/>
          </p:cNvPicPr>
          <p:nvPr/>
        </p:nvPicPr>
        <p:blipFill>
          <a:blip r:embed="rId9"/>
          <a:stretch>
            <a:fillRect/>
          </a:stretch>
        </p:blipFill>
        <p:spPr>
          <a:xfrm>
            <a:off x="6319601" y="3311225"/>
            <a:ext cx="180685" cy="180685"/>
          </a:xfrm>
          <a:prstGeom prst="rect">
            <a:avLst/>
          </a:prstGeom>
        </p:spPr>
      </p:pic>
      <p:sp>
        <p:nvSpPr>
          <p:cNvPr id="34" name="Text 25"/>
          <p:cNvSpPr txBox="1"/>
          <p:nvPr/>
        </p:nvSpPr>
        <p:spPr>
          <a:xfrm>
            <a:off x="6784848" y="3163824"/>
            <a:ext cx="1655064"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Inter" pitchFamily="34" charset="0"/>
                <a:ea typeface="Inter" pitchFamily="34" charset="-122"/>
                <a:cs typeface="Inter" pitchFamily="34" charset="-120"/>
              </a:rPr>
              <a:t>Human decides</a:t>
            </a:r>
            <a:endParaRPr lang="en-US" sz="1400" dirty="0"/>
          </a:p>
        </p:txBody>
      </p:sp>
      <p:sp>
        <p:nvSpPr>
          <p:cNvPr id="35" name="Text 26"/>
          <p:cNvSpPr txBox="1"/>
          <p:nvPr/>
        </p:nvSpPr>
        <p:spPr>
          <a:xfrm>
            <a:off x="6172200" y="3785616"/>
            <a:ext cx="2249424" cy="713232"/>
          </a:xfrm>
          <a:prstGeom prst="rect">
            <a:avLst/>
          </a:prstGeom>
          <a:noFill/>
          <a:ln/>
        </p:spPr>
        <p:txBody>
          <a:bodyPr wrap="square" lIns="0" tIns="0" rIns="0" bIns="0" rtlCol="0" anchor="t"/>
          <a:lstStyle/>
          <a:p>
            <a:pPr marL="0" indent="0" algn="l">
              <a:lnSpc>
                <a:spcPct val="115000"/>
              </a:lnSpc>
              <a:buNone/>
            </a:pPr>
            <a:r>
              <a:rPr lang="en-US" sz="1150" dirty="0">
                <a:solidFill>
                  <a:srgbClr val="C5CCEB"/>
                </a:solidFill>
                <a:latin typeface="Inter" pitchFamily="34" charset="0"/>
                <a:ea typeface="Inter" pitchFamily="34" charset="-122"/>
                <a:cs typeface="Inter" pitchFamily="34" charset="-120"/>
              </a:rPr>
              <a:t>The fulfiller reviews every</a:t>
            </a:r>
            <a:endParaRPr lang="en-US" sz="1150" dirty="0"/>
          </a:p>
          <a:p>
            <a:pPr marL="0" indent="0" algn="l">
              <a:lnSpc>
                <a:spcPct val="115000"/>
              </a:lnSpc>
              <a:buNone/>
            </a:pPr>
            <a:r>
              <a:rPr lang="en-US" sz="1150" dirty="0">
                <a:solidFill>
                  <a:srgbClr val="C5CCEB"/>
                </a:solidFill>
                <a:latin typeface="Inter" pitchFamily="34" charset="0"/>
                <a:ea typeface="Inter" pitchFamily="34" charset="-122"/>
                <a:cs typeface="Inter" pitchFamily="34" charset="-120"/>
              </a:rPr>
              <a:t>suggestion before it is final</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17</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APPENDIX · RESILIENCE</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3000" b="1" dirty="0">
                <a:solidFill>
                  <a:srgbClr val="1F2761"/>
                </a:solidFill>
                <a:latin typeface="Inter" pitchFamily="34" charset="0"/>
                <a:ea typeface="Inter" pitchFamily="34" charset="-122"/>
                <a:cs typeface="Inter" pitchFamily="34" charset="-120"/>
              </a:rPr>
              <a:t>Fallback plan: a human catches the ticket</a:t>
            </a:r>
            <a:endParaRPr lang="en-US" sz="3000" dirty="0"/>
          </a:p>
        </p:txBody>
      </p:sp>
      <p:sp>
        <p:nvSpPr>
          <p:cNvPr id="6" name="Shape 3"/>
          <p:cNvSpPr/>
          <p:nvPr/>
        </p:nvSpPr>
        <p:spPr>
          <a:xfrm>
            <a:off x="612648" y="1371600"/>
            <a:ext cx="2523744" cy="3337560"/>
          </a:xfrm>
          <a:prstGeom prst="roundRect">
            <a:avLst>
              <a:gd name="adj" fmla="val 3986"/>
            </a:avLst>
          </a:prstGeom>
          <a:solidFill>
            <a:srgbClr val="FDFEFF"/>
          </a:solidFill>
          <a:ln w="9525">
            <a:solidFill>
              <a:srgbClr val="E0E4F2"/>
            </a:solidFill>
            <a:prstDash val="solid"/>
          </a:ln>
        </p:spPr>
        <p:txBody>
          <a:bodyPr/>
          <a:lstStyle/>
          <a:p>
            <a:endParaRPr lang="en-US"/>
          </a:p>
        </p:txBody>
      </p:sp>
      <p:sp>
        <p:nvSpPr>
          <p:cNvPr id="7" name="Shape 4"/>
          <p:cNvSpPr/>
          <p:nvPr/>
        </p:nvSpPr>
        <p:spPr>
          <a:xfrm>
            <a:off x="777240" y="1517904"/>
            <a:ext cx="475488" cy="475488"/>
          </a:xfrm>
          <a:prstGeom prst="ellipse">
            <a:avLst/>
          </a:prstGeom>
          <a:solidFill>
            <a:srgbClr val="E7EEFB"/>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924641" y="1665305"/>
            <a:ext cx="180685" cy="180685"/>
          </a:xfrm>
          <a:prstGeom prst="rect">
            <a:avLst/>
          </a:prstGeom>
        </p:spPr>
      </p:pic>
      <p:sp>
        <p:nvSpPr>
          <p:cNvPr id="9" name="Text 5"/>
          <p:cNvSpPr txBox="1"/>
          <p:nvPr/>
        </p:nvSpPr>
        <p:spPr>
          <a:xfrm>
            <a:off x="1389888" y="1517904"/>
            <a:ext cx="1655064" cy="475488"/>
          </a:xfrm>
          <a:prstGeom prst="rect">
            <a:avLst/>
          </a:prstGeom>
          <a:noFill/>
          <a:ln/>
        </p:spPr>
        <p:txBody>
          <a:bodyPr wrap="square" lIns="0" tIns="0" rIns="0" bIns="0" rtlCol="0" anchor="ctr"/>
          <a:lstStyle/>
          <a:p>
            <a:pPr marL="0" indent="0" algn="l">
              <a:buNone/>
            </a:pPr>
            <a:r>
              <a:rPr lang="en-US" sz="1350" b="1" dirty="0">
                <a:solidFill>
                  <a:srgbClr val="1F2761"/>
                </a:solidFill>
                <a:latin typeface="Inter" pitchFamily="34" charset="0"/>
                <a:ea typeface="Inter" pitchFamily="34" charset="-122"/>
                <a:cs typeface="Inter" pitchFamily="34" charset="-120"/>
              </a:rPr>
              <a:t>Webhook or tunnel fails</a:t>
            </a:r>
            <a:endParaRPr lang="en-US" sz="1350" dirty="0"/>
          </a:p>
        </p:txBody>
      </p:sp>
      <p:sp>
        <p:nvSpPr>
          <p:cNvPr id="10" name="Text 6"/>
          <p:cNvSpPr txBox="1"/>
          <p:nvPr/>
        </p:nvSpPr>
        <p:spPr>
          <a:xfrm>
            <a:off x="795528" y="2194560"/>
            <a:ext cx="2157984" cy="201168"/>
          </a:xfrm>
          <a:prstGeom prst="rect">
            <a:avLst/>
          </a:prstGeom>
          <a:noFill/>
          <a:ln/>
        </p:spPr>
        <p:txBody>
          <a:bodyPr wrap="square" lIns="0" tIns="0" rIns="0" bIns="0" rtlCol="0" anchor="t"/>
          <a:lstStyle/>
          <a:p>
            <a:pPr marL="0" indent="0" algn="l">
              <a:buNone/>
            </a:pPr>
            <a:r>
              <a:rPr lang="en-US" sz="1000" b="1" dirty="0">
                <a:solidFill>
                  <a:srgbClr val="F2AA3E"/>
                </a:solidFill>
                <a:latin typeface="Inter" pitchFamily="34" charset="0"/>
                <a:ea typeface="Inter" pitchFamily="34" charset="-122"/>
                <a:cs typeface="Inter" pitchFamily="34" charset="-120"/>
              </a:rPr>
              <a:t>WHAT BREAKS</a:t>
            </a:r>
            <a:endParaRPr lang="en-US" sz="1000" dirty="0"/>
          </a:p>
        </p:txBody>
      </p:sp>
      <p:sp>
        <p:nvSpPr>
          <p:cNvPr id="11" name="Text 7"/>
          <p:cNvSpPr txBox="1"/>
          <p:nvPr/>
        </p:nvSpPr>
        <p:spPr>
          <a:xfrm>
            <a:off x="795528" y="2423160"/>
            <a:ext cx="2157984" cy="777240"/>
          </a:xfrm>
          <a:prstGeom prst="rect">
            <a:avLst/>
          </a:prstGeom>
          <a:noFill/>
          <a:ln/>
        </p:spPr>
        <p:txBody>
          <a:bodyPr wrap="square" lIns="0" tIns="0" rIns="0" bIns="0" rtlCol="0" anchor="t"/>
          <a:lstStyle/>
          <a:p>
            <a:pPr marL="0" indent="0" algn="l">
              <a:lnSpc>
                <a:spcPct val="108000"/>
              </a:lnSpc>
              <a:buNone/>
            </a:pPr>
            <a:r>
              <a:rPr lang="en-US" sz="1150" dirty="0">
                <a:solidFill>
                  <a:srgbClr val="4A5578"/>
                </a:solidFill>
                <a:latin typeface="Inter" pitchFamily="34" charset="0"/>
                <a:ea typeface="Inter" pitchFamily="34" charset="-122"/>
                <a:cs typeface="Inter" pitchFamily="34" charset="-120"/>
              </a:rPr>
              <a:t>AI backend never gets the event; AI fields stay unset.</a:t>
            </a:r>
            <a:endParaRPr lang="en-US" sz="1150" dirty="0"/>
          </a:p>
        </p:txBody>
      </p:sp>
      <p:sp>
        <p:nvSpPr>
          <p:cNvPr id="12" name="Text 8"/>
          <p:cNvSpPr txBox="1"/>
          <p:nvPr/>
        </p:nvSpPr>
        <p:spPr>
          <a:xfrm>
            <a:off x="795528" y="3291840"/>
            <a:ext cx="2157984" cy="201168"/>
          </a:xfrm>
          <a:prstGeom prst="rect">
            <a:avLst/>
          </a:prstGeom>
          <a:noFill/>
          <a:ln/>
        </p:spPr>
        <p:txBody>
          <a:bodyPr wrap="square" lIns="0" tIns="0" rIns="0" bIns="0" rtlCol="0" anchor="t"/>
          <a:lstStyle/>
          <a:p>
            <a:pPr marL="0" indent="0" algn="l">
              <a:buNone/>
            </a:pPr>
            <a:r>
              <a:rPr lang="en-US" sz="1000" b="1" dirty="0">
                <a:solidFill>
                  <a:srgbClr val="0050FF"/>
                </a:solidFill>
                <a:latin typeface="Inter" pitchFamily="34" charset="0"/>
                <a:ea typeface="Inter" pitchFamily="34" charset="-122"/>
                <a:cs typeface="Inter" pitchFamily="34" charset="-120"/>
              </a:rPr>
              <a:t>HOW WE RECOVER</a:t>
            </a:r>
            <a:endParaRPr lang="en-US" sz="1000" dirty="0"/>
          </a:p>
        </p:txBody>
      </p:sp>
      <p:sp>
        <p:nvSpPr>
          <p:cNvPr id="13" name="Text 9"/>
          <p:cNvSpPr txBox="1"/>
          <p:nvPr/>
        </p:nvSpPr>
        <p:spPr>
          <a:xfrm>
            <a:off x="795528" y="3520440"/>
            <a:ext cx="2157984" cy="1097280"/>
          </a:xfrm>
          <a:prstGeom prst="rect">
            <a:avLst/>
          </a:prstGeom>
          <a:noFill/>
          <a:ln/>
        </p:spPr>
        <p:txBody>
          <a:bodyPr wrap="square" lIns="0" tIns="0" rIns="0" bIns="0" rtlCol="0" anchor="t"/>
          <a:lstStyle/>
          <a:p>
            <a:pPr marL="0" indent="0" algn="l">
              <a:lnSpc>
                <a:spcPct val="108000"/>
              </a:lnSpc>
              <a:buNone/>
            </a:pPr>
            <a:r>
              <a:rPr lang="en-US" sz="1150" dirty="0">
                <a:solidFill>
                  <a:srgbClr val="4A5578"/>
                </a:solidFill>
                <a:latin typeface="Inter" pitchFamily="34" charset="0"/>
                <a:ea typeface="Inter" pitchFamily="34" charset="-122"/>
                <a:cs typeface="Inter" pitchFamily="34" charset="-120"/>
              </a:rPr>
              <a:t>Helpdesk triages manually. Support restarts ngrok and FastAPI, then retries.</a:t>
            </a:r>
            <a:endParaRPr lang="en-US" sz="1150" dirty="0"/>
          </a:p>
        </p:txBody>
      </p:sp>
      <p:sp>
        <p:nvSpPr>
          <p:cNvPr id="14" name="Shape 10"/>
          <p:cNvSpPr/>
          <p:nvPr/>
        </p:nvSpPr>
        <p:spPr>
          <a:xfrm>
            <a:off x="3310128" y="1371600"/>
            <a:ext cx="2523744" cy="3337560"/>
          </a:xfrm>
          <a:prstGeom prst="roundRect">
            <a:avLst>
              <a:gd name="adj" fmla="val 3986"/>
            </a:avLst>
          </a:prstGeom>
          <a:solidFill>
            <a:srgbClr val="FDFEFF"/>
          </a:solidFill>
          <a:ln w="9525">
            <a:solidFill>
              <a:srgbClr val="E0E4F2"/>
            </a:solidFill>
            <a:prstDash val="solid"/>
          </a:ln>
        </p:spPr>
        <p:txBody>
          <a:bodyPr/>
          <a:lstStyle/>
          <a:p>
            <a:endParaRPr lang="en-US"/>
          </a:p>
        </p:txBody>
      </p:sp>
      <p:sp>
        <p:nvSpPr>
          <p:cNvPr id="15" name="Shape 11"/>
          <p:cNvSpPr/>
          <p:nvPr/>
        </p:nvSpPr>
        <p:spPr>
          <a:xfrm>
            <a:off x="3474720" y="1517904"/>
            <a:ext cx="475488" cy="475488"/>
          </a:xfrm>
          <a:prstGeom prst="ellipse">
            <a:avLst/>
          </a:prstGeom>
          <a:solidFill>
            <a:srgbClr val="E7EEFB"/>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3622121" y="1665305"/>
            <a:ext cx="180685" cy="180685"/>
          </a:xfrm>
          <a:prstGeom prst="rect">
            <a:avLst/>
          </a:prstGeom>
        </p:spPr>
      </p:pic>
      <p:sp>
        <p:nvSpPr>
          <p:cNvPr id="17" name="Text 12"/>
          <p:cNvSpPr txBox="1"/>
          <p:nvPr/>
        </p:nvSpPr>
        <p:spPr>
          <a:xfrm>
            <a:off x="4087368" y="1517904"/>
            <a:ext cx="1655064" cy="475488"/>
          </a:xfrm>
          <a:prstGeom prst="rect">
            <a:avLst/>
          </a:prstGeom>
          <a:noFill/>
          <a:ln/>
        </p:spPr>
        <p:txBody>
          <a:bodyPr wrap="square" lIns="0" tIns="0" rIns="0" bIns="0" rtlCol="0" anchor="ctr"/>
          <a:lstStyle/>
          <a:p>
            <a:pPr marL="0" indent="0" algn="l">
              <a:buNone/>
            </a:pPr>
            <a:r>
              <a:rPr lang="en-US" sz="1350" b="1" dirty="0">
                <a:solidFill>
                  <a:srgbClr val="1F2761"/>
                </a:solidFill>
                <a:latin typeface="Inter" pitchFamily="34" charset="0"/>
                <a:ea typeface="Inter" pitchFamily="34" charset="-122"/>
                <a:cs typeface="Inter" pitchFamily="34" charset="-120"/>
              </a:rPr>
              <a:t>Queue worker crashes</a:t>
            </a:r>
            <a:endParaRPr lang="en-US" sz="1350" dirty="0"/>
          </a:p>
        </p:txBody>
      </p:sp>
      <p:sp>
        <p:nvSpPr>
          <p:cNvPr id="18" name="Text 13"/>
          <p:cNvSpPr txBox="1"/>
          <p:nvPr/>
        </p:nvSpPr>
        <p:spPr>
          <a:xfrm>
            <a:off x="3493008" y="2194560"/>
            <a:ext cx="2157984" cy="201168"/>
          </a:xfrm>
          <a:prstGeom prst="rect">
            <a:avLst/>
          </a:prstGeom>
          <a:noFill/>
          <a:ln/>
        </p:spPr>
        <p:txBody>
          <a:bodyPr wrap="square" lIns="0" tIns="0" rIns="0" bIns="0" rtlCol="0" anchor="t"/>
          <a:lstStyle/>
          <a:p>
            <a:pPr marL="0" indent="0" algn="l">
              <a:buNone/>
            </a:pPr>
            <a:r>
              <a:rPr lang="en-US" sz="1000" b="1" dirty="0">
                <a:solidFill>
                  <a:srgbClr val="F2AA3E"/>
                </a:solidFill>
                <a:latin typeface="Inter" pitchFamily="34" charset="0"/>
                <a:ea typeface="Inter" pitchFamily="34" charset="-122"/>
                <a:cs typeface="Inter" pitchFamily="34" charset="-120"/>
              </a:rPr>
              <a:t>WHAT BREAKS</a:t>
            </a:r>
            <a:endParaRPr lang="en-US" sz="1000" dirty="0"/>
          </a:p>
        </p:txBody>
      </p:sp>
      <p:sp>
        <p:nvSpPr>
          <p:cNvPr id="19" name="Text 14"/>
          <p:cNvSpPr txBox="1"/>
          <p:nvPr/>
        </p:nvSpPr>
        <p:spPr>
          <a:xfrm>
            <a:off x="3493008" y="2423160"/>
            <a:ext cx="2157984" cy="777240"/>
          </a:xfrm>
          <a:prstGeom prst="rect">
            <a:avLst/>
          </a:prstGeom>
          <a:noFill/>
          <a:ln/>
        </p:spPr>
        <p:txBody>
          <a:bodyPr wrap="square" lIns="0" tIns="0" rIns="0" bIns="0" rtlCol="0" anchor="t"/>
          <a:lstStyle/>
          <a:p>
            <a:pPr marL="0" indent="0" algn="l">
              <a:lnSpc>
                <a:spcPct val="108000"/>
              </a:lnSpc>
              <a:buNone/>
            </a:pPr>
            <a:r>
              <a:rPr lang="en-US" sz="1150" dirty="0">
                <a:solidFill>
                  <a:srgbClr val="4A5578"/>
                </a:solidFill>
                <a:latin typeface="Inter" pitchFamily="34" charset="0"/>
                <a:ea typeface="Inter" pitchFamily="34" charset="-122"/>
                <a:cs typeface="Inter" pitchFamily="34" charset="-120"/>
              </a:rPr>
              <a:t>FastAPI still accepts the event, but analysis waits in the queue.</a:t>
            </a:r>
            <a:endParaRPr lang="en-US" sz="1150" dirty="0"/>
          </a:p>
        </p:txBody>
      </p:sp>
      <p:sp>
        <p:nvSpPr>
          <p:cNvPr id="20" name="Text 15"/>
          <p:cNvSpPr txBox="1"/>
          <p:nvPr/>
        </p:nvSpPr>
        <p:spPr>
          <a:xfrm>
            <a:off x="3493008" y="3291840"/>
            <a:ext cx="2157984" cy="201168"/>
          </a:xfrm>
          <a:prstGeom prst="rect">
            <a:avLst/>
          </a:prstGeom>
          <a:noFill/>
          <a:ln/>
        </p:spPr>
        <p:txBody>
          <a:bodyPr wrap="square" lIns="0" tIns="0" rIns="0" bIns="0" rtlCol="0" anchor="t"/>
          <a:lstStyle/>
          <a:p>
            <a:pPr marL="0" indent="0" algn="l">
              <a:buNone/>
            </a:pPr>
            <a:r>
              <a:rPr lang="en-US" sz="1000" b="1" dirty="0">
                <a:solidFill>
                  <a:srgbClr val="0050FF"/>
                </a:solidFill>
                <a:latin typeface="Inter" pitchFamily="34" charset="0"/>
                <a:ea typeface="Inter" pitchFamily="34" charset="-122"/>
                <a:cs typeface="Inter" pitchFamily="34" charset="-120"/>
              </a:rPr>
              <a:t>HOW WE RECOVER</a:t>
            </a:r>
            <a:endParaRPr lang="en-US" sz="1000" dirty="0"/>
          </a:p>
        </p:txBody>
      </p:sp>
      <p:sp>
        <p:nvSpPr>
          <p:cNvPr id="21" name="Text 16"/>
          <p:cNvSpPr txBox="1"/>
          <p:nvPr/>
        </p:nvSpPr>
        <p:spPr>
          <a:xfrm>
            <a:off x="3493008" y="3520440"/>
            <a:ext cx="2157984" cy="1097280"/>
          </a:xfrm>
          <a:prstGeom prst="rect">
            <a:avLst/>
          </a:prstGeom>
          <a:noFill/>
          <a:ln/>
        </p:spPr>
        <p:txBody>
          <a:bodyPr wrap="square" lIns="0" tIns="0" rIns="0" bIns="0" rtlCol="0" anchor="t"/>
          <a:lstStyle/>
          <a:p>
            <a:pPr marL="0" indent="0" algn="l">
              <a:lnSpc>
                <a:spcPct val="108000"/>
              </a:lnSpc>
              <a:buNone/>
            </a:pPr>
            <a:r>
              <a:rPr lang="en-US" sz="1150" dirty="0">
                <a:solidFill>
                  <a:srgbClr val="4A5578"/>
                </a:solidFill>
                <a:latin typeface="Inter" pitchFamily="34" charset="0"/>
                <a:ea typeface="Inter" pitchFamily="34" charset="-122"/>
                <a:cs typeface="Inter" pitchFamily="34" charset="-120"/>
              </a:rPr>
              <a:t>/health flags the missing worker. It restarts and resumes from Redis.</a:t>
            </a:r>
            <a:endParaRPr lang="en-US" sz="1150" dirty="0"/>
          </a:p>
        </p:txBody>
      </p:sp>
      <p:sp>
        <p:nvSpPr>
          <p:cNvPr id="22" name="Shape 17"/>
          <p:cNvSpPr/>
          <p:nvPr/>
        </p:nvSpPr>
        <p:spPr>
          <a:xfrm>
            <a:off x="6007608" y="1371600"/>
            <a:ext cx="2523744" cy="3337560"/>
          </a:xfrm>
          <a:prstGeom prst="roundRect">
            <a:avLst>
              <a:gd name="adj" fmla="val 3986"/>
            </a:avLst>
          </a:prstGeom>
          <a:solidFill>
            <a:srgbClr val="FDFEFF"/>
          </a:solidFill>
          <a:ln w="9525">
            <a:solidFill>
              <a:srgbClr val="E0E4F2"/>
            </a:solidFill>
            <a:prstDash val="solid"/>
          </a:ln>
        </p:spPr>
        <p:txBody>
          <a:bodyPr/>
          <a:lstStyle/>
          <a:p>
            <a:endParaRPr lang="en-US"/>
          </a:p>
        </p:txBody>
      </p:sp>
      <p:sp>
        <p:nvSpPr>
          <p:cNvPr id="23" name="Shape 18"/>
          <p:cNvSpPr/>
          <p:nvPr/>
        </p:nvSpPr>
        <p:spPr>
          <a:xfrm>
            <a:off x="6172200" y="1517904"/>
            <a:ext cx="475488" cy="475488"/>
          </a:xfrm>
          <a:prstGeom prst="ellipse">
            <a:avLst/>
          </a:prstGeom>
          <a:solidFill>
            <a:srgbClr val="E7EEFB"/>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6319601" y="1665305"/>
            <a:ext cx="180685" cy="180685"/>
          </a:xfrm>
          <a:prstGeom prst="rect">
            <a:avLst/>
          </a:prstGeom>
        </p:spPr>
      </p:pic>
      <p:sp>
        <p:nvSpPr>
          <p:cNvPr id="25" name="Text 19"/>
          <p:cNvSpPr txBox="1"/>
          <p:nvPr/>
        </p:nvSpPr>
        <p:spPr>
          <a:xfrm>
            <a:off x="6784848" y="1517904"/>
            <a:ext cx="1655064" cy="475488"/>
          </a:xfrm>
          <a:prstGeom prst="rect">
            <a:avLst/>
          </a:prstGeom>
          <a:noFill/>
          <a:ln/>
        </p:spPr>
        <p:txBody>
          <a:bodyPr wrap="square" lIns="0" tIns="0" rIns="0" bIns="0" rtlCol="0" anchor="ctr"/>
          <a:lstStyle/>
          <a:p>
            <a:pPr marL="0" indent="0" algn="l">
              <a:buNone/>
            </a:pPr>
            <a:r>
              <a:rPr lang="en-US" sz="1350" b="1" dirty="0">
                <a:solidFill>
                  <a:srgbClr val="1F2761"/>
                </a:solidFill>
                <a:latin typeface="Inter" pitchFamily="34" charset="0"/>
                <a:ea typeface="Inter" pitchFamily="34" charset="-122"/>
                <a:cs typeface="Inter" pitchFamily="34" charset="-120"/>
              </a:rPr>
              <a:t>Qdrant or LLM outage</a:t>
            </a:r>
            <a:endParaRPr lang="en-US" sz="1350" dirty="0"/>
          </a:p>
        </p:txBody>
      </p:sp>
      <p:sp>
        <p:nvSpPr>
          <p:cNvPr id="26" name="Text 20"/>
          <p:cNvSpPr txBox="1"/>
          <p:nvPr/>
        </p:nvSpPr>
        <p:spPr>
          <a:xfrm>
            <a:off x="6190488" y="2194560"/>
            <a:ext cx="2157984" cy="201168"/>
          </a:xfrm>
          <a:prstGeom prst="rect">
            <a:avLst/>
          </a:prstGeom>
          <a:noFill/>
          <a:ln/>
        </p:spPr>
        <p:txBody>
          <a:bodyPr wrap="square" lIns="0" tIns="0" rIns="0" bIns="0" rtlCol="0" anchor="t"/>
          <a:lstStyle/>
          <a:p>
            <a:pPr marL="0" indent="0" algn="l">
              <a:buNone/>
            </a:pPr>
            <a:r>
              <a:rPr lang="en-US" sz="1000" b="1" dirty="0">
                <a:solidFill>
                  <a:srgbClr val="F2AA3E"/>
                </a:solidFill>
                <a:latin typeface="Inter" pitchFamily="34" charset="0"/>
                <a:ea typeface="Inter" pitchFamily="34" charset="-122"/>
                <a:cs typeface="Inter" pitchFamily="34" charset="-120"/>
              </a:rPr>
              <a:t>WHAT BREAKS</a:t>
            </a:r>
            <a:endParaRPr lang="en-US" sz="1000" dirty="0"/>
          </a:p>
        </p:txBody>
      </p:sp>
      <p:sp>
        <p:nvSpPr>
          <p:cNvPr id="27" name="Text 21"/>
          <p:cNvSpPr txBox="1"/>
          <p:nvPr/>
        </p:nvSpPr>
        <p:spPr>
          <a:xfrm>
            <a:off x="6190488" y="2423160"/>
            <a:ext cx="2157984" cy="777240"/>
          </a:xfrm>
          <a:prstGeom prst="rect">
            <a:avLst/>
          </a:prstGeom>
          <a:noFill/>
          <a:ln/>
        </p:spPr>
        <p:txBody>
          <a:bodyPr wrap="square" lIns="0" tIns="0" rIns="0" bIns="0" rtlCol="0" anchor="t"/>
          <a:lstStyle/>
          <a:p>
            <a:pPr marL="0" indent="0" algn="l">
              <a:lnSpc>
                <a:spcPct val="108000"/>
              </a:lnSpc>
              <a:buNone/>
            </a:pPr>
            <a:r>
              <a:rPr lang="en-US" sz="1150" dirty="0">
                <a:solidFill>
                  <a:srgbClr val="4A5578"/>
                </a:solidFill>
                <a:latin typeface="Inter" pitchFamily="34" charset="0"/>
                <a:ea typeface="Inter" pitchFamily="34" charset="-122"/>
                <a:cs typeface="Inter" pitchFamily="34" charset="-120"/>
              </a:rPr>
              <a:t>Retrieval or generation fails (429, 500, timeout).</a:t>
            </a:r>
            <a:endParaRPr lang="en-US" sz="1150" dirty="0"/>
          </a:p>
        </p:txBody>
      </p:sp>
      <p:sp>
        <p:nvSpPr>
          <p:cNvPr id="28" name="Text 22"/>
          <p:cNvSpPr txBox="1"/>
          <p:nvPr/>
        </p:nvSpPr>
        <p:spPr>
          <a:xfrm>
            <a:off x="6190488" y="3291840"/>
            <a:ext cx="2157984" cy="201168"/>
          </a:xfrm>
          <a:prstGeom prst="rect">
            <a:avLst/>
          </a:prstGeom>
          <a:noFill/>
          <a:ln/>
        </p:spPr>
        <p:txBody>
          <a:bodyPr wrap="square" lIns="0" tIns="0" rIns="0" bIns="0" rtlCol="0" anchor="t"/>
          <a:lstStyle/>
          <a:p>
            <a:pPr marL="0" indent="0" algn="l">
              <a:buNone/>
            </a:pPr>
            <a:r>
              <a:rPr lang="en-US" sz="1000" b="1" dirty="0">
                <a:solidFill>
                  <a:srgbClr val="0050FF"/>
                </a:solidFill>
                <a:latin typeface="Inter" pitchFamily="34" charset="0"/>
                <a:ea typeface="Inter" pitchFamily="34" charset="-122"/>
                <a:cs typeface="Inter" pitchFamily="34" charset="-120"/>
              </a:rPr>
              <a:t>HOW WE RECOVER</a:t>
            </a:r>
            <a:endParaRPr lang="en-US" sz="1000" dirty="0"/>
          </a:p>
        </p:txBody>
      </p:sp>
      <p:sp>
        <p:nvSpPr>
          <p:cNvPr id="29" name="Text 23"/>
          <p:cNvSpPr txBox="1"/>
          <p:nvPr/>
        </p:nvSpPr>
        <p:spPr>
          <a:xfrm>
            <a:off x="6190488" y="3520440"/>
            <a:ext cx="2157984" cy="1097280"/>
          </a:xfrm>
          <a:prstGeom prst="rect">
            <a:avLst/>
          </a:prstGeom>
          <a:noFill/>
          <a:ln/>
        </p:spPr>
        <p:txBody>
          <a:bodyPr wrap="square" lIns="0" tIns="0" rIns="0" bIns="0" rtlCol="0" anchor="t"/>
          <a:lstStyle/>
          <a:p>
            <a:pPr marL="0" indent="0" algn="l">
              <a:lnSpc>
                <a:spcPct val="108000"/>
              </a:lnSpc>
              <a:buNone/>
            </a:pPr>
            <a:r>
              <a:rPr lang="en-US" sz="1150" dirty="0">
                <a:solidFill>
                  <a:srgbClr val="4A5578"/>
                </a:solidFill>
                <a:latin typeface="Inter" pitchFamily="34" charset="0"/>
                <a:ea typeface="Inter" pitchFamily="34" charset="-122"/>
                <a:cs typeface="Inter" pitchFamily="34" charset="-120"/>
              </a:rPr>
              <a:t>Agent sets human_review_required = true; the incident returns to Tier 1.</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D"/>
        </a:solidFill>
        <a:effectLst/>
      </p:bgPr>
    </p:bg>
    <p:spTree>
      <p:nvGrpSpPr>
        <p:cNvPr id="1" name=""/>
        <p:cNvGrpSpPr/>
        <p:nvPr/>
      </p:nvGrpSpPr>
      <p:grpSpPr>
        <a:xfrm>
          <a:off x="0" y="0"/>
          <a:ext cx="0" cy="0"/>
          <a:chOff x="0" y="0"/>
          <a:chExt cx="0" cy="0"/>
        </a:xfrm>
      </p:grpSpPr>
      <p:sp>
        <p:nvSpPr>
          <p:cNvPr id="2" name="Text 0"/>
          <p:cNvSpPr txBox="1"/>
          <p:nvPr/>
        </p:nvSpPr>
        <p:spPr>
          <a:xfrm>
            <a:off x="7863840" y="4828032"/>
            <a:ext cx="667512" cy="137160"/>
          </a:xfrm>
          <a:prstGeom prst="rect">
            <a:avLst/>
          </a:prstGeom>
          <a:noFill/>
          <a:ln/>
        </p:spPr>
        <p:txBody>
          <a:bodyPr wrap="square" lIns="0" tIns="0" rIns="0" bIns="0" rtlCol="0" anchor="t"/>
          <a:lstStyle/>
          <a:p>
            <a:pPr marL="0" indent="0" algn="r">
              <a:buNone/>
            </a:pPr>
            <a:r>
              <a:rPr lang="en-US" sz="900" dirty="0">
                <a:solidFill>
                  <a:srgbClr val="B8C2E0"/>
                </a:solidFill>
                <a:latin typeface="Inter" pitchFamily="34" charset="0"/>
                <a:ea typeface="Inter" pitchFamily="34" charset="-122"/>
                <a:cs typeface="Inter" pitchFamily="34" charset="-120"/>
              </a:rPr>
              <a:t>18</a:t>
            </a:r>
            <a:endParaRPr lang="en-US" sz="900" dirty="0"/>
          </a:p>
        </p:txBody>
      </p:sp>
      <p:pic>
        <p:nvPicPr>
          <p:cNvPr id="3" name="Image 0" descr="logo.png"/>
          <p:cNvPicPr>
            <a:picLocks noChangeAspect="1"/>
          </p:cNvPicPr>
          <p:nvPr/>
        </p:nvPicPr>
        <p:blipFill>
          <a:blip r:embed="rId3"/>
          <a:stretch>
            <a:fillRect/>
          </a:stretch>
        </p:blipFill>
        <p:spPr>
          <a:xfrm>
            <a:off x="612648" y="237744"/>
            <a:ext cx="850392" cy="190195"/>
          </a:xfrm>
          <a:prstGeom prst="rect">
            <a:avLst/>
          </a:prstGeom>
        </p:spPr>
      </p:pic>
      <p:sp>
        <p:nvSpPr>
          <p:cNvPr id="4" name="Text 1"/>
          <p:cNvSpPr txBox="1"/>
          <p:nvPr/>
        </p:nvSpPr>
        <p:spPr>
          <a:xfrm>
            <a:off x="612648" y="566928"/>
            <a:ext cx="7315200" cy="201168"/>
          </a:xfrm>
          <a:prstGeom prst="rect">
            <a:avLst/>
          </a:prstGeom>
          <a:noFill/>
          <a:ln/>
        </p:spPr>
        <p:txBody>
          <a:bodyPr wrap="square" lIns="0" tIns="0" rIns="0" bIns="0" rtlCol="0" anchor="t"/>
          <a:lstStyle/>
          <a:p>
            <a:pPr marL="0" indent="0" algn="l">
              <a:buNone/>
            </a:pPr>
            <a:r>
              <a:rPr lang="en-US" sz="1100" b="1" dirty="0">
                <a:solidFill>
                  <a:srgbClr val="0050FF"/>
                </a:solidFill>
                <a:latin typeface="Inter" pitchFamily="34" charset="0"/>
                <a:ea typeface="Inter" pitchFamily="34" charset="-122"/>
                <a:cs typeface="Inter" pitchFamily="34" charset="-120"/>
              </a:rPr>
              <a:t>APPENDIX · LIVE EVIDENCE</a:t>
            </a:r>
            <a:endParaRPr lang="en-US" sz="1100" dirty="0"/>
          </a:p>
        </p:txBody>
      </p:sp>
      <p:sp>
        <p:nvSpPr>
          <p:cNvPr id="5" name="Text 2"/>
          <p:cNvSpPr txBox="1"/>
          <p:nvPr/>
        </p:nvSpPr>
        <p:spPr>
          <a:xfrm>
            <a:off x="612648" y="804672"/>
            <a:ext cx="7918704" cy="411480"/>
          </a:xfrm>
          <a:prstGeom prst="rect">
            <a:avLst/>
          </a:prstGeom>
          <a:noFill/>
          <a:ln/>
        </p:spPr>
        <p:txBody>
          <a:bodyPr wrap="square" lIns="0" tIns="0" rIns="0" bIns="0" rtlCol="0" anchor="ctr"/>
          <a:lstStyle/>
          <a:p>
            <a:pPr marL="0" indent="0" algn="l">
              <a:buNone/>
            </a:pPr>
            <a:r>
              <a:rPr lang="en-US" sz="2800" b="1" dirty="0">
                <a:solidFill>
                  <a:srgbClr val="1F2761"/>
                </a:solidFill>
                <a:latin typeface="Inter" pitchFamily="34" charset="0"/>
                <a:ea typeface="Inter" pitchFamily="34" charset="-122"/>
                <a:cs typeface="Inter" pitchFamily="34" charset="-120"/>
              </a:rPr>
              <a:t>Verified live: incident to cited suggestion</a:t>
            </a:r>
            <a:endParaRPr lang="en-US" sz="2800" dirty="0"/>
          </a:p>
        </p:txBody>
      </p:sp>
      <p:sp>
        <p:nvSpPr>
          <p:cNvPr id="6" name="Shape 3"/>
          <p:cNvSpPr/>
          <p:nvPr/>
        </p:nvSpPr>
        <p:spPr>
          <a:xfrm>
            <a:off x="612648" y="1371600"/>
            <a:ext cx="5029200" cy="2286000"/>
          </a:xfrm>
          <a:prstGeom prst="roundRect">
            <a:avLst>
              <a:gd name="adj" fmla="val 4400"/>
            </a:avLst>
          </a:prstGeom>
          <a:solidFill>
            <a:srgbClr val="FDFEFF"/>
          </a:solidFill>
          <a:ln w="9525">
            <a:solidFill>
              <a:srgbClr val="E0E4F2"/>
            </a:solidFill>
            <a:prstDash val="solid"/>
          </a:ln>
        </p:spPr>
        <p:txBody>
          <a:bodyPr/>
          <a:lstStyle/>
          <a:p>
            <a:endParaRPr lang="en-US"/>
          </a:p>
        </p:txBody>
      </p:sp>
      <p:sp>
        <p:nvSpPr>
          <p:cNvPr id="7" name="Text 4"/>
          <p:cNvSpPr txBox="1"/>
          <p:nvPr/>
        </p:nvSpPr>
        <p:spPr>
          <a:xfrm>
            <a:off x="768096" y="1444752"/>
            <a:ext cx="3657600" cy="201168"/>
          </a:xfrm>
          <a:prstGeom prst="rect">
            <a:avLst/>
          </a:prstGeom>
          <a:noFill/>
          <a:ln/>
        </p:spPr>
        <p:txBody>
          <a:bodyPr wrap="square" lIns="0" tIns="0" rIns="0" bIns="0" rtlCol="0" anchor="t"/>
          <a:lstStyle/>
          <a:p>
            <a:pPr marL="0" indent="0" algn="l">
              <a:buNone/>
            </a:pPr>
            <a:r>
              <a:rPr lang="en-US" sz="1000" b="1" dirty="0">
                <a:solidFill>
                  <a:srgbClr val="0050FF"/>
                </a:solidFill>
                <a:latin typeface="Inter" pitchFamily="34" charset="0"/>
                <a:ea typeface="Inter" pitchFamily="34" charset="-122"/>
                <a:cs typeface="Inter" pitchFamily="34" charset="-120"/>
              </a:rPr>
              <a:t>SERVICENOW: AI TRIAGER TAB</a:t>
            </a:r>
            <a:endParaRPr lang="en-US" sz="1000" dirty="0"/>
          </a:p>
        </p:txBody>
      </p:sp>
      <p:pic>
        <p:nvPicPr>
          <p:cNvPr id="8" name="Image 1" descr="ev_servicenow.png"/>
          <p:cNvPicPr>
            <a:picLocks noChangeAspect="1"/>
          </p:cNvPicPr>
          <p:nvPr/>
        </p:nvPicPr>
        <p:blipFill>
          <a:blip r:embed="rId4"/>
          <a:stretch>
            <a:fillRect/>
          </a:stretch>
        </p:blipFill>
        <p:spPr>
          <a:xfrm>
            <a:off x="768096" y="1737360"/>
            <a:ext cx="4718304" cy="2081817"/>
          </a:xfrm>
          <a:prstGeom prst="rect">
            <a:avLst/>
          </a:prstGeom>
        </p:spPr>
      </p:pic>
      <p:sp>
        <p:nvSpPr>
          <p:cNvPr id="9" name="Shape 5"/>
          <p:cNvSpPr/>
          <p:nvPr/>
        </p:nvSpPr>
        <p:spPr>
          <a:xfrm>
            <a:off x="5779008" y="1371600"/>
            <a:ext cx="2752344" cy="2286000"/>
          </a:xfrm>
          <a:prstGeom prst="roundRect">
            <a:avLst>
              <a:gd name="adj" fmla="val 4400"/>
            </a:avLst>
          </a:prstGeom>
          <a:solidFill>
            <a:srgbClr val="FDFEFF"/>
          </a:solidFill>
          <a:ln w="9525">
            <a:solidFill>
              <a:srgbClr val="E0E4F2"/>
            </a:solidFill>
            <a:prstDash val="solid"/>
          </a:ln>
        </p:spPr>
        <p:txBody>
          <a:bodyPr/>
          <a:lstStyle/>
          <a:p>
            <a:endParaRPr lang="en-US"/>
          </a:p>
        </p:txBody>
      </p:sp>
      <p:sp>
        <p:nvSpPr>
          <p:cNvPr id="10" name="Text 6"/>
          <p:cNvSpPr txBox="1"/>
          <p:nvPr/>
        </p:nvSpPr>
        <p:spPr>
          <a:xfrm>
            <a:off x="5916168" y="1444752"/>
            <a:ext cx="2569464" cy="201168"/>
          </a:xfrm>
          <a:prstGeom prst="rect">
            <a:avLst/>
          </a:prstGeom>
          <a:noFill/>
          <a:ln/>
        </p:spPr>
        <p:txBody>
          <a:bodyPr wrap="square" lIns="0" tIns="0" rIns="0" bIns="0" rtlCol="0" anchor="t"/>
          <a:lstStyle/>
          <a:p>
            <a:pPr marL="0" indent="0" algn="l">
              <a:buNone/>
            </a:pPr>
            <a:r>
              <a:rPr lang="en-US" sz="1000" b="1" dirty="0">
                <a:solidFill>
                  <a:srgbClr val="F2AA3E"/>
                </a:solidFill>
                <a:latin typeface="Inter" pitchFamily="34" charset="0"/>
                <a:ea typeface="Inter" pitchFamily="34" charset="-122"/>
                <a:cs typeface="Inter" pitchFamily="34" charset="-120"/>
              </a:rPr>
              <a:t>TERMINAL: E2E SCRIPT</a:t>
            </a:r>
            <a:endParaRPr lang="en-US" sz="1000" dirty="0"/>
          </a:p>
        </p:txBody>
      </p:sp>
      <p:pic>
        <p:nvPicPr>
          <p:cNvPr id="11" name="Image 2" descr="ev_terminal.png"/>
          <p:cNvPicPr>
            <a:picLocks noChangeAspect="1"/>
          </p:cNvPicPr>
          <p:nvPr/>
        </p:nvPicPr>
        <p:blipFill>
          <a:blip r:embed="rId5"/>
          <a:stretch>
            <a:fillRect/>
          </a:stretch>
        </p:blipFill>
        <p:spPr>
          <a:xfrm>
            <a:off x="5916168" y="1737360"/>
            <a:ext cx="2478024" cy="1387407"/>
          </a:xfrm>
          <a:prstGeom prst="rect">
            <a:avLst/>
          </a:prstGeom>
        </p:spPr>
      </p:pic>
      <p:sp>
        <p:nvSpPr>
          <p:cNvPr id="12" name="Shape 7"/>
          <p:cNvSpPr/>
          <p:nvPr/>
        </p:nvSpPr>
        <p:spPr>
          <a:xfrm>
            <a:off x="612648" y="3840480"/>
            <a:ext cx="2548128" cy="566928"/>
          </a:xfrm>
          <a:prstGeom prst="roundRect">
            <a:avLst>
              <a:gd name="adj" fmla="val 16129"/>
            </a:avLst>
          </a:prstGeom>
          <a:solidFill>
            <a:srgbClr val="E7EEFB"/>
          </a:solidFill>
          <a:ln/>
        </p:spPr>
        <p:txBody>
          <a:bodyPr/>
          <a:lstStyle/>
          <a:p>
            <a:endParaRPr lang="en-US"/>
          </a:p>
        </p:txBody>
      </p:sp>
      <p:sp>
        <p:nvSpPr>
          <p:cNvPr id="13" name="Text 8"/>
          <p:cNvSpPr txBox="1"/>
          <p:nvPr/>
        </p:nvSpPr>
        <p:spPr>
          <a:xfrm>
            <a:off x="749808" y="3840480"/>
            <a:ext cx="731520" cy="566928"/>
          </a:xfrm>
          <a:prstGeom prst="rect">
            <a:avLst/>
          </a:prstGeom>
          <a:noFill/>
          <a:ln/>
        </p:spPr>
        <p:txBody>
          <a:bodyPr wrap="square" lIns="0" tIns="0" rIns="0" bIns="0" rtlCol="0" anchor="ctr"/>
          <a:lstStyle/>
          <a:p>
            <a:pPr marL="0" indent="0" algn="l">
              <a:buNone/>
            </a:pPr>
            <a:r>
              <a:rPr lang="en-US" sz="1700" b="1" dirty="0">
                <a:solidFill>
                  <a:srgbClr val="0050FF"/>
                </a:solidFill>
                <a:latin typeface="Inter" pitchFamily="34" charset="0"/>
                <a:ea typeface="Inter" pitchFamily="34" charset="-122"/>
                <a:cs typeface="Inter" pitchFamily="34" charset="-120"/>
              </a:rPr>
              <a:t>0 s</a:t>
            </a:r>
            <a:endParaRPr lang="en-US" sz="1700" dirty="0"/>
          </a:p>
        </p:txBody>
      </p:sp>
      <p:sp>
        <p:nvSpPr>
          <p:cNvPr id="14" name="Text 9"/>
          <p:cNvSpPr txBox="1"/>
          <p:nvPr/>
        </p:nvSpPr>
        <p:spPr>
          <a:xfrm>
            <a:off x="1481328" y="3840480"/>
            <a:ext cx="1633728" cy="566928"/>
          </a:xfrm>
          <a:prstGeom prst="rect">
            <a:avLst/>
          </a:prstGeom>
          <a:noFill/>
          <a:ln/>
        </p:spPr>
        <p:txBody>
          <a:bodyPr wrap="square" lIns="0" tIns="0" rIns="0" bIns="0" rtlCol="0" anchor="ctr"/>
          <a:lstStyle/>
          <a:p>
            <a:pPr marL="0" indent="0" algn="l">
              <a:buNone/>
            </a:pPr>
            <a:r>
              <a:rPr lang="en-US" sz="1100" dirty="0">
                <a:solidFill>
                  <a:srgbClr val="1F2761"/>
                </a:solidFill>
                <a:latin typeface="Inter" pitchFamily="34" charset="0"/>
                <a:ea typeface="Inter" pitchFamily="34" charset="-122"/>
                <a:cs typeface="Inter" pitchFamily="34" charset="-120"/>
              </a:rPr>
              <a:t>Incident INC0010116 created</a:t>
            </a:r>
            <a:endParaRPr lang="en-US" sz="1100" dirty="0"/>
          </a:p>
        </p:txBody>
      </p:sp>
      <p:sp>
        <p:nvSpPr>
          <p:cNvPr id="15" name="Shape 10"/>
          <p:cNvSpPr/>
          <p:nvPr/>
        </p:nvSpPr>
        <p:spPr>
          <a:xfrm>
            <a:off x="3297936" y="3840480"/>
            <a:ext cx="2548128" cy="566928"/>
          </a:xfrm>
          <a:prstGeom prst="roundRect">
            <a:avLst>
              <a:gd name="adj" fmla="val 16129"/>
            </a:avLst>
          </a:prstGeom>
          <a:solidFill>
            <a:srgbClr val="E7EEFB"/>
          </a:solidFill>
          <a:ln/>
        </p:spPr>
        <p:txBody>
          <a:bodyPr/>
          <a:lstStyle/>
          <a:p>
            <a:endParaRPr lang="en-US"/>
          </a:p>
        </p:txBody>
      </p:sp>
      <p:sp>
        <p:nvSpPr>
          <p:cNvPr id="16" name="Text 11"/>
          <p:cNvSpPr txBox="1"/>
          <p:nvPr/>
        </p:nvSpPr>
        <p:spPr>
          <a:xfrm>
            <a:off x="3435096" y="3840480"/>
            <a:ext cx="731520" cy="566928"/>
          </a:xfrm>
          <a:prstGeom prst="rect">
            <a:avLst/>
          </a:prstGeom>
          <a:noFill/>
          <a:ln/>
        </p:spPr>
        <p:txBody>
          <a:bodyPr wrap="square" lIns="0" tIns="0" rIns="0" bIns="0" rtlCol="0" anchor="ctr"/>
          <a:lstStyle/>
          <a:p>
            <a:pPr marL="0" indent="0" algn="l">
              <a:buNone/>
            </a:pPr>
            <a:r>
              <a:rPr lang="en-US" sz="1700" b="1" dirty="0">
                <a:solidFill>
                  <a:srgbClr val="D98A12"/>
                </a:solidFill>
                <a:latin typeface="Inter" pitchFamily="34" charset="0"/>
                <a:ea typeface="Inter" pitchFamily="34" charset="-122"/>
                <a:cs typeface="Inter" pitchFamily="34" charset="-120"/>
              </a:rPr>
              <a:t>5 s</a:t>
            </a:r>
            <a:endParaRPr lang="en-US" sz="1700" dirty="0"/>
          </a:p>
        </p:txBody>
      </p:sp>
      <p:sp>
        <p:nvSpPr>
          <p:cNvPr id="17" name="Text 12"/>
          <p:cNvSpPr txBox="1"/>
          <p:nvPr/>
        </p:nvSpPr>
        <p:spPr>
          <a:xfrm>
            <a:off x="4166616" y="3840480"/>
            <a:ext cx="1633728" cy="566928"/>
          </a:xfrm>
          <a:prstGeom prst="rect">
            <a:avLst/>
          </a:prstGeom>
          <a:noFill/>
          <a:ln/>
        </p:spPr>
        <p:txBody>
          <a:bodyPr wrap="square" lIns="0" tIns="0" rIns="0" bIns="0" rtlCol="0" anchor="ctr"/>
          <a:lstStyle/>
          <a:p>
            <a:pPr marL="0" indent="0" algn="l">
              <a:buNone/>
            </a:pPr>
            <a:r>
              <a:rPr lang="en-US" sz="1100" dirty="0">
                <a:solidFill>
                  <a:srgbClr val="1F2761"/>
                </a:solidFill>
                <a:latin typeface="Inter" pitchFamily="34" charset="0"/>
                <a:ea typeface="Inter" pitchFamily="34" charset="-122"/>
                <a:cs typeface="Inter" pitchFamily="34" charset="-120"/>
              </a:rPr>
              <a:t>ai_status = in_progress</a:t>
            </a:r>
            <a:endParaRPr lang="en-US" sz="1100" dirty="0"/>
          </a:p>
        </p:txBody>
      </p:sp>
      <p:sp>
        <p:nvSpPr>
          <p:cNvPr id="18" name="Shape 13"/>
          <p:cNvSpPr/>
          <p:nvPr/>
        </p:nvSpPr>
        <p:spPr>
          <a:xfrm>
            <a:off x="5983224" y="3840480"/>
            <a:ext cx="2548128" cy="566928"/>
          </a:xfrm>
          <a:prstGeom prst="roundRect">
            <a:avLst>
              <a:gd name="adj" fmla="val 16129"/>
            </a:avLst>
          </a:prstGeom>
          <a:solidFill>
            <a:srgbClr val="E7EEFB"/>
          </a:solidFill>
          <a:ln/>
        </p:spPr>
        <p:txBody>
          <a:bodyPr/>
          <a:lstStyle/>
          <a:p>
            <a:endParaRPr lang="en-US"/>
          </a:p>
        </p:txBody>
      </p:sp>
      <p:sp>
        <p:nvSpPr>
          <p:cNvPr id="19" name="Text 14"/>
          <p:cNvSpPr txBox="1"/>
          <p:nvPr/>
        </p:nvSpPr>
        <p:spPr>
          <a:xfrm>
            <a:off x="6120384" y="3840480"/>
            <a:ext cx="731520" cy="566928"/>
          </a:xfrm>
          <a:prstGeom prst="rect">
            <a:avLst/>
          </a:prstGeom>
          <a:noFill/>
          <a:ln/>
        </p:spPr>
        <p:txBody>
          <a:bodyPr wrap="square" lIns="0" tIns="0" rIns="0" bIns="0" rtlCol="0" anchor="ctr"/>
          <a:lstStyle/>
          <a:p>
            <a:pPr marL="0" indent="0" algn="l">
              <a:buNone/>
            </a:pPr>
            <a:r>
              <a:rPr lang="en-US" sz="1700" b="1" dirty="0">
                <a:solidFill>
                  <a:srgbClr val="0FA9A0"/>
                </a:solidFill>
                <a:latin typeface="Inter" pitchFamily="34" charset="0"/>
                <a:ea typeface="Inter" pitchFamily="34" charset="-122"/>
                <a:cs typeface="Inter" pitchFamily="34" charset="-120"/>
              </a:rPr>
              <a:t>20 s</a:t>
            </a:r>
            <a:endParaRPr lang="en-US" sz="1700" dirty="0"/>
          </a:p>
        </p:txBody>
      </p:sp>
      <p:sp>
        <p:nvSpPr>
          <p:cNvPr id="20" name="Text 15"/>
          <p:cNvSpPr txBox="1"/>
          <p:nvPr/>
        </p:nvSpPr>
        <p:spPr>
          <a:xfrm>
            <a:off x="6851904" y="3840480"/>
            <a:ext cx="1633728" cy="566928"/>
          </a:xfrm>
          <a:prstGeom prst="rect">
            <a:avLst/>
          </a:prstGeom>
          <a:noFill/>
          <a:ln/>
        </p:spPr>
        <p:txBody>
          <a:bodyPr wrap="square" lIns="0" tIns="0" rIns="0" bIns="0" rtlCol="0" anchor="ctr"/>
          <a:lstStyle/>
          <a:p>
            <a:pPr marL="0" indent="0" algn="l">
              <a:buNone/>
            </a:pPr>
            <a:r>
              <a:rPr lang="en-US" sz="1100" dirty="0">
                <a:solidFill>
                  <a:srgbClr val="1F2761"/>
                </a:solidFill>
                <a:latin typeface="Inter" pitchFamily="34" charset="0"/>
                <a:ea typeface="Inter" pitchFamily="34" charset="-122"/>
                <a:cs typeface="Inter" pitchFamily="34" charset="-120"/>
              </a:rPr>
              <a:t>ai_status = suggested</a:t>
            </a:r>
            <a:endParaRPr lang="en-US" sz="1100" dirty="0"/>
          </a:p>
        </p:txBody>
      </p:sp>
      <p:sp>
        <p:nvSpPr>
          <p:cNvPr id="21" name="Text 16"/>
          <p:cNvSpPr txBox="1"/>
          <p:nvPr/>
        </p:nvSpPr>
        <p:spPr>
          <a:xfrm>
            <a:off x="612648" y="4526280"/>
            <a:ext cx="7918704" cy="228600"/>
          </a:xfrm>
          <a:prstGeom prst="rect">
            <a:avLst/>
          </a:prstGeom>
          <a:noFill/>
          <a:ln/>
        </p:spPr>
        <p:txBody>
          <a:bodyPr wrap="square" lIns="0" tIns="0" rIns="0" bIns="0" rtlCol="0" anchor="t"/>
          <a:lstStyle/>
          <a:p>
            <a:pPr marL="0" indent="0" algn="l">
              <a:buNone/>
            </a:pPr>
            <a:r>
              <a:rPr lang="en-US" sz="1100" i="1" dirty="0">
                <a:solidFill>
                  <a:srgbClr val="6B7699"/>
                </a:solidFill>
                <a:latin typeface="Inter" pitchFamily="34" charset="0"/>
                <a:ea typeface="Inter" pitchFamily="34" charset="-122"/>
                <a:cs typeface="Inter" pitchFamily="34" charset="-120"/>
              </a:rPr>
              <a:t>Live test run on Oct 1, 2026 (Sprint 4.1 E2E verification). Evidence: docs/S4.1 in the repo.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2293</Words>
  <Application>Microsoft Office PowerPoint</Application>
  <PresentationFormat>On-screen Show (16:9)</PresentationFormat>
  <Paragraphs>321</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BARQ G3 - AI ServiceNow Support Assistant</dc:title>
  <dc:subject>PptxGenJS Presentation</dc:subject>
  <dc:creator>BARQ Group 3</dc:creator>
  <cp:lastModifiedBy>Omar Ahmed</cp:lastModifiedBy>
  <cp:revision>6</cp:revision>
  <dcterms:created xsi:type="dcterms:W3CDTF">2026-10-02T23:31:06Z</dcterms:created>
  <dcterms:modified xsi:type="dcterms:W3CDTF">2026-10-02T23:54:07Z</dcterms:modified>
</cp:coreProperties>
</file>